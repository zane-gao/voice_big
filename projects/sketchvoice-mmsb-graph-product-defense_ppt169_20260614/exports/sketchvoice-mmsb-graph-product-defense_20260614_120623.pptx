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大家好，我汇报的项目是 SketchVoice，核心目标是把“边说边画”的自然表达转成可编辑知识图。这里既有一个可演示的产品闭环，也有背后的结构恢复方法 MMSB-Graph。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真实讨论里，很多有效信息不是写在规范文档里，而是散落在白板草图、口头解释和临时补充中。问题是这些内容会很快消失，后续复盘、整理和复用都需要大量人工成本。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所以产品侧先从用户旅程出发：用户在画布上画草图，同时录入语音说明，系统把这些输入整理成结构化图。最后输出的不只是图片，而是 Mermaid、JSON、SVG 和可继续编辑的终稿。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这个原型的重点是把课堂展示需要的主链路跑通。它支持草图输入、语音转写、图结构生成、图片渲染、语音讲解和导出，让“记录想法”变成“交付结构化结果”。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这一页对应现场演示流程。我们会先画一个很简单的科研流程草图，比如输入数据、模型和评测指标，然后用语音补充中间的真实含义和关系方向。系统生成后，我会展示 Mermaid、SVG 和 JSON，再生成论文风格终稿图和带光标讲解的 WebM，说明这个项目不是静态 demo，而是一条从输入到交付的完整链路。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工程实现上，前端承担交互画布、语音录入和结果展示，后端组织转写、结构生成、渲染和讲解服务。这样的分层设计让 mock fallback、外部模型服务和评测模块都可以替换。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从这里进入科研侧。产品上我们解决的是把语音和草图快速变成科研方法图，科研上它其实是一个结构恢复任务：给定手绘草图 S 和同步语音 U，恢复可编辑知识图 G。草图提供空间结构，语音提供语义锚点和方向约束，所以我们不再只问图像像不像，而是问节点、边、方向和修改成本是否被正确恢复。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这里有三个中间图：草图图保留空间结构，但语义弱；语音图语义强，但缺少布局；融合图把二者合并成初始候选。后续的编辑桥就是在这个候选基础上继续恢复完整知识结构。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图编辑桥把结构恢复拆成插入节点、删除节点、插入边、删除边和修正方向等离散操作。代价函数同时考虑结构变化、语义差异、方向错误、布局保持和语音覆盖，路径能量用于衡量整体修正是否自然。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为了验证这条链路，我们构建了 24 个可控知识草图样例，覆盖线性、分支、闭环、模型架构和实验流程。评测指标不只看节点和边，也看方向准确率、图编辑距离、语音覆盖和布局保持。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结果可以看到，草图单模态主要缺语义，语音单模态主要缺空间结构，早期融合和贪心修复只能解决一部分问题。MMSB-Graph 的优势在于把补全和修正显式建模，因此整体一致性和编辑成本更好。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从产品闭环看，输入、生成、交付和评测不是分开的。用户的修改可以反过来成为评测依据，评测结果又能推动模型和交互设计迭代，这是这个项目区别于单次生成 demo 的地方。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这里也需要说明真实性边界：当前实验是合成条件图上的可控验证，不能直接等同于大规模真实世界性能。但它已经证明任务定义、评测链路和图编辑过程是可运行、可计算、可演示的。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最后总结一下，产品层我们做了 SketchVoice 工作台，方法层提出了语音引导知识草图结构化和 MMSB-Graph，系统层打通了生成、导出与评测闭环。一句话，本项目把“边说边画”的自然表达变成结构化知识资产，并给出可解释的恢复路径。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25a91e8a88d312c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342900"/>
            <a:ext cx="12230100" cy="7200900"/>
            <a:chOff x="0" y="-342900"/>
            <a:chExt cx="12230100" cy="72009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029700" y="-342900"/>
              <a:ext cx="3200400" cy="32004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39300" y="266700"/>
              <a:ext cx="1981200" cy="1981200"/>
            </a:xfrm>
            <a:prstGeom prst="ellipse">
              <a:avLst/>
            </a:prstGeom>
            <a:solidFill>
              <a:srgbClr val="CCFBF1">
                <a:alpha val="85000"/>
              </a:srgb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71500" y="514350"/>
              <a:ext cx="81915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5E75"/>
                </a:gs>
                <a:gs pos="100000">
                  <a:srgbClr val="0F766E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15340" y="1272540"/>
            <a:ext cx="7430834" cy="2575560"/>
            <a:chOff x="815340" y="1272540"/>
            <a:chExt cx="7430834" cy="2575560"/>
          </a:xfrm>
        </p:grpSpPr>
        <p:sp>
          <p:nvSpPr>
            <p:cNvPr id="7" name="TextBox 7"/>
            <p:cNvSpPr txBox="1"/>
            <p:nvPr/>
          </p:nvSpPr>
          <p:spPr>
            <a:xfrm>
              <a:off x="815340" y="1272540"/>
              <a:ext cx="4020007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SketchVoice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6295" y="2079308"/>
              <a:ext cx="506393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语音 + 草图 → 科研方法图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1540" y="2796540"/>
              <a:ext cx="73546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一个可演示的 AI 产品原型，也是一个可继续研究的多模态结构化任务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4400" y="3371850"/>
              <a:ext cx="68580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44905" y="3530918"/>
              <a:ext cx="66951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把课堂、科研讨论和白板草稿，一键转化为可编辑、可展示、可讲解的结构化方法图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24750" y="2171700"/>
            <a:ext cx="3790950" cy="2876550"/>
            <a:chOff x="7524750" y="2171700"/>
            <a:chExt cx="3790950" cy="2876550"/>
          </a:xfrm>
        </p:grpSpPr>
        <p:sp>
          <p:nvSpPr>
            <p:cNvPr id="13" name="Rectangle 13"/>
            <p:cNvSpPr/>
            <p:nvPr/>
          </p:nvSpPr>
          <p:spPr>
            <a:xfrm>
              <a:off x="7524750" y="2171700"/>
              <a:ext cx="32194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7864475" y="2402461"/>
              <a:ext cx="210564" cy="210564"/>
              <a:chOff x="7864475" y="2402461"/>
              <a:chExt cx="210564" cy="21056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864475" y="2402461"/>
                <a:ext cx="210564" cy="210564"/>
              </a:xfrm>
              <a:custGeom>
                <a:avLst/>
                <a:gdLst/>
                <a:ahLst/>
                <a:cxnLst/>
                <a:rect l="l" t="t" r="r" b="b"/>
                <a:pathLst>
                  <a:path w="210564" h="210564">
                    <a:moveTo>
                      <a:pt x="0" y="210564"/>
                    </a:moveTo>
                    <a:lnTo>
                      <a:pt x="53975" y="210564"/>
                    </a:lnTo>
                    <a:lnTo>
                      <a:pt x="195659" y="68880"/>
                    </a:lnTo>
                    <a:cubicBezTo>
                      <a:pt x="210564" y="53975"/>
                      <a:pt x="210564" y="29810"/>
                      <a:pt x="195659" y="14905"/>
                    </a:cubicBezTo>
                    <a:cubicBezTo>
                      <a:pt x="180755" y="0"/>
                      <a:pt x="156589" y="0"/>
                      <a:pt x="141684" y="14905"/>
                    </a:cubicBezTo>
                    <a:lnTo>
                      <a:pt x="0" y="156589"/>
                    </a:lnTo>
                    <a:lnTo>
                      <a:pt x="0" y="210564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992666" y="243085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305800" y="243840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手绘草图：空间结构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96250" y="3219450"/>
              <a:ext cx="32194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23" name="Group 23"/>
            <p:cNvGrpSpPr/>
            <p:nvPr/>
          </p:nvGrpSpPr>
          <p:grpSpPr>
            <a:xfrm>
              <a:off x="8449469" y="3417888"/>
              <a:ext cx="188912" cy="265906"/>
              <a:chOff x="8449469" y="3417888"/>
              <a:chExt cx="188912" cy="26590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503444" y="3417888"/>
                <a:ext cx="80962" cy="148431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148431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cubicBezTo>
                      <a:pt x="62838" y="0"/>
                      <a:pt x="80962" y="18124"/>
                      <a:pt x="80962" y="40481"/>
                    </a:cubicBezTo>
                    <a:lnTo>
                      <a:pt x="80962" y="107950"/>
                    </a:lnTo>
                    <a:cubicBezTo>
                      <a:pt x="80962" y="130307"/>
                      <a:pt x="62838" y="148431"/>
                      <a:pt x="40481" y="148431"/>
                    </a:cubicBezTo>
                    <a:cubicBezTo>
                      <a:pt x="18124" y="148431"/>
                      <a:pt x="0" y="130307"/>
                      <a:pt x="0" y="107950"/>
                    </a:cubicBez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449469" y="3525838"/>
                <a:ext cx="188912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94456">
                    <a:moveTo>
                      <a:pt x="0" y="0"/>
                    </a:moveTo>
                    <a:cubicBezTo>
                      <a:pt x="0" y="52167"/>
                      <a:pt x="42290" y="94456"/>
                      <a:pt x="94456" y="94456"/>
                    </a:cubicBezTo>
                    <a:cubicBezTo>
                      <a:pt x="146623" y="94456"/>
                      <a:pt x="188912" y="52167"/>
                      <a:pt x="188912" y="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89950" y="3674269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543925" y="3620294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877300" y="348615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同步语音：语义锚点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24750" y="4305300"/>
              <a:ext cx="3219450" cy="742950"/>
            </a:xfrm>
            <a:prstGeom prst="roundRect">
              <a:avLst>
                <a:gd name="adj" fmla="val 10256"/>
              </a:avLst>
            </a:prstGeom>
            <a:solidFill>
              <a:srgbClr val="155E75"/>
            </a:solidFill>
            <a:ln>
              <a:noFill/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34" name="Group 34"/>
            <p:cNvGrpSpPr/>
            <p:nvPr/>
          </p:nvGrpSpPr>
          <p:grpSpPr>
            <a:xfrm>
              <a:off x="7850981" y="4555331"/>
              <a:ext cx="242887" cy="256382"/>
              <a:chOff x="7850981" y="4555331"/>
              <a:chExt cx="242887" cy="25638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1462" y="4555331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2"/>
                    </a:moveTo>
                    <a:cubicBezTo>
                      <a:pt x="0" y="125677"/>
                      <a:pt x="36248" y="161925"/>
                      <a:pt x="80962" y="161925"/>
                    </a:cubicBezTo>
                    <a:cubicBezTo>
                      <a:pt x="125677" y="161925"/>
                      <a:pt x="161925" y="125677"/>
                      <a:pt x="161925" y="80962"/>
                    </a:cubicBezTo>
                    <a:cubicBezTo>
                      <a:pt x="161925" y="36248"/>
                      <a:pt x="125677" y="0"/>
                      <a:pt x="80962" y="0"/>
                    </a:cubicBezTo>
                    <a:cubicBezTo>
                      <a:pt x="36248" y="0"/>
                      <a:pt x="0" y="36248"/>
                      <a:pt x="0" y="809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972425" y="455533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0" y="0"/>
                    </a:moveTo>
                    <a:cubicBezTo>
                      <a:pt x="17987" y="4493"/>
                      <a:pt x="26988" y="31481"/>
                      <a:pt x="26988" y="80962"/>
                    </a:cubicBezTo>
                    <a:cubicBezTo>
                      <a:pt x="26988" y="130444"/>
                      <a:pt x="17987" y="157432"/>
                      <a:pt x="0" y="1619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945438" y="455533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26988" y="0"/>
                    </a:moveTo>
                    <a:cubicBezTo>
                      <a:pt x="9000" y="4493"/>
                      <a:pt x="0" y="31481"/>
                      <a:pt x="0" y="80962"/>
                    </a:cubicBezTo>
                    <a:cubicBezTo>
                      <a:pt x="0" y="130444"/>
                      <a:pt x="9000" y="157432"/>
                      <a:pt x="26988" y="1619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891462" y="463629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850981" y="478472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999412" y="478472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945438" y="47577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972425" y="4717256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304848" y="4602004"/>
              <a:ext cx="18042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结构化知识图资产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124950" y="2876550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8575">
              <a:solidFill>
                <a:srgbClr val="0F766E"/>
              </a:solidFill>
              <a:custDash>
                <a:ds d="233333" sp="200000"/>
              </a:custDash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9124950" y="3924300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28575">
              <a:solidFill>
                <a:srgbClr val="0F766E"/>
              </a:solidFill>
              <a:custDash>
                <a:ds d="233333" sp="200000"/>
              </a:custDash>
              <a:tailEnd type="triangle" w="lg" len="lg"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862012" y="6069806"/>
            <a:ext cx="10465118" cy="228600"/>
            <a:chOff x="862012" y="6069806"/>
            <a:chExt cx="10465118" cy="228600"/>
          </a:xfrm>
        </p:grpSpPr>
        <p:sp>
          <p:nvSpPr>
            <p:cNvPr id="39" name="TextBox 39"/>
            <p:cNvSpPr txBox="1"/>
            <p:nvPr/>
          </p:nvSpPr>
          <p:spPr>
            <a:xfrm>
              <a:off x="862012" y="6069806"/>
              <a:ext cx="23313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语音信息处理课程结项答辩 · 2026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02220" y="6094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451485"/>
            <a:ext cx="8007572" cy="762953"/>
            <a:chOff x="537210" y="451485"/>
            <a:chExt cx="8007572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45148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应用出发点：真实工作流是边说、边画、边补充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940118"/>
              <a:ext cx="70371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普通“文本生成图”工具不完全匹配科研学习场景，因为原始思考过程不是完整 prompt。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76300" y="1581150"/>
            <a:ext cx="10439400" cy="1143000"/>
            <a:chOff x="876300" y="1581150"/>
            <a:chExt cx="10439400" cy="1143000"/>
          </a:xfrm>
        </p:grpSpPr>
        <p:sp>
          <p:nvSpPr>
            <p:cNvPr id="6" name="Rectangle 6"/>
            <p:cNvSpPr/>
            <p:nvPr/>
          </p:nvSpPr>
          <p:spPr>
            <a:xfrm>
              <a:off x="876300" y="1581150"/>
              <a:ext cx="104394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0" name="Group 10"/>
            <p:cNvGrpSpPr/>
            <p:nvPr/>
          </p:nvGrpSpPr>
          <p:grpSpPr>
            <a:xfrm>
              <a:off x="1257300" y="1943100"/>
              <a:ext cx="342900" cy="342900"/>
              <a:chOff x="1257300" y="1943100"/>
              <a:chExt cx="342900" cy="3429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257300" y="22098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524000" y="19431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38100" y="76200"/>
                    </a:move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  <a:cubicBezTo>
                      <a:pt x="0" y="59142"/>
                      <a:pt x="17058" y="76200"/>
                      <a:pt x="38100" y="762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90650" y="19812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cubicBezTo>
                      <a:pt x="55158" y="0"/>
                      <a:pt x="38100" y="17058"/>
                      <a:pt x="38100" y="38100"/>
                    </a:cubicBezTo>
                    <a:lnTo>
                      <a:pt x="38100" y="228600"/>
                    </a:lnTo>
                    <a:cubicBezTo>
                      <a:pt x="38100" y="249642"/>
                      <a:pt x="21042" y="266700"/>
                      <a:pt x="0" y="2667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920240" y="1844040"/>
              <a:ext cx="66237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痛点不是“不会画图”，而是讨论过程很难沉淀为结构化资产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25955" y="2254568"/>
              <a:ext cx="74152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草图留下布局和箭头，语音留下节点名称、关系方向和设计意图；但会后往往还要重新整理。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33500" y="3068479"/>
            <a:ext cx="9525000" cy="1472565"/>
            <a:chOff x="1333500" y="3068479"/>
            <a:chExt cx="9525000" cy="1472565"/>
          </a:xfrm>
        </p:grpSpPr>
        <p:sp>
          <p:nvSpPr>
            <p:cNvPr id="14" name="Line 14"/>
            <p:cNvSpPr/>
            <p:nvPr/>
          </p:nvSpPr>
          <p:spPr>
            <a:xfrm>
              <a:off x="1333500" y="33147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466850" y="3068479"/>
              <a:ext cx="2967990" cy="615315"/>
              <a:chOff x="1466850" y="3068479"/>
              <a:chExt cx="2967990" cy="615315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1466850" y="3143250"/>
                <a:ext cx="342900" cy="342900"/>
              </a:xfrm>
              <a:prstGeom prst="ellipse">
                <a:avLst/>
              </a:prstGeom>
              <a:solidFill>
                <a:srgbClr val="155E7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580695" y="325040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018348" y="3068479"/>
                <a:ext cx="123085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AI/科研学生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022158" y="3424714"/>
                <a:ext cx="24126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读论文、做组会、快速画方法图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466850" y="3925729"/>
              <a:ext cx="3648076" cy="615315"/>
              <a:chOff x="1466850" y="3925729"/>
              <a:chExt cx="3648076" cy="615315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1466850" y="4000500"/>
                <a:ext cx="342900" cy="34290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580695" y="410765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018348" y="3925729"/>
                <a:ext cx="104340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教师/助教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022158" y="4281964"/>
                <a:ext cx="30927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课堂讲解和知识路线需要留下结构化材料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324600" y="3068479"/>
              <a:ext cx="3894606" cy="615315"/>
              <a:chOff x="6324600" y="3068479"/>
              <a:chExt cx="3894606" cy="615315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6324600" y="3143250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438445" y="325040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876098" y="306847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科研团队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879908" y="3424714"/>
                <a:ext cx="333929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白板 brainstorming 容易丢失，复盘成本高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324600" y="3925729"/>
              <a:ext cx="3988118" cy="615315"/>
              <a:chOff x="6324600" y="3925729"/>
              <a:chExt cx="3988118" cy="615315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6324600" y="4000500"/>
                <a:ext cx="342900" cy="3429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438445" y="410765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876098" y="3925729"/>
                <a:ext cx="1484461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双创/产品团队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879908" y="4281964"/>
                <a:ext cx="343281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想法表达很快，但图形产物和讲解材料生成慢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581150" y="5334000"/>
            <a:ext cx="9029700" cy="457200"/>
            <a:chOff x="1581150" y="5334000"/>
            <a:chExt cx="9029700" cy="457200"/>
          </a:xfrm>
        </p:grpSpPr>
        <p:sp>
          <p:nvSpPr>
            <p:cNvPr id="36" name="Rectangle 36"/>
            <p:cNvSpPr/>
            <p:nvPr/>
          </p:nvSpPr>
          <p:spPr>
            <a:xfrm>
              <a:off x="1581150" y="5334000"/>
              <a:ext cx="9029700" cy="457200"/>
            </a:xfrm>
            <a:prstGeom prst="roundRect">
              <a:avLst>
                <a:gd name="adj" fmla="val 16667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77903" y="5475446"/>
              <a:ext cx="84361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SketchVoice 的切入点：保留自然表达方式，同时输出可编辑、可复用、可展示的结构化结果。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39" name="TextBox 39"/>
            <p:cNvSpPr txBox="1"/>
            <p:nvPr/>
          </p:nvSpPr>
          <p:spPr>
            <a:xfrm>
              <a:off x="560070" y="6379845"/>
              <a:ext cx="20271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Application Scenario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8423424" cy="743903"/>
            <a:chOff x="537210" y="394335"/>
            <a:chExt cx="8423424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84234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竞品定位：我们解决的是“自然表达过程到科研图”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3071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现有工具大多做文本到图或画布协作，SketchVoice 聚焦草图 + 语音 + 结构化科研方法图。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1352550"/>
            <a:ext cx="11049000" cy="3429000"/>
            <a:chOff x="571500" y="1352550"/>
            <a:chExt cx="11049000" cy="3429000"/>
          </a:xfrm>
        </p:grpSpPr>
        <p:sp>
          <p:nvSpPr>
            <p:cNvPr id="6" name="Rectangle 6"/>
            <p:cNvSpPr/>
            <p:nvPr/>
          </p:nvSpPr>
          <p:spPr>
            <a:xfrm>
              <a:off x="571500" y="1352550"/>
              <a:ext cx="11049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571500" y="1352550"/>
              <a:ext cx="11049000" cy="495300"/>
            </a:xfrm>
            <a:prstGeom prst="roundRect">
              <a:avLst>
                <a:gd name="adj" fmla="val 15385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2010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55139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79239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优势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12889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3847" y="15468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我们的切入点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65735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23850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19125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838200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71500" y="257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71500" y="3295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71500" y="4019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42010" y="1993106"/>
              <a:ext cx="9276754" cy="476250"/>
              <a:chOff x="842010" y="1993106"/>
              <a:chExt cx="9276754" cy="47625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842010" y="210883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在线白板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871996" y="2125028"/>
                <a:ext cx="11328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Miro / Whimsical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09962" y="19931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协作、画布、流程图成熟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509962" y="224075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AI 可利用画布上下文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2712" y="199310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偏通用协作资产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62712" y="224075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不专注科研方法图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672512" y="2116931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科研知识草图结构化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42010" y="2717006"/>
              <a:ext cx="9119234" cy="476250"/>
              <a:chOff x="842010" y="2717006"/>
              <a:chExt cx="9119234" cy="476250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42010" y="2832735"/>
                <a:ext cx="8957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AI 图示生成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131028" y="28489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Napkin AI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509962" y="27170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文本转图方便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509962" y="2964656"/>
                <a:ext cx="18137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支持 PPT、PNG、PDF、SVG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62712" y="27170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输入多为文本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62712" y="29646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弱化草图和语音过程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72512" y="2840831"/>
                <a:ext cx="12887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保留原始思考过程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42010" y="3440906"/>
              <a:ext cx="9544538" cy="476250"/>
              <a:chOff x="842010" y="3440906"/>
              <a:chExt cx="9544538" cy="476250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842010" y="355663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代码图工具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773984" y="3572828"/>
                <a:ext cx="1328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Mermaid / Graphviz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509962" y="34409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可编辑、可版本管理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509962" y="36885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适合工程化复用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462712" y="34409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非技术用户门槛高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462712" y="36885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需要手写图代码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672512" y="3564731"/>
                <a:ext cx="171403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自动生成图代码和 JSON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42010" y="4164806"/>
              <a:ext cx="9906833" cy="476250"/>
              <a:chOff x="842010" y="4164806"/>
              <a:chExt cx="9906833" cy="476250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842010" y="4280535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草图转图研究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910501" y="4296728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SketchAgent 等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509962" y="41648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关注结构化图恢复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509962" y="4412456"/>
                <a:ext cx="16187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可转 Mermaid 或图代码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462712" y="416480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多聚焦静态图像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462712" y="441245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同步语音反馈较少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672512" y="4288631"/>
                <a:ext cx="20763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语音作为语义锚点和方向约束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1428750" y="5219700"/>
            <a:ext cx="9587498" cy="533400"/>
            <a:chOff x="1428750" y="5219700"/>
            <a:chExt cx="9587498" cy="533400"/>
          </a:xfrm>
        </p:grpSpPr>
        <p:sp>
          <p:nvSpPr>
            <p:cNvPr id="53" name="Rectangle 53"/>
            <p:cNvSpPr/>
            <p:nvPr/>
          </p:nvSpPr>
          <p:spPr>
            <a:xfrm>
              <a:off x="1428750" y="5219700"/>
              <a:ext cx="9334500" cy="533400"/>
            </a:xfrm>
            <a:prstGeom prst="roundRect">
              <a:avLst>
                <a:gd name="adj" fmla="val 14286"/>
              </a:avLst>
            </a:prstGeom>
            <a:solidFill>
              <a:srgbClr val="CCFBF1"/>
            </a:solidFill>
            <a:ln w="9525">
              <a:solidFill>
                <a:srgbClr val="0F766E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1733550" y="5372100"/>
              <a:ext cx="228600" cy="228600"/>
              <a:chOff x="1733550" y="5372100"/>
              <a:chExt cx="228600" cy="2286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1835150" y="54737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784350" y="54229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733550" y="53721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2154555" y="5416868"/>
              <a:ext cx="88616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差异化：草图保留空间结构，语音补全语义和方向，输出 Mermaid / SVG / JSON / WebM 等结构化资产。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60" name="TextBox 60"/>
            <p:cNvSpPr txBox="1"/>
            <p:nvPr/>
          </p:nvSpPr>
          <p:spPr>
            <a:xfrm>
              <a:off x="560070" y="6379845"/>
              <a:ext cx="20511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Competitive Position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667330" cy="743903"/>
            <a:chOff x="537210" y="394335"/>
            <a:chExt cx="7667330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76673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产品能力：不只是生成图，而是生成“工作台”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价值来自完整操作面，而不是一次模型调用。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1428750"/>
            <a:ext cx="11974902" cy="4000500"/>
            <a:chOff x="571500" y="1428750"/>
            <a:chExt cx="11974902" cy="4000500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428750"/>
              <a:ext cx="4703446" cy="1809750"/>
              <a:chOff x="571500" y="1428750"/>
              <a:chExt cx="4703446" cy="1809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7" name="Rectangle 7"/>
              <p:cNvSpPr/>
              <p:nvPr/>
            </p:nvSpPr>
            <p:spPr>
              <a:xfrm>
                <a:off x="83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985838" y="1835150"/>
                <a:ext cx="200025" cy="187325"/>
                <a:chOff x="985838" y="1835150"/>
                <a:chExt cx="200025" cy="187325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985838" y="1835150"/>
                  <a:ext cx="2000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188913" y="0"/>
                      </a:lnTo>
                      <a:cubicBezTo>
                        <a:pt x="195050" y="0"/>
                        <a:pt x="200025" y="4975"/>
                        <a:pt x="200025" y="11113"/>
                      </a:cubicBezTo>
                      <a:lnTo>
                        <a:pt x="200025" y="122238"/>
                      </a:lnTo>
                      <a:cubicBezTo>
                        <a:pt x="200025" y="128375"/>
                        <a:pt x="195050" y="133350"/>
                        <a:pt x="188913" y="133350"/>
                      </a:cubicBezTo>
                      <a:lnTo>
                        <a:pt x="11113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030288" y="20129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052512" y="1968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19188" y="1968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50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输入工作台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08760" y="20421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画布、录音、上传音频、转写文本补充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83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22008" y="2643664"/>
                <a:ext cx="445293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用户不需要先整理成规范格式，直接把讨论过程放进系统。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381500" y="1428750"/>
              <a:ext cx="3870341" cy="1809750"/>
              <a:chOff x="4381500" y="1428750"/>
              <a:chExt cx="3870341" cy="1809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38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464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4795838" y="1824038"/>
                <a:ext cx="200024" cy="211137"/>
                <a:chOff x="4795838" y="1824038"/>
                <a:chExt cx="200024" cy="211137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4829175" y="1824038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895850" y="182403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0" y="0"/>
                      </a:moveTo>
                      <a:cubicBezTo>
                        <a:pt x="14813" y="3700"/>
                        <a:pt x="22225" y="25925"/>
                        <a:pt x="22225" y="66675"/>
                      </a:cubicBezTo>
                      <a:cubicBezTo>
                        <a:pt x="22225" y="107425"/>
                        <a:pt x="14813" y="129650"/>
                        <a:pt x="0" y="1333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873625" y="182403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22225" y="0"/>
                      </a:moveTo>
                      <a:cubicBezTo>
                        <a:pt x="7412" y="3700"/>
                        <a:pt x="0" y="25925"/>
                        <a:pt x="0" y="66675"/>
                      </a:cubicBezTo>
                      <a:cubicBezTo>
                        <a:pt x="0" y="107425"/>
                        <a:pt x="7412" y="129650"/>
                        <a:pt x="22225" y="1333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829175" y="1890712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795838" y="2012950"/>
                  <a:ext cx="777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9525">
                      <a:moveTo>
                        <a:pt x="0" y="0"/>
                      </a:moveTo>
                      <a:lnTo>
                        <a:pt x="77788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918075" y="2012950"/>
                  <a:ext cx="7778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9525">
                      <a:moveTo>
                        <a:pt x="0" y="0"/>
                      </a:moveTo>
                      <a:lnTo>
                        <a:pt x="77787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873625" y="199072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895850" y="1957388"/>
                  <a:ext cx="9525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338">
                      <a:moveTo>
                        <a:pt x="0" y="0"/>
                      </a:move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531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结构化建模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18760" y="204216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节点、边、方向、类型、置信度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464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632008" y="2643664"/>
                <a:ext cx="361983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核心不是“画得像”，而是恢复可编辑知识结构。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8191500" y="1428750"/>
              <a:ext cx="3853339" cy="1809750"/>
              <a:chOff x="8191500" y="1428750"/>
              <a:chExt cx="3853339" cy="18097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19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845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8583612" y="1879600"/>
                <a:ext cx="244476" cy="88900"/>
                <a:chOff x="8583612" y="1879600"/>
                <a:chExt cx="244476" cy="88900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8794750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88900"/>
                      </a:moveTo>
                      <a:lnTo>
                        <a:pt x="0" y="0"/>
                      </a:lnTo>
                      <a:lnTo>
                        <a:pt x="33338" y="88900"/>
                      </a:lnTo>
                      <a:lnTo>
                        <a:pt x="3333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716962" y="1879600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22225" y="0"/>
                      </a:moveTo>
                      <a:cubicBezTo>
                        <a:pt x="34500" y="0"/>
                        <a:pt x="44450" y="9950"/>
                        <a:pt x="44450" y="22225"/>
                      </a:cubicBezTo>
                      <a:lnTo>
                        <a:pt x="44450" y="66675"/>
                      </a:lnTo>
                      <a:cubicBezTo>
                        <a:pt x="44450" y="78950"/>
                        <a:pt x="34500" y="88900"/>
                        <a:pt x="22225" y="88900"/>
                      </a:cubicBezTo>
                      <a:cubicBezTo>
                        <a:pt x="9950" y="88900"/>
                        <a:pt x="0" y="78950"/>
                        <a:pt x="0" y="66675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583612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0"/>
                      </a:moveTo>
                      <a:lnTo>
                        <a:pt x="33338" y="0"/>
                      </a:lnTo>
                      <a:lnTo>
                        <a:pt x="33338" y="72231"/>
                      </a:lnTo>
                      <a:cubicBezTo>
                        <a:pt x="33338" y="81437"/>
                        <a:pt x="25875" y="88900"/>
                        <a:pt x="16669" y="88900"/>
                      </a:cubicBezTo>
                      <a:cubicBezTo>
                        <a:pt x="7463" y="88900"/>
                        <a:pt x="0" y="81437"/>
                        <a:pt x="0" y="72231"/>
                      </a:cubicBez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650288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77787"/>
                      </a:moveTo>
                      <a:cubicBezTo>
                        <a:pt x="0" y="83925"/>
                        <a:pt x="4975" y="88900"/>
                        <a:pt x="11113" y="88900"/>
                      </a:cubicBezTo>
                      <a:lnTo>
                        <a:pt x="22225" y="88900"/>
                      </a:lnTo>
                      <a:cubicBezTo>
                        <a:pt x="28362" y="88900"/>
                        <a:pt x="33338" y="83925"/>
                        <a:pt x="33338" y="77787"/>
                      </a:cubicBezTo>
                      <a:lnTo>
                        <a:pt x="33338" y="55562"/>
                      </a:lnTo>
                      <a:cubicBezTo>
                        <a:pt x="33338" y="49425"/>
                        <a:pt x="28362" y="44450"/>
                        <a:pt x="22225" y="44450"/>
                      </a:cubicBezTo>
                      <a:lnTo>
                        <a:pt x="11113" y="44450"/>
                      </a:lnTo>
                      <a:cubicBezTo>
                        <a:pt x="4975" y="44450"/>
                        <a:pt x="0" y="39475"/>
                        <a:pt x="0" y="33338"/>
                      </a:cubicBezTo>
                      <a:lnTo>
                        <a:pt x="0" y="11112"/>
                      </a:ln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22225" y="0"/>
                      </a:lnTo>
                      <a:cubicBezTo>
                        <a:pt x="28362" y="0"/>
                        <a:pt x="33338" y="4975"/>
                        <a:pt x="33338" y="11112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912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多视图预览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128760" y="20421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Mermaid / 图形 / AI 图像 / JSON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845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442008" y="2643664"/>
                <a:ext cx="360283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同一个结构可以用不同形式检查、修改和下载。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3619500"/>
              <a:ext cx="4023360" cy="1809750"/>
              <a:chOff x="571500" y="3619500"/>
              <a:chExt cx="4023360" cy="18097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83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985838" y="4014788"/>
                <a:ext cx="200025" cy="200025"/>
                <a:chOff x="985838" y="4014788"/>
                <a:chExt cx="200025" cy="200025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1119188" y="4070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985838" y="401478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166688"/>
                      </a:lnTo>
                      <a:cubicBezTo>
                        <a:pt x="200025" y="185099"/>
                        <a:pt x="185099" y="200025"/>
                        <a:pt x="166688" y="200025"/>
                      </a:cubicBezTo>
                      <a:lnTo>
                        <a:pt x="33338" y="200025"/>
                      </a:lnTo>
                      <a:cubicBezTo>
                        <a:pt x="14926" y="200025"/>
                        <a:pt x="0" y="185099"/>
                        <a:pt x="0" y="166688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985838" y="4093764"/>
                  <a:ext cx="144463" cy="65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65486">
                      <a:moveTo>
                        <a:pt x="0" y="65486"/>
                      </a:moveTo>
                      <a:lnTo>
                        <a:pt x="55562" y="9923"/>
                      </a:lnTo>
                      <a:cubicBezTo>
                        <a:pt x="65875" y="0"/>
                        <a:pt x="78588" y="0"/>
                        <a:pt x="88900" y="9923"/>
                      </a:cubicBezTo>
                      <a:lnTo>
                        <a:pt x="144463" y="65486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108075" y="4115989"/>
                  <a:ext cx="77787" cy="43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43261">
                      <a:moveTo>
                        <a:pt x="0" y="21036"/>
                      </a:moveTo>
                      <a:lnTo>
                        <a:pt x="11112" y="9923"/>
                      </a:lnTo>
                      <a:cubicBezTo>
                        <a:pt x="21425" y="0"/>
                        <a:pt x="34138" y="0"/>
                        <a:pt x="44450" y="9923"/>
                      </a:cubicBezTo>
                      <a:lnTo>
                        <a:pt x="77787" y="43261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1503045" y="38985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草稿图与终稿图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508760" y="4232910"/>
                <a:ext cx="20627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豆包草稿图 + OpenAI 终稿图</a:t>
                </a:r>
              </a:p>
            </p:txBody>
          </p:sp>
          <p:sp>
            <p:nvSpPr>
              <p:cNvPr id="55" name="Line 55"/>
              <p:cNvSpPr/>
              <p:nvPr/>
            </p:nvSpPr>
            <p:spPr>
              <a:xfrm>
                <a:off x="83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22008" y="4834414"/>
                <a:ext cx="377285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把结构图进一步包装成论文或汇报可用的方法图。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4381500" y="3619500"/>
              <a:ext cx="3853339" cy="1809750"/>
              <a:chOff x="4381500" y="3619500"/>
              <a:chExt cx="3853339" cy="180975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438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464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4795838" y="4025438"/>
                <a:ext cx="200025" cy="178262"/>
                <a:chOff x="4795838" y="4025438"/>
                <a:chExt cx="200025" cy="178262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4962525" y="4070350"/>
                  <a:ext cx="33338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66675">
                      <a:moveTo>
                        <a:pt x="0" y="0"/>
                      </a:moveTo>
                      <a:cubicBezTo>
                        <a:pt x="18412" y="0"/>
                        <a:pt x="33338" y="14926"/>
                        <a:pt x="33338" y="33338"/>
                      </a:cubicBezTo>
                      <a:cubicBezTo>
                        <a:pt x="33338" y="51749"/>
                        <a:pt x="18412" y="66675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840288" y="4070350"/>
                  <a:ext cx="33338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133350">
                      <a:moveTo>
                        <a:pt x="33338" y="0"/>
                      </a:moveTo>
                      <a:lnTo>
                        <a:pt x="33338" y="122238"/>
                      </a:lnTo>
                      <a:cubicBezTo>
                        <a:pt x="33338" y="128375"/>
                        <a:pt x="28362" y="133350"/>
                        <a:pt x="22225" y="133350"/>
                      </a:cubicBezTo>
                      <a:lnTo>
                        <a:pt x="11112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4795838" y="4025438"/>
                  <a:ext cx="166689" cy="1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9" h="156500">
                      <a:moveTo>
                        <a:pt x="100012" y="44912"/>
                      </a:moveTo>
                      <a:lnTo>
                        <a:pt x="150285" y="3018"/>
                      </a:lnTo>
                      <a:cubicBezTo>
                        <a:pt x="153268" y="534"/>
                        <a:pt x="157418" y="0"/>
                        <a:pt x="160932" y="1648"/>
                      </a:cubicBezTo>
                      <a:cubicBezTo>
                        <a:pt x="164446" y="3295"/>
                        <a:pt x="166689" y="6827"/>
                        <a:pt x="166688" y="10708"/>
                      </a:cubicBezTo>
                      <a:lnTo>
                        <a:pt x="166688" y="145792"/>
                      </a:lnTo>
                      <a:cubicBezTo>
                        <a:pt x="166689" y="149673"/>
                        <a:pt x="164446" y="153205"/>
                        <a:pt x="160932" y="154852"/>
                      </a:cubicBezTo>
                      <a:cubicBezTo>
                        <a:pt x="157418" y="156500"/>
                        <a:pt x="153268" y="155965"/>
                        <a:pt x="150285" y="153482"/>
                      </a:cubicBezTo>
                      <a:lnTo>
                        <a:pt x="100012" y="111587"/>
                      </a:lnTo>
                      <a:lnTo>
                        <a:pt x="11113" y="111587"/>
                      </a:lnTo>
                      <a:cubicBezTo>
                        <a:pt x="4975" y="111587"/>
                        <a:pt x="0" y="106612"/>
                        <a:pt x="0" y="100475"/>
                      </a:cubicBezTo>
                      <a:lnTo>
                        <a:pt x="0" y="56025"/>
                      </a:lnTo>
                      <a:cubicBezTo>
                        <a:pt x="0" y="49888"/>
                        <a:pt x="4975" y="44912"/>
                        <a:pt x="11113" y="44912"/>
                      </a:cubicBezTo>
                      <a:lnTo>
                        <a:pt x="100012" y="44912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5313045" y="38985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终稿图讲解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5318760" y="4232910"/>
                <a:ext cx="24707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分段脚本、TTS、光标坐标、WebM</a:t>
                </a: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464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4632008" y="4834414"/>
                <a:ext cx="360283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输出不止是静态图，也能变成可播放讲解材料。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8191500" y="3619500"/>
              <a:ext cx="4354902" cy="1809750"/>
              <a:chOff x="8191500" y="3619500"/>
              <a:chExt cx="4354902" cy="180975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819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845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8628062" y="4014788"/>
                <a:ext cx="177800" cy="211138"/>
                <a:chOff x="8628062" y="4014788"/>
                <a:chExt cx="177800" cy="211138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8728075" y="4014788"/>
                  <a:ext cx="55562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5562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2"/>
                        <a:pt x="11112" y="55562"/>
                      </a:cubicBezTo>
                      <a:lnTo>
                        <a:pt x="55562" y="55562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8628062" y="4014788"/>
                  <a:ext cx="177800" cy="211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11138">
                      <a:moveTo>
                        <a:pt x="72231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2"/>
                      </a:lnTo>
                      <a:lnTo>
                        <a:pt x="155575" y="111125"/>
                      </a:lnTo>
                      <a:moveTo>
                        <a:pt x="100012" y="177800"/>
                      </a:moveTo>
                      <a:lnTo>
                        <a:pt x="177800" y="177800"/>
                      </a:lnTo>
                      <a:moveTo>
                        <a:pt x="144462" y="144463"/>
                      </a:moveTo>
                      <a:lnTo>
                        <a:pt x="177800" y="177800"/>
                      </a:lnTo>
                      <a:lnTo>
                        <a:pt x="144462" y="2111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9123045" y="38985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下载与演示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9128760" y="4232910"/>
                <a:ext cx="26948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SVG、JSON、Mermaid、图像、WebM</a:t>
                </a:r>
              </a:p>
            </p:txBody>
          </p:sp>
          <p:sp>
            <p:nvSpPr>
              <p:cNvPr id="76" name="Line 76"/>
              <p:cNvSpPr/>
              <p:nvPr/>
            </p:nvSpPr>
            <p:spPr>
              <a:xfrm>
                <a:off x="845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42008" y="4834414"/>
                <a:ext cx="410439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Mock 模式保证课堂演示时即使无 key 也能跑通闭环。</a:t>
                </a:r>
              </a:p>
            </p:txBody>
          </p:sp>
        </p:grpSp>
      </p:grpSp>
      <p:grpSp>
        <p:nvGrpSpPr>
          <p:cNvPr id="82" name="Group 82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80" name="TextBox 80"/>
            <p:cNvSpPr txBox="1"/>
            <p:nvPr/>
          </p:nvSpPr>
          <p:spPr>
            <a:xfrm>
              <a:off x="560070" y="6379845"/>
              <a:ext cx="1685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Capability Map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432435"/>
            <a:ext cx="7251478" cy="743903"/>
            <a:chOff x="537210" y="432435"/>
            <a:chExt cx="7251478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43243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现场演示流程：从一张草图到可讲解交付物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902018"/>
              <a:ext cx="68751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演示重点不是单次生成图片，而是展示输入、结构化、渲染、讲解和下载的完整链路。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8650" y="1581150"/>
            <a:ext cx="10934700" cy="2971800"/>
            <a:chOff x="628650" y="1581150"/>
            <a:chExt cx="10934700" cy="2971800"/>
          </a:xfrm>
        </p:grpSpPr>
        <p:sp>
          <p:nvSpPr>
            <p:cNvPr id="6" name="Rectangle 6"/>
            <p:cNvSpPr/>
            <p:nvPr/>
          </p:nvSpPr>
          <p:spPr>
            <a:xfrm>
              <a:off x="628650" y="1581150"/>
              <a:ext cx="10934700" cy="297180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7" name="Line 7"/>
            <p:cNvSpPr/>
            <p:nvPr/>
          </p:nvSpPr>
          <p:spPr>
            <a:xfrm>
              <a:off x="1695450" y="3028950"/>
              <a:ext cx="8610600" cy="9525"/>
            </a:xfrm>
            <a:custGeom>
              <a:avLst/>
              <a:gdLst/>
              <a:ahLst/>
              <a:cxnLst/>
              <a:rect l="l" t="t" r="r" b="b"/>
              <a:pathLst>
                <a:path w="8610600" h="9525">
                  <a:moveTo>
                    <a:pt x="0" y="0"/>
                  </a:moveTo>
                  <a:lnTo>
                    <a:pt x="8610600" y="0"/>
                  </a:lnTo>
                </a:path>
              </a:pathLst>
            </a:custGeom>
            <a:noFill/>
            <a:ln w="28575">
              <a:solidFill>
                <a:srgbClr val="CBD5E1"/>
              </a:solidFill>
              <a:custDash>
                <a:ds d="266666" sp="200000"/>
              </a:custDash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64406" y="2590800"/>
              <a:ext cx="928688" cy="1650206"/>
              <a:chOff x="964406" y="2590800"/>
              <a:chExt cx="928688" cy="1650206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990600" y="2590800"/>
                <a:ext cx="876300" cy="876300"/>
              </a:xfrm>
              <a:prstGeom prst="ellipse">
                <a:avLst/>
              </a:prstGeom>
              <a:solidFill>
                <a:srgbClr val="E0F2FE"/>
              </a:solidFill>
              <a:ln w="19050">
                <a:solidFill>
                  <a:srgbClr val="155E75"/>
                </a:solidFill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1289050" y="2896155"/>
                <a:ext cx="272495" cy="272495"/>
                <a:chOff x="1289050" y="2896155"/>
                <a:chExt cx="272495" cy="272495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289050" y="2896155"/>
                  <a:ext cx="272495" cy="272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495" h="272495">
                      <a:moveTo>
                        <a:pt x="0" y="272495"/>
                      </a:moveTo>
                      <a:lnTo>
                        <a:pt x="69850" y="272495"/>
                      </a:lnTo>
                      <a:lnTo>
                        <a:pt x="253206" y="89139"/>
                      </a:lnTo>
                      <a:cubicBezTo>
                        <a:pt x="272495" y="69850"/>
                        <a:pt x="272495" y="38577"/>
                        <a:pt x="253206" y="19289"/>
                      </a:cubicBezTo>
                      <a:cubicBezTo>
                        <a:pt x="233918" y="0"/>
                        <a:pt x="202645" y="0"/>
                        <a:pt x="183356" y="19289"/>
                      </a:cubicBezTo>
                      <a:lnTo>
                        <a:pt x="0" y="202645"/>
                      </a:lnTo>
                      <a:lnTo>
                        <a:pt x="0" y="272495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454944" y="2932906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0"/>
                      </a:moveTo>
                      <a:lnTo>
                        <a:pt x="69850" y="6985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094661" y="368617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画草图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64406" y="40124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科研流程骨架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195262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2624138" y="2590800"/>
              <a:ext cx="1228725" cy="1650206"/>
              <a:chOff x="2624138" y="2590800"/>
              <a:chExt cx="1228725" cy="1650206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2800350" y="2590800"/>
                <a:ext cx="876300" cy="876300"/>
              </a:xfrm>
              <a:prstGeom prst="ellipse">
                <a:avLst/>
              </a:prstGeom>
              <a:solidFill>
                <a:srgbClr val="CCFBF1"/>
              </a:solidFill>
              <a:ln w="19050">
                <a:solidFill>
                  <a:srgbClr val="0F766E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3116262" y="2854325"/>
                <a:ext cx="244475" cy="341312"/>
                <a:chOff x="3116262" y="2854325"/>
                <a:chExt cx="244475" cy="341312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3186112" y="2854325"/>
                  <a:ext cx="104775" cy="19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92087">
                      <a:moveTo>
                        <a:pt x="0" y="52388"/>
                      </a:moveTo>
                      <a:cubicBezTo>
                        <a:pt x="0" y="23455"/>
                        <a:pt x="23455" y="0"/>
                        <a:pt x="52388" y="0"/>
                      </a:cubicBezTo>
                      <a:cubicBezTo>
                        <a:pt x="81320" y="0"/>
                        <a:pt x="104775" y="23455"/>
                        <a:pt x="104775" y="52388"/>
                      </a:cubicBezTo>
                      <a:lnTo>
                        <a:pt x="104775" y="139700"/>
                      </a:lnTo>
                      <a:cubicBezTo>
                        <a:pt x="104775" y="168633"/>
                        <a:pt x="81320" y="192087"/>
                        <a:pt x="52388" y="192087"/>
                      </a:cubicBezTo>
                      <a:cubicBezTo>
                        <a:pt x="23455" y="192087"/>
                        <a:pt x="0" y="168633"/>
                        <a:pt x="0" y="139700"/>
                      </a:cubicBezTo>
                      <a:lnTo>
                        <a:pt x="0" y="5238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116262" y="2994025"/>
                  <a:ext cx="244475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475" h="122238">
                      <a:moveTo>
                        <a:pt x="0" y="0"/>
                      </a:moveTo>
                      <a:cubicBezTo>
                        <a:pt x="0" y="67510"/>
                        <a:pt x="54728" y="122238"/>
                        <a:pt x="122237" y="122238"/>
                      </a:cubicBezTo>
                      <a:cubicBezTo>
                        <a:pt x="189747" y="122238"/>
                        <a:pt x="244475" y="67510"/>
                        <a:pt x="244475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168650" y="3186112"/>
                  <a:ext cx="139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9525">
                      <a:moveTo>
                        <a:pt x="0" y="0"/>
                      </a:move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238500" y="3116262"/>
                  <a:ext cx="9525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9850">
                      <a:moveTo>
                        <a:pt x="0" y="0"/>
                      </a:moveTo>
                      <a:lnTo>
                        <a:pt x="0" y="6985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2904411" y="368617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补语音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624138" y="40124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节点、方向、意图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376237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4467642" y="2590800"/>
              <a:ext cx="1161217" cy="1650206"/>
              <a:chOff x="4467642" y="2590800"/>
              <a:chExt cx="1161217" cy="1650206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4610100" y="2590800"/>
                <a:ext cx="876300" cy="8763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2563EB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891088" y="2871788"/>
                <a:ext cx="314325" cy="331787"/>
                <a:chOff x="4891088" y="2871788"/>
                <a:chExt cx="314325" cy="331787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4943475" y="2871788"/>
                  <a:ext cx="2095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09550">
                      <a:moveTo>
                        <a:pt x="0" y="104775"/>
                      </a:moveTo>
                      <a:cubicBezTo>
                        <a:pt x="0" y="162641"/>
                        <a:pt x="46909" y="209550"/>
                        <a:pt x="104775" y="209550"/>
                      </a:cubicBezTo>
                      <a:cubicBezTo>
                        <a:pt x="162641" y="209550"/>
                        <a:pt x="209550" y="162641"/>
                        <a:pt x="209550" y="104775"/>
                      </a:cubicBezTo>
                      <a:cubicBezTo>
                        <a:pt x="209550" y="46909"/>
                        <a:pt x="162641" y="0"/>
                        <a:pt x="104775" y="0"/>
                      </a:cubicBezTo>
                      <a:cubicBezTo>
                        <a:pt x="46909" y="0"/>
                        <a:pt x="0" y="46909"/>
                        <a:pt x="0" y="10477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048250" y="2871788"/>
                  <a:ext cx="34925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209550">
                      <a:moveTo>
                        <a:pt x="0" y="0"/>
                      </a:moveTo>
                      <a:cubicBezTo>
                        <a:pt x="23278" y="5815"/>
                        <a:pt x="34925" y="40740"/>
                        <a:pt x="34925" y="104775"/>
                      </a:cubicBezTo>
                      <a:cubicBezTo>
                        <a:pt x="34925" y="168810"/>
                        <a:pt x="23278" y="203735"/>
                        <a:pt x="0" y="2095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5013325" y="2871788"/>
                  <a:ext cx="34925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209550">
                      <a:moveTo>
                        <a:pt x="34925" y="0"/>
                      </a:moveTo>
                      <a:cubicBezTo>
                        <a:pt x="11647" y="5815"/>
                        <a:pt x="0" y="40740"/>
                        <a:pt x="0" y="104775"/>
                      </a:cubicBezTo>
                      <a:cubicBezTo>
                        <a:pt x="0" y="168810"/>
                        <a:pt x="11647" y="203735"/>
                        <a:pt x="34925" y="2095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943475" y="2976562"/>
                  <a:ext cx="2095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9525">
                      <a:moveTo>
                        <a:pt x="0" y="0"/>
                      </a:moveTo>
                      <a:lnTo>
                        <a:pt x="209550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891088" y="3168650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083175" y="3168650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5013325" y="3133725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5048250" y="3081338"/>
                  <a:ext cx="9525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2388">
                      <a:moveTo>
                        <a:pt x="0" y="0"/>
                      </a:moveTo>
                      <a:lnTo>
                        <a:pt x="0" y="52388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4504134" y="36861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生成结构图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467642" y="4012406"/>
                <a:ext cx="116121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Mermaid / JSON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557212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313884" y="2590800"/>
              <a:ext cx="1088231" cy="1650206"/>
              <a:chOff x="6313884" y="2590800"/>
              <a:chExt cx="1088231" cy="1650206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6419850" y="2590800"/>
                <a:ext cx="876300" cy="876300"/>
              </a:xfrm>
              <a:prstGeom prst="ellipse">
                <a:avLst/>
              </a:prstGeom>
              <a:solidFill>
                <a:srgbClr val="DCFCE7"/>
              </a:solidFill>
              <a:ln w="19050">
                <a:solidFill>
                  <a:srgbClr val="16A34A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6700838" y="2871788"/>
                <a:ext cx="314325" cy="314325"/>
                <a:chOff x="6700838" y="2871788"/>
                <a:chExt cx="314325" cy="314325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6910388" y="2959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700838" y="2871788"/>
                  <a:ext cx="314325" cy="3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314325">
                      <a:moveTo>
                        <a:pt x="0" y="52388"/>
                      </a:moveTo>
                      <a:cubicBezTo>
                        <a:pt x="0" y="23455"/>
                        <a:pt x="23455" y="0"/>
                        <a:pt x="52388" y="0"/>
                      </a:cubicBezTo>
                      <a:lnTo>
                        <a:pt x="261938" y="0"/>
                      </a:lnTo>
                      <a:cubicBezTo>
                        <a:pt x="290870" y="0"/>
                        <a:pt x="314325" y="23455"/>
                        <a:pt x="314325" y="52388"/>
                      </a:cubicBezTo>
                      <a:lnTo>
                        <a:pt x="314325" y="261938"/>
                      </a:lnTo>
                      <a:cubicBezTo>
                        <a:pt x="314325" y="290870"/>
                        <a:pt x="290870" y="314325"/>
                        <a:pt x="261938" y="314325"/>
                      </a:cubicBezTo>
                      <a:lnTo>
                        <a:pt x="52388" y="314325"/>
                      </a:lnTo>
                      <a:cubicBezTo>
                        <a:pt x="23455" y="314325"/>
                        <a:pt x="0" y="290870"/>
                        <a:pt x="0" y="261938"/>
                      </a:cubicBezTo>
                      <a:lnTo>
                        <a:pt x="0" y="5238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700838" y="2995893"/>
                  <a:ext cx="227013" cy="102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13" h="102907">
                      <a:moveTo>
                        <a:pt x="0" y="102907"/>
                      </a:moveTo>
                      <a:lnTo>
                        <a:pt x="87312" y="15594"/>
                      </a:lnTo>
                      <a:cubicBezTo>
                        <a:pt x="103518" y="0"/>
                        <a:pt x="123495" y="0"/>
                        <a:pt x="139700" y="15594"/>
                      </a:cubicBezTo>
                      <a:lnTo>
                        <a:pt x="227013" y="102907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892925" y="3030818"/>
                  <a:ext cx="122238" cy="6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67982">
                      <a:moveTo>
                        <a:pt x="0" y="33057"/>
                      </a:moveTo>
                      <a:lnTo>
                        <a:pt x="17463" y="15594"/>
                      </a:lnTo>
                      <a:cubicBezTo>
                        <a:pt x="33668" y="0"/>
                        <a:pt x="53645" y="0"/>
                        <a:pt x="69850" y="15594"/>
                      </a:cubicBezTo>
                      <a:lnTo>
                        <a:pt x="122238" y="67982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6313884" y="36861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生成终稿图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318647" y="401240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论文风格方法图</a:t>
                </a:r>
              </a:p>
            </p:txBody>
          </p:sp>
        </p:grpSp>
        <p:sp>
          <p:nvSpPr>
            <p:cNvPr id="49" name="Line 49"/>
            <p:cNvSpPr/>
            <p:nvPr/>
          </p:nvSpPr>
          <p:spPr>
            <a:xfrm>
              <a:off x="738187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203406" y="2590800"/>
              <a:ext cx="928688" cy="1650206"/>
              <a:chOff x="8203406" y="2590800"/>
              <a:chExt cx="928688" cy="1650206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229600" y="2590800"/>
                <a:ext cx="876300" cy="876300"/>
              </a:xfrm>
              <a:prstGeom prst="ellipse">
                <a:avLst/>
              </a:prstGeom>
              <a:solidFill>
                <a:srgbClr val="FEF3C7"/>
              </a:solidFill>
              <a:ln w="19050">
                <a:solidFill>
                  <a:srgbClr val="F59E0B"/>
                </a:solidFill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8510588" y="2888523"/>
                <a:ext cx="314325" cy="280127"/>
                <a:chOff x="8510588" y="2888523"/>
                <a:chExt cx="314325" cy="280127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8772525" y="2959100"/>
                  <a:ext cx="52388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104775">
                      <a:moveTo>
                        <a:pt x="0" y="0"/>
                      </a:moveTo>
                      <a:cubicBezTo>
                        <a:pt x="28933" y="0"/>
                        <a:pt x="52388" y="23455"/>
                        <a:pt x="52388" y="52388"/>
                      </a:cubicBezTo>
                      <a:cubicBezTo>
                        <a:pt x="52388" y="81320"/>
                        <a:pt x="28933" y="104775"/>
                        <a:pt x="0" y="1047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8580438" y="2959100"/>
                  <a:ext cx="52388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209550">
                      <a:moveTo>
                        <a:pt x="52388" y="0"/>
                      </a:moveTo>
                      <a:lnTo>
                        <a:pt x="52388" y="192087"/>
                      </a:lnTo>
                      <a:cubicBezTo>
                        <a:pt x="52388" y="201732"/>
                        <a:pt x="44569" y="209550"/>
                        <a:pt x="34925" y="209550"/>
                      </a:cubicBezTo>
                      <a:lnTo>
                        <a:pt x="17462" y="209550"/>
                      </a:lnTo>
                      <a:cubicBezTo>
                        <a:pt x="7818" y="209550"/>
                        <a:pt x="0" y="201732"/>
                        <a:pt x="0" y="192087"/>
                      </a:cubicBezTo>
                      <a:lnTo>
                        <a:pt x="0" y="10477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8510588" y="2888523"/>
                  <a:ext cx="261941" cy="245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1" h="245928">
                      <a:moveTo>
                        <a:pt x="157162" y="70577"/>
                      </a:moveTo>
                      <a:lnTo>
                        <a:pt x="236163" y="4743"/>
                      </a:lnTo>
                      <a:cubicBezTo>
                        <a:pt x="240849" y="840"/>
                        <a:pt x="247371" y="0"/>
                        <a:pt x="252893" y="2589"/>
                      </a:cubicBezTo>
                      <a:cubicBezTo>
                        <a:pt x="258415" y="5178"/>
                        <a:pt x="261941" y="10728"/>
                        <a:pt x="261938" y="16827"/>
                      </a:cubicBezTo>
                      <a:lnTo>
                        <a:pt x="261938" y="229101"/>
                      </a:lnTo>
                      <a:cubicBezTo>
                        <a:pt x="261941" y="235200"/>
                        <a:pt x="258415" y="240750"/>
                        <a:pt x="252893" y="243339"/>
                      </a:cubicBezTo>
                      <a:cubicBezTo>
                        <a:pt x="247371" y="245928"/>
                        <a:pt x="240849" y="245089"/>
                        <a:pt x="236163" y="241185"/>
                      </a:cubicBezTo>
                      <a:lnTo>
                        <a:pt x="157162" y="175352"/>
                      </a:lnTo>
                      <a:lnTo>
                        <a:pt x="17463" y="175352"/>
                      </a:lnTo>
                      <a:cubicBezTo>
                        <a:pt x="7818" y="175352"/>
                        <a:pt x="0" y="167533"/>
                        <a:pt x="0" y="157889"/>
                      </a:cubicBezTo>
                      <a:lnTo>
                        <a:pt x="0" y="88039"/>
                      </a:lnTo>
                      <a:cubicBezTo>
                        <a:pt x="0" y="78395"/>
                        <a:pt x="7818" y="70577"/>
                        <a:pt x="17463" y="70577"/>
                      </a:cubicBezTo>
                      <a:lnTo>
                        <a:pt x="157162" y="70577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8228648" y="36861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生成讲解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203406" y="40124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光标跟随段落</a:t>
                </a:r>
              </a:p>
            </p:txBody>
          </p:sp>
        </p:grpSp>
        <p:sp>
          <p:nvSpPr>
            <p:cNvPr id="58" name="Line 58"/>
            <p:cNvSpPr/>
            <p:nvPr/>
          </p:nvSpPr>
          <p:spPr>
            <a:xfrm>
              <a:off x="919162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9791879" y="2590800"/>
              <a:ext cx="1371243" cy="1650206"/>
              <a:chOff x="9791879" y="2590800"/>
              <a:chExt cx="1371243" cy="1650206"/>
            </a:xfrm>
          </p:grpSpPr>
          <p:sp>
            <p:nvSpPr>
              <p:cNvPr id="59" name="Ellipse 59"/>
              <p:cNvSpPr/>
              <p:nvPr/>
            </p:nvSpPr>
            <p:spPr>
              <a:xfrm>
                <a:off x="10039350" y="2590800"/>
                <a:ext cx="876300" cy="876300"/>
              </a:xfrm>
              <a:prstGeom prst="ellipse">
                <a:avLst/>
              </a:prstGeom>
              <a:gradFill>
                <a:gsLst>
                  <a:gs pos="0">
                    <a:srgbClr val="155E75"/>
                  </a:gs>
                  <a:gs pos="100000">
                    <a:srgbClr val="0F766E"/>
                  </a:gs>
                </a:gsLst>
                <a:lin ang="0" scaled="1"/>
              </a:gradFill>
              <a:ln w="19050">
                <a:solidFill>
                  <a:srgbClr val="0F766E"/>
                </a:solidFill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10355262" y="2871788"/>
                <a:ext cx="279400" cy="331787"/>
                <a:chOff x="10355262" y="2871788"/>
                <a:chExt cx="279400" cy="331787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10512425" y="2871788"/>
                  <a:ext cx="87312" cy="8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12" h="87313">
                      <a:moveTo>
                        <a:pt x="0" y="0"/>
                      </a:moveTo>
                      <a:lnTo>
                        <a:pt x="0" y="69850"/>
                      </a:lnTo>
                      <a:cubicBezTo>
                        <a:pt x="0" y="79494"/>
                        <a:pt x="7818" y="87313"/>
                        <a:pt x="17462" y="87313"/>
                      </a:cubicBezTo>
                      <a:lnTo>
                        <a:pt x="87312" y="873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10355262" y="2871788"/>
                  <a:ext cx="279400" cy="33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400" h="331787">
                      <a:moveTo>
                        <a:pt x="113506" y="314325"/>
                      </a:moveTo>
                      <a:lnTo>
                        <a:pt x="34925" y="314325"/>
                      </a:lnTo>
                      <a:cubicBezTo>
                        <a:pt x="15636" y="314325"/>
                        <a:pt x="0" y="298689"/>
                        <a:pt x="0" y="279400"/>
                      </a:cubicBezTo>
                      <a:lnTo>
                        <a:pt x="0" y="34925"/>
                      </a:lnTo>
                      <a:cubicBezTo>
                        <a:pt x="0" y="15636"/>
                        <a:pt x="15636" y="0"/>
                        <a:pt x="34925" y="0"/>
                      </a:cubicBezTo>
                      <a:lnTo>
                        <a:pt x="157162" y="0"/>
                      </a:lnTo>
                      <a:lnTo>
                        <a:pt x="244475" y="87313"/>
                      </a:lnTo>
                      <a:lnTo>
                        <a:pt x="244475" y="174625"/>
                      </a:lnTo>
                      <a:moveTo>
                        <a:pt x="157162" y="279400"/>
                      </a:moveTo>
                      <a:lnTo>
                        <a:pt x="279400" y="279400"/>
                      </a:lnTo>
                      <a:moveTo>
                        <a:pt x="227012" y="227012"/>
                      </a:moveTo>
                      <a:lnTo>
                        <a:pt x="279400" y="279400"/>
                      </a:lnTo>
                      <a:lnTo>
                        <a:pt x="227012" y="33178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10038398" y="36861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下载交付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791879" y="4012406"/>
                <a:ext cx="137124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SVG / JSON / WebM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895350" y="4953000"/>
            <a:ext cx="10842165" cy="723900"/>
            <a:chOff x="895350" y="4953000"/>
            <a:chExt cx="10842165" cy="723900"/>
          </a:xfrm>
        </p:grpSpPr>
        <p:sp>
          <p:nvSpPr>
            <p:cNvPr id="67" name="Rectangle 67"/>
            <p:cNvSpPr/>
            <p:nvPr/>
          </p:nvSpPr>
          <p:spPr>
            <a:xfrm>
              <a:off x="895350" y="4953000"/>
              <a:ext cx="10401300" cy="723900"/>
            </a:xfrm>
            <a:prstGeom prst="roundRect">
              <a:avLst>
                <a:gd name="adj" fmla="val 10526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143000" y="50768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推荐现场演示口径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44905" y="5378768"/>
              <a:ext cx="105926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画一个“输入数据 → 模型 → 评测指标”的简单草图，再用语音补充中间步骤，最后展示 Mermaid、SVG、JSON、终稿图和讲解 WebM。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71" name="TextBox 71"/>
            <p:cNvSpPr txBox="1"/>
            <p:nvPr/>
          </p:nvSpPr>
          <p:spPr>
            <a:xfrm>
              <a:off x="560070" y="6379845"/>
              <a:ext cx="17090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Live Demo Flow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8007572" cy="743903"/>
            <a:chOff x="537210" y="394335"/>
            <a:chExt cx="8007572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系统架构：前端交互、后端服务和模型能力分层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6771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产品闭环由浏览器工作台、FastAPI 接口、结构化模型、图像与语音服务共同完成。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38200" y="1409700"/>
            <a:ext cx="10963276" cy="4495800"/>
            <a:chOff x="838200" y="1409700"/>
            <a:chExt cx="10963276" cy="4495800"/>
          </a:xfrm>
        </p:grpSpPr>
        <p:grpSp>
          <p:nvGrpSpPr>
            <p:cNvPr id="15" name="Group 15"/>
            <p:cNvGrpSpPr/>
            <p:nvPr/>
          </p:nvGrpSpPr>
          <p:grpSpPr>
            <a:xfrm>
              <a:off x="838200" y="1409700"/>
              <a:ext cx="10515600" cy="914400"/>
              <a:chOff x="838200" y="1409700"/>
              <a:chExt cx="10515600" cy="914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838200" y="14097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E0F2FE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66800" y="16383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214438" y="1778000"/>
                <a:ext cx="200025" cy="187325"/>
                <a:chOff x="1214438" y="1778000"/>
                <a:chExt cx="200025" cy="187325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1214438" y="1778000"/>
                  <a:ext cx="2000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188913" y="0"/>
                      </a:lnTo>
                      <a:cubicBezTo>
                        <a:pt x="195050" y="0"/>
                        <a:pt x="200025" y="4975"/>
                        <a:pt x="200025" y="11113"/>
                      </a:cubicBezTo>
                      <a:lnTo>
                        <a:pt x="200025" y="122238"/>
                      </a:lnTo>
                      <a:cubicBezTo>
                        <a:pt x="200025" y="128375"/>
                        <a:pt x="195050" y="133350"/>
                        <a:pt x="188913" y="133350"/>
                      </a:cubicBezTo>
                      <a:lnTo>
                        <a:pt x="11112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258888" y="195580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281112" y="19113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347788" y="19113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827848" y="15825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前端工作台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31658" y="1919764"/>
                <a:ext cx="462295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画布、录音、上传、标签页预览、下载、讲解播放和光标动画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38200" y="2552700"/>
              <a:ext cx="10963276" cy="914400"/>
              <a:chOff x="838200" y="2552700"/>
              <a:chExt cx="10963276" cy="9144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38200" y="25527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066800" y="27813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214438" y="2921000"/>
                <a:ext cx="200025" cy="177800"/>
                <a:chOff x="1214438" y="2921000"/>
                <a:chExt cx="200025" cy="1778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1214438" y="2921000"/>
                  <a:ext cx="2000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55562"/>
                      </a:lnTo>
                      <a:cubicBezTo>
                        <a:pt x="200025" y="73974"/>
                        <a:pt x="185099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4"/>
                        <a:pt x="0" y="55562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214438" y="3009900"/>
                  <a:ext cx="2000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55562"/>
                      </a:lnTo>
                      <a:cubicBezTo>
                        <a:pt x="200025" y="73974"/>
                        <a:pt x="185099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4"/>
                        <a:pt x="0" y="55562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258888" y="2965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258888" y="3054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827848" y="2725579"/>
                <a:ext cx="156164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FastAPI 服务层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832610" y="3070860"/>
                <a:ext cx="42150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/api/generate /api/render-image /api/narrate-image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708708" y="3005614"/>
                <a:ext cx="30927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统一接收草图、音频、文本和结构化结果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38200" y="3695700"/>
              <a:ext cx="10515600" cy="1066800"/>
              <a:chOff x="838200" y="3695700"/>
              <a:chExt cx="10515600" cy="1066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38200" y="3695700"/>
                <a:ext cx="1051560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066800" y="398145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1214438" y="4110038"/>
                <a:ext cx="200025" cy="200025"/>
                <a:chOff x="1214438" y="4110038"/>
                <a:chExt cx="200025" cy="20002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1214438" y="41100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33338" y="200025"/>
                      </a:moveTo>
                      <a:lnTo>
                        <a:pt x="200025" y="33338"/>
                      </a:lnTo>
                      <a:lnTo>
                        <a:pt x="166688" y="0"/>
                      </a:lnTo>
                      <a:lnTo>
                        <a:pt x="0" y="166688"/>
                      </a:lnTo>
                      <a:lnTo>
                        <a:pt x="33338" y="20002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347788" y="4143375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0" y="0"/>
                      </a:moveTo>
                      <a:lnTo>
                        <a:pt x="33338" y="33338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258888" y="411003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370012" y="4221162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827848" y="383047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模型与生成服务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831658" y="4167664"/>
                <a:ext cx="618715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ASR 转写、多模态结构化、豆包草稿图、OpenAI 终稿图、OpenAI/豆包/Mock TTS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847850" y="4457700"/>
                <a:ext cx="1619250" cy="209550"/>
              </a:xfrm>
              <a:prstGeom prst="roundRect">
                <a:avLst>
                  <a:gd name="adj" fmla="val 36364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2216039" y="4504849"/>
                <a:ext cx="8828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mock fallback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38200" y="4991100"/>
              <a:ext cx="10515600" cy="914400"/>
              <a:chOff x="838200" y="4991100"/>
              <a:chExt cx="10515600" cy="9144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38200" y="49911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1066800" y="52197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1236662" y="5348288"/>
                <a:ext cx="177800" cy="211137"/>
                <a:chOff x="1236662" y="5348288"/>
                <a:chExt cx="177800" cy="211137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1336675" y="5348288"/>
                  <a:ext cx="55562" cy="55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5563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3"/>
                        <a:pt x="11112" y="55563"/>
                      </a:cubicBezTo>
                      <a:lnTo>
                        <a:pt x="55562" y="55563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236662" y="5348288"/>
                  <a:ext cx="177800" cy="211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11137">
                      <a:moveTo>
                        <a:pt x="72231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3"/>
                      </a:lnTo>
                      <a:lnTo>
                        <a:pt x="155575" y="111125"/>
                      </a:lnTo>
                      <a:moveTo>
                        <a:pt x="100012" y="177800"/>
                      </a:moveTo>
                      <a:lnTo>
                        <a:pt x="177800" y="177800"/>
                      </a:lnTo>
                      <a:moveTo>
                        <a:pt x="144462" y="144462"/>
                      </a:moveTo>
                      <a:lnTo>
                        <a:pt x="177800" y="177800"/>
                      </a:lnTo>
                      <a:lnTo>
                        <a:pt x="144462" y="211137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1827848" y="5163979"/>
                <a:ext cx="136317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输出与导出层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831658" y="5501164"/>
                <a:ext cx="48099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Mermaid、SVG、JSON、AI 图像、讲解音频、浏览器录制 WebM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8915400" y="1695450"/>
            <a:ext cx="2000250" cy="4057650"/>
            <a:chOff x="8915400" y="1695450"/>
            <a:chExt cx="2000250" cy="4057650"/>
          </a:xfrm>
        </p:grpSpPr>
        <p:sp>
          <p:nvSpPr>
            <p:cNvPr id="48" name="Rectangle 48"/>
            <p:cNvSpPr/>
            <p:nvPr/>
          </p:nvSpPr>
          <p:spPr>
            <a:xfrm>
              <a:off x="8915400" y="1695450"/>
              <a:ext cx="200025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28201" y="183261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用户看到的是闭环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15400" y="5334000"/>
              <a:ext cx="200025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12212" y="54711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系统内部是分层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79845"/>
              <a:ext cx="16190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Architecture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6873430" cy="743903"/>
            <a:chOff x="537210" y="394335"/>
            <a:chExt cx="6873430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68734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科研侧：把产品需求抽象成结构恢复任务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3530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从产品角度看是“语音画图工具”，从科研角度看是语音引导的知识草图结构化。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28750"/>
            <a:ext cx="5561647" cy="4000500"/>
            <a:chOff x="666750" y="1428750"/>
            <a:chExt cx="5561647" cy="4000500"/>
          </a:xfrm>
        </p:grpSpPr>
        <p:sp>
          <p:nvSpPr>
            <p:cNvPr id="6" name="Rectangle 6"/>
            <p:cNvSpPr/>
            <p:nvPr/>
          </p:nvSpPr>
          <p:spPr>
            <a:xfrm>
              <a:off x="666750" y="1428750"/>
              <a:ext cx="4762500" cy="4000500"/>
            </a:xfrm>
            <a:prstGeom prst="roundRect">
              <a:avLst>
                <a:gd name="adj" fmla="val 190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54405" y="1673542"/>
              <a:ext cx="166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关键转折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58215" y="2296478"/>
              <a:ext cx="184999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不是把草图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58215" y="27536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直接画漂亮，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8215" y="336327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而是恢复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8215" y="382047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可编辑知识结构。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90600" y="4552950"/>
              <a:ext cx="36195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5E75"/>
                </a:gs>
                <a:gs pos="100000">
                  <a:srgbClr val="0F766E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3455" y="4864418"/>
              <a:ext cx="52549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草图负责二维布局，语音负责语义锚点，系统恢复结构化图表示。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05500" y="1428750"/>
            <a:ext cx="6357118" cy="4000500"/>
            <a:chOff x="5905500" y="1428750"/>
            <a:chExt cx="6357118" cy="4000500"/>
          </a:xfrm>
        </p:grpSpPr>
        <p:sp>
          <p:nvSpPr>
            <p:cNvPr id="15" name="Rectangle 15"/>
            <p:cNvSpPr/>
            <p:nvPr/>
          </p:nvSpPr>
          <p:spPr>
            <a:xfrm>
              <a:off x="5905500" y="1428750"/>
              <a:ext cx="5619750" cy="4000500"/>
            </a:xfrm>
            <a:prstGeom prst="roundRect">
              <a:avLst>
                <a:gd name="adj" fmla="val 190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6191250" y="1752600"/>
              <a:ext cx="571500" cy="571500"/>
            </a:xfrm>
            <a:prstGeom prst="roundRect">
              <a:avLst>
                <a:gd name="adj" fmla="val 13333"/>
              </a:avLst>
            </a:prstGeom>
            <a:solidFill>
              <a:srgbClr val="E0F2FE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362700" y="1924050"/>
              <a:ext cx="228600" cy="228600"/>
              <a:chOff x="6362700" y="1924050"/>
              <a:chExt cx="228600" cy="228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464300" y="20256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413500" y="19748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362700" y="19240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949440" y="1815465"/>
              <a:ext cx="53131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Speech-Guided Sketch-to-Knowledge-Graph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56108" y="21864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语音引导的知识草图结构化任务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191250" y="26479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64592" y="2899886"/>
              <a:ext cx="139638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Input: S + U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69355" y="3245168"/>
              <a:ext cx="3967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 是手绘草图，提供模块位置、箭头和空间关系。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69355" y="3530918"/>
              <a:ext cx="43278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U 是同步语音，提供节点名称、关系方向和设计意图。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496050" y="3981450"/>
              <a:ext cx="4324350" cy="1"/>
            </a:xfrm>
            <a:prstGeom prst="line">
              <a:avLst/>
            </a:prstGeom>
            <a:noFill/>
            <a:ln w="38100">
              <a:solidFill>
                <a:srgbClr val="0F766E"/>
              </a:solidFill>
              <a:tailEnd type="triangle" w="lg" len="lg"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64592" y="4290536"/>
              <a:ext cx="277310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Output: G_hat = (V, E)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69355" y="4635818"/>
              <a:ext cx="57950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节点包含标签、类型、解释和置信度；边包含方向、关系类型和置信度。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69355" y="4921568"/>
              <a:ext cx="49129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评测从“像不像”转为结构是否恢复正确、修改成本是否下降。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43000" y="5715000"/>
            <a:ext cx="9906000" cy="419100"/>
            <a:chOff x="1143000" y="5715000"/>
            <a:chExt cx="9906000" cy="419100"/>
          </a:xfrm>
        </p:grpSpPr>
        <p:sp>
          <p:nvSpPr>
            <p:cNvPr id="32" name="Rectangle 32"/>
            <p:cNvSpPr/>
            <p:nvPr/>
          </p:nvSpPr>
          <p:spPr>
            <a:xfrm>
              <a:off x="1143000" y="5715000"/>
              <a:ext cx="9906000" cy="419100"/>
            </a:xfrm>
            <a:prstGeom prst="roundRect">
              <a:avLst>
                <a:gd name="adj" fmla="val 18182"/>
              </a:avLst>
            </a:prstGeom>
            <a:solidFill>
              <a:srgbClr val="CCFBF1"/>
            </a:solidFill>
            <a:ln w="9525">
              <a:solidFill>
                <a:srgbClr val="0F766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286929" y="5827871"/>
              <a:ext cx="761814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三个假设：语音补节点标签，叙述顺序纠正边方向，显式编辑路径降低用户修改成本。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35" name="TextBox 35"/>
            <p:cNvSpPr txBox="1"/>
            <p:nvPr/>
          </p:nvSpPr>
          <p:spPr>
            <a:xfrm>
              <a:off x="560070" y="6379845"/>
              <a:ext cx="22911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Research Task Definition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1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6117336" cy="743903"/>
            <a:chOff x="537210" y="394335"/>
            <a:chExt cx="6117336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61173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三种中间图：把不完整信息显式拆开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48768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`Gs`、`Gu`、`Gf` 让产品调试从黑箱输出变成可观察过程。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81050" y="1504950"/>
            <a:ext cx="10688955" cy="3905250"/>
            <a:chOff x="781050" y="1504950"/>
            <a:chExt cx="10688955" cy="3905250"/>
          </a:xfrm>
        </p:grpSpPr>
        <p:grpSp>
          <p:nvGrpSpPr>
            <p:cNvPr id="18" name="Group 18"/>
            <p:cNvGrpSpPr/>
            <p:nvPr/>
          </p:nvGrpSpPr>
          <p:grpSpPr>
            <a:xfrm>
              <a:off x="781050" y="1504950"/>
              <a:ext cx="3143250" cy="3905250"/>
              <a:chOff x="781050" y="1504950"/>
              <a:chExt cx="3143250" cy="3905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81050" y="1504950"/>
                <a:ext cx="3143250" cy="3905250"/>
              </a:xfrm>
              <a:prstGeom prst="roundRect">
                <a:avLst>
                  <a:gd name="adj" fmla="val 242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5250"/>
                  </a:srgbClr>
                </a:outerShdw>
              </a:effectLst>
            </p:spPr>
          </p:sp>
          <p:sp>
            <p:nvSpPr>
              <p:cNvPr id="7" name="Rectangle 7"/>
              <p:cNvSpPr/>
              <p:nvPr/>
            </p:nvSpPr>
            <p:spPr>
              <a:xfrm>
                <a:off x="781050" y="1504950"/>
                <a:ext cx="3143250" cy="914400"/>
              </a:xfrm>
              <a:prstGeom prst="roundRect">
                <a:avLst>
                  <a:gd name="adj" fmla="val 8333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1152525" y="1825866"/>
                <a:ext cx="260109" cy="260109"/>
                <a:chOff x="1152525" y="1825866"/>
                <a:chExt cx="260109" cy="260109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1152525" y="1825866"/>
                  <a:ext cx="260109" cy="260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109" h="260109">
                      <a:moveTo>
                        <a:pt x="0" y="260109"/>
                      </a:moveTo>
                      <a:lnTo>
                        <a:pt x="66675" y="260109"/>
                      </a:lnTo>
                      <a:lnTo>
                        <a:pt x="241697" y="85087"/>
                      </a:lnTo>
                      <a:cubicBezTo>
                        <a:pt x="260109" y="66675"/>
                        <a:pt x="260109" y="36824"/>
                        <a:pt x="241697" y="18412"/>
                      </a:cubicBezTo>
                      <a:cubicBezTo>
                        <a:pt x="223285" y="0"/>
                        <a:pt x="193434" y="0"/>
                        <a:pt x="175022" y="18412"/>
                      </a:cubicBezTo>
                      <a:lnTo>
                        <a:pt x="0" y="193434"/>
                      </a:lnTo>
                      <a:lnTo>
                        <a:pt x="0" y="260109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310878" y="1860947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0"/>
                      </a:moveTo>
                      <a:lnTo>
                        <a:pt x="66675" y="66675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1649730" y="1744980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Gs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59255" y="2064068"/>
                <a:ext cx="6013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草图图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66800" y="27336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优势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68705" y="3092768"/>
                <a:ext cx="20145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保留模块位置和空间结构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8705" y="3397568"/>
                <a:ext cx="21945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能表达分支、上下游、闭环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6800" y="39528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缺口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68705" y="4311968"/>
                <a:ext cx="255460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标签不稳、语义弱、方向可能错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524375" y="1504950"/>
              <a:ext cx="3143250" cy="3905250"/>
              <a:chOff x="4524375" y="1504950"/>
              <a:chExt cx="3143250" cy="39052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524375" y="1504950"/>
                <a:ext cx="3143250" cy="3905250"/>
              </a:xfrm>
              <a:prstGeom prst="roundRect">
                <a:avLst>
                  <a:gd name="adj" fmla="val 242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5250"/>
                  </a:srgbClr>
                </a:outerShdw>
              </a:effectLst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524375" y="1504950"/>
                <a:ext cx="3143250" cy="914400"/>
              </a:xfrm>
              <a:prstGeom prst="roundRect">
                <a:avLst>
                  <a:gd name="adj" fmla="val 8333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4912519" y="1785938"/>
                <a:ext cx="233362" cy="326231"/>
                <a:chOff x="4912519" y="1785938"/>
                <a:chExt cx="233362" cy="326231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4979194" y="1785938"/>
                  <a:ext cx="100012" cy="183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83356">
                      <a:moveTo>
                        <a:pt x="0" y="50006"/>
                      </a:moveTo>
                      <a:cubicBezTo>
                        <a:pt x="0" y="22389"/>
                        <a:pt x="22389" y="0"/>
                        <a:pt x="50006" y="0"/>
                      </a:cubicBezTo>
                      <a:cubicBezTo>
                        <a:pt x="77624" y="0"/>
                        <a:pt x="100012" y="22389"/>
                        <a:pt x="100012" y="50006"/>
                      </a:cubicBezTo>
                      <a:lnTo>
                        <a:pt x="100012" y="133350"/>
                      </a:lnTo>
                      <a:cubicBezTo>
                        <a:pt x="100012" y="160968"/>
                        <a:pt x="77624" y="183356"/>
                        <a:pt x="50006" y="183356"/>
                      </a:cubicBezTo>
                      <a:cubicBezTo>
                        <a:pt x="22389" y="183356"/>
                        <a:pt x="0" y="160968"/>
                        <a:pt x="0" y="133350"/>
                      </a:cubicBez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912519" y="1919288"/>
                  <a:ext cx="233362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116681">
                      <a:moveTo>
                        <a:pt x="0" y="0"/>
                      </a:moveTo>
                      <a:cubicBezTo>
                        <a:pt x="0" y="64441"/>
                        <a:pt x="52240" y="116681"/>
                        <a:pt x="116681" y="116681"/>
                      </a:cubicBezTo>
                      <a:cubicBezTo>
                        <a:pt x="181123" y="116681"/>
                        <a:pt x="233362" y="64441"/>
                        <a:pt x="233362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962525" y="2102644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5029200" y="2035969"/>
                  <a:ext cx="95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">
                      <a:moveTo>
                        <a:pt x="0" y="0"/>
                      </a:move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5393055" y="1744980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Gu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02580" y="2064068"/>
                <a:ext cx="6013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语音图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10125" y="27336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优势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812030" y="3092768"/>
                <a:ext cx="18345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节点命名和语义更完整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812030" y="3397568"/>
                <a:ext cx="237458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能补充顺序、因果和设计意图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810125" y="39528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缺口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812030" y="4311968"/>
                <a:ext cx="237458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缺少二维布局，难直接变成图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267700" y="1504950"/>
              <a:ext cx="3202305" cy="3905250"/>
              <a:chOff x="8267700" y="1504950"/>
              <a:chExt cx="3202305" cy="39052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267700" y="1504950"/>
                <a:ext cx="3143250" cy="3905250"/>
              </a:xfrm>
              <a:prstGeom prst="roundRect">
                <a:avLst>
                  <a:gd name="adj" fmla="val 2424"/>
                </a:avLst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5250"/>
                  </a:srgbClr>
                </a:outerShdw>
              </a:effectLst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8267700" y="1504950"/>
                <a:ext cx="3143250" cy="914400"/>
              </a:xfrm>
              <a:prstGeom prst="roundRect">
                <a:avLst>
                  <a:gd name="adj" fmla="val 8333"/>
                </a:avLst>
              </a:prstGeom>
              <a:solidFill>
                <a:srgbClr val="0F766E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8639163" y="1819275"/>
                <a:ext cx="266712" cy="266700"/>
                <a:chOff x="8639163" y="1819275"/>
                <a:chExt cx="266712" cy="266700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8705850" y="1885950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183356" y="4467"/>
                      </a:moveTo>
                      <a:cubicBezTo>
                        <a:pt x="193671" y="10422"/>
                        <a:pt x="200025" y="21427"/>
                        <a:pt x="200025" y="33338"/>
                      </a:cubicBezTo>
                      <a:lnTo>
                        <a:pt x="200025" y="166688"/>
                      </a:lnTo>
                      <a:cubicBezTo>
                        <a:pt x="200025" y="185099"/>
                        <a:pt x="185099" y="200025"/>
                        <a:pt x="166688" y="200025"/>
                      </a:cubicBezTo>
                      <a:lnTo>
                        <a:pt x="33338" y="200025"/>
                      </a:lnTo>
                      <a:cubicBezTo>
                        <a:pt x="14926" y="200025"/>
                        <a:pt x="0" y="185099"/>
                        <a:pt x="0" y="166688"/>
                      </a:cubicBezTo>
                      <a:lnTo>
                        <a:pt x="0" y="33338"/>
                      </a:ln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83344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639163" y="1819275"/>
                  <a:ext cx="200037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37" h="200025">
                      <a:moveTo>
                        <a:pt x="16680" y="195591"/>
                      </a:moveTo>
                      <a:cubicBezTo>
                        <a:pt x="6356" y="189630"/>
                        <a:pt x="0" y="178609"/>
                        <a:pt x="12" y="166688"/>
                      </a:cubicBezTo>
                      <a:lnTo>
                        <a:pt x="12" y="33338"/>
                      </a:lnTo>
                      <a:cubicBezTo>
                        <a:pt x="12" y="14926"/>
                        <a:pt x="14937" y="0"/>
                        <a:pt x="33349" y="0"/>
                      </a:cubicBezTo>
                      <a:lnTo>
                        <a:pt x="166699" y="0"/>
                      </a:lnTo>
                      <a:cubicBezTo>
                        <a:pt x="185111" y="0"/>
                        <a:pt x="200037" y="14926"/>
                        <a:pt x="200037" y="33338"/>
                      </a:cubicBezTo>
                      <a:lnTo>
                        <a:pt x="200037" y="166688"/>
                      </a:lnTo>
                      <a:cubicBezTo>
                        <a:pt x="200037" y="185099"/>
                        <a:pt x="185111" y="200025"/>
                        <a:pt x="166699" y="200025"/>
                      </a:cubicBezTo>
                      <a:lnTo>
                        <a:pt x="116693" y="2000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9136380" y="1744980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Gf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145905" y="2064068"/>
                <a:ext cx="6013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融合图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553450" y="27336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作用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555355" y="3092768"/>
                <a:ext cx="21945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把空间结构和语义锚点合并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555355" y="3397568"/>
                <a:ext cx="20145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作为图编辑桥的初始候选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553450" y="39528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产品意义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555355" y="4311968"/>
                <a:ext cx="29146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可定位错误来自视觉、语音还是融合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3522176" y="5841682"/>
            <a:ext cx="5147648" cy="335280"/>
            <a:chOff x="3522176" y="5841682"/>
            <a:chExt cx="5147648" cy="335280"/>
          </a:xfrm>
        </p:grpSpPr>
        <p:sp>
          <p:nvSpPr>
            <p:cNvPr id="48" name="TextBox 48"/>
            <p:cNvSpPr txBox="1"/>
            <p:nvPr/>
          </p:nvSpPr>
          <p:spPr>
            <a:xfrm>
              <a:off x="3522176" y="5841682"/>
              <a:ext cx="51476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显式中间图让“模型为什么这么画”有了可解释入口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0" name="TextBox 50"/>
            <p:cNvSpPr txBox="1"/>
            <p:nvPr/>
          </p:nvSpPr>
          <p:spPr>
            <a:xfrm>
              <a:off x="560070" y="6379845"/>
              <a:ext cx="20451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Intermediate Graphs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6495383" cy="743903"/>
            <a:chOff x="537210" y="394335"/>
            <a:chExt cx="6495383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64953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图编辑桥：逐步恢复，而不是一次猜完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4894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编辑路径让结构恢复过程可解释、可追踪、可评估修改代价。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66750" y="1790700"/>
            <a:ext cx="11049000" cy="1714500"/>
            <a:chOff x="666750" y="1790700"/>
            <a:chExt cx="11049000" cy="1714500"/>
          </a:xfrm>
        </p:grpSpPr>
        <p:grpSp>
          <p:nvGrpSpPr>
            <p:cNvPr id="14" name="Group 14"/>
            <p:cNvGrpSpPr/>
            <p:nvPr/>
          </p:nvGrpSpPr>
          <p:grpSpPr>
            <a:xfrm>
              <a:off x="666750" y="1790700"/>
              <a:ext cx="1714500" cy="1714500"/>
              <a:chOff x="666750" y="1790700"/>
              <a:chExt cx="1714500" cy="1714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66750" y="1790700"/>
                <a:ext cx="17145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362523" y="1996440"/>
                <a:ext cx="3229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Gf</a:t>
                </a:r>
              </a:p>
            </p:txBody>
          </p:sp>
          <p:sp>
            <p:nvSpPr>
              <p:cNvPr id="8" name="Ellipse 8"/>
              <p:cNvSpPr/>
              <p:nvPr/>
            </p:nvSpPr>
            <p:spPr>
              <a:xfrm>
                <a:off x="1104900" y="2590800"/>
                <a:ext cx="266700" cy="266700"/>
              </a:xfrm>
              <a:prstGeom prst="ellipse">
                <a:avLst/>
              </a:prstGeom>
              <a:solidFill>
                <a:srgbClr val="E0F2FE"/>
              </a:solidFill>
              <a:ln w="9525">
                <a:solidFill>
                  <a:srgbClr val="155E75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657350" y="2590800"/>
                <a:ext cx="266700" cy="266700"/>
              </a:xfrm>
              <a:prstGeom prst="ellipse">
                <a:avLst/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390650" y="2971800"/>
                <a:ext cx="266700" cy="266700"/>
              </a:xfrm>
              <a:prstGeom prst="ellipse">
                <a:avLst/>
              </a:prstGeom>
              <a:solidFill>
                <a:srgbClr val="FEF3C7"/>
              </a:solidFill>
              <a:ln w="9525">
                <a:solidFill>
                  <a:srgbClr val="F59E0B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371600" y="272415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1581150" y="2857500"/>
                <a:ext cx="2095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3350">
                    <a:moveTo>
                      <a:pt x="20955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08710" y="320421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融合候选图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2419350" y="2647950"/>
              <a:ext cx="76200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276600" y="1885950"/>
              <a:ext cx="1428750" cy="1524000"/>
              <a:chOff x="3276600" y="1885950"/>
              <a:chExt cx="1428750" cy="1524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276600" y="1885950"/>
                <a:ext cx="1428750" cy="1524000"/>
              </a:xfrm>
              <a:prstGeom prst="roundRect">
                <a:avLst>
                  <a:gd name="adj" fmla="val 5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709197" y="2102168"/>
                <a:ext cx="56355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edit 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551872" y="25241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插入节点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01641" y="2888456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补缺失概念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4743450" y="2647950"/>
              <a:ext cx="76200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600700" y="1885950"/>
              <a:ext cx="1428750" cy="1524000"/>
              <a:chOff x="5600700" y="1885950"/>
              <a:chExt cx="1428750" cy="1524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600700" y="1885950"/>
                <a:ext cx="1428750" cy="1524000"/>
              </a:xfrm>
              <a:prstGeom prst="roundRect">
                <a:avLst>
                  <a:gd name="adj" fmla="val 5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033297" y="2102168"/>
                <a:ext cx="56355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edit 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980986" y="252412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插入边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25741" y="2888456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补流程关系</a:t>
                </a:r>
              </a:p>
            </p:txBody>
          </p:sp>
        </p:grpSp>
        <p:sp>
          <p:nvSpPr>
            <p:cNvPr id="27" name="Line 27"/>
            <p:cNvSpPr/>
            <p:nvPr/>
          </p:nvSpPr>
          <p:spPr>
            <a:xfrm>
              <a:off x="7067550" y="2647950"/>
              <a:ext cx="76200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924800" y="1885950"/>
              <a:ext cx="1619250" cy="1524000"/>
              <a:chOff x="7924800" y="1885950"/>
              <a:chExt cx="1619250" cy="15240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924800" y="1885950"/>
                <a:ext cx="1619250" cy="1524000"/>
              </a:xfrm>
              <a:prstGeom prst="roundRect">
                <a:avLst>
                  <a:gd name="adj" fmla="val 5000"/>
                </a:avLst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452647" y="2102168"/>
                <a:ext cx="56355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CFBF1"/>
                    </a:solidFill>
                    <a:latin typeface="Consolas"/>
                    <a:ea typeface="Microsoft YaHei"/>
                    <a:cs typeface="Consolas"/>
                  </a:rPr>
                  <a:t>edit 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95322" y="25241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修正方向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270081" y="28884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纠正因果流向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9582150" y="2647950"/>
              <a:ext cx="76200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10439400" y="1790700"/>
              <a:ext cx="1276350" cy="1714500"/>
              <a:chOff x="10439400" y="1790700"/>
              <a:chExt cx="1276350" cy="1714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10439400" y="1790700"/>
                <a:ext cx="1276350" cy="1714500"/>
              </a:xfrm>
              <a:prstGeom prst="roundRect">
                <a:avLst>
                  <a:gd name="adj" fmla="val 5970"/>
                </a:avLst>
              </a:prstGeom>
              <a:solidFill>
                <a:srgbClr val="DCFCE7"/>
              </a:solidFill>
              <a:ln w="9525">
                <a:solidFill>
                  <a:srgbClr val="16A34A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916098" y="1996440"/>
                <a:ext cx="3229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G*</a:t>
                </a:r>
              </a:p>
            </p:txBody>
          </p:sp>
          <p:grpSp>
            <p:nvGrpSpPr>
              <p:cNvPr id="44" name="Group 44"/>
              <p:cNvGrpSpPr/>
              <p:nvPr/>
            </p:nvGrpSpPr>
            <p:grpSpPr>
              <a:xfrm>
                <a:off x="10927556" y="2583656"/>
                <a:ext cx="300037" cy="316707"/>
                <a:chOff x="10927556" y="2583656"/>
                <a:chExt cx="300037" cy="316707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10977562" y="2583656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1077575" y="2583656"/>
                  <a:ext cx="33338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200025">
                      <a:moveTo>
                        <a:pt x="0" y="0"/>
                      </a:moveTo>
                      <a:cubicBezTo>
                        <a:pt x="22219" y="5551"/>
                        <a:pt x="33338" y="38888"/>
                        <a:pt x="33338" y="100012"/>
                      </a:cubicBezTo>
                      <a:cubicBezTo>
                        <a:pt x="33338" y="161137"/>
                        <a:pt x="22219" y="194474"/>
                        <a:pt x="0" y="20002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1044238" y="2583656"/>
                  <a:ext cx="33338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200025">
                      <a:moveTo>
                        <a:pt x="33338" y="0"/>
                      </a:moveTo>
                      <a:cubicBezTo>
                        <a:pt x="11118" y="5551"/>
                        <a:pt x="0" y="38888"/>
                        <a:pt x="0" y="100012"/>
                      </a:cubicBezTo>
                      <a:cubicBezTo>
                        <a:pt x="0" y="161137"/>
                        <a:pt x="11118" y="194474"/>
                        <a:pt x="33338" y="20002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0977562" y="2683669"/>
                  <a:ext cx="2000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9525">
                      <a:moveTo>
                        <a:pt x="0" y="0"/>
                      </a:moveTo>
                      <a:lnTo>
                        <a:pt x="200025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0927556" y="2867025"/>
                  <a:ext cx="11668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681" h="9525">
                      <a:moveTo>
                        <a:pt x="0" y="0"/>
                      </a:moveTo>
                      <a:lnTo>
                        <a:pt x="116681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11110912" y="2867025"/>
                  <a:ext cx="11668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681" h="9525">
                      <a:moveTo>
                        <a:pt x="0" y="0"/>
                      </a:moveTo>
                      <a:lnTo>
                        <a:pt x="116681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1044238" y="283368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1077575" y="2783681"/>
                  <a:ext cx="9525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006">
                      <a:moveTo>
                        <a:pt x="0" y="0"/>
                      </a:move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10822305" y="3204210"/>
                <a:ext cx="5105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目标图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876300" y="4191000"/>
            <a:ext cx="10467976" cy="1219200"/>
            <a:chOff x="876300" y="4191000"/>
            <a:chExt cx="10467976" cy="1219200"/>
          </a:xfrm>
        </p:grpSpPr>
        <p:sp>
          <p:nvSpPr>
            <p:cNvPr id="48" name="Rectangle 48"/>
            <p:cNvSpPr/>
            <p:nvPr/>
          </p:nvSpPr>
          <p:spPr>
            <a:xfrm>
              <a:off x="876300" y="4191000"/>
              <a:ext cx="1043940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41095" y="4412932"/>
              <a:ext cx="23521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每一步都可以计算代价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43000" y="4791075"/>
              <a:ext cx="77250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c(Gt, Gt+1) = structure + semantic + direction + layout - speech_coverage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44905" y="5093018"/>
              <a:ext cx="25816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E(G0:T) = 1/T Σ c(Gt, Gt+1)²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50555" y="46167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产品含义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51508" y="492966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可以追踪错误来源，估计用户修改负担。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5" name="TextBox 55"/>
            <p:cNvSpPr txBox="1"/>
            <p:nvPr/>
          </p:nvSpPr>
          <p:spPr>
            <a:xfrm>
              <a:off x="560070" y="6379845"/>
              <a:ext cx="20271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Graph Editing Bridge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072313" cy="743903"/>
            <a:chOff x="537210" y="394335"/>
            <a:chExt cx="7072313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573928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数据与评测：用可控样例验证链路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0551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评测不是只看图像好不好看，而是看结构是否正确、语音是否覆盖、修改成本是否下降。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1428750"/>
            <a:ext cx="3714750" cy="4191000"/>
            <a:chOff x="666750" y="1428750"/>
            <a:chExt cx="3714750" cy="4191000"/>
          </a:xfrm>
        </p:grpSpPr>
        <p:sp>
          <p:nvSpPr>
            <p:cNvPr id="6" name="Rectangle 6"/>
            <p:cNvSpPr/>
            <p:nvPr/>
          </p:nvSpPr>
          <p:spPr>
            <a:xfrm>
              <a:off x="666750" y="1428750"/>
              <a:ext cx="3714750" cy="4191000"/>
            </a:xfrm>
            <a:prstGeom prst="roundRect">
              <a:avLst>
                <a:gd name="adj" fmla="val 2051"/>
              </a:avLst>
            </a:prstGeom>
            <a:solidFill>
              <a:srgbClr val="155E75"/>
            </a:solidFill>
            <a:ln>
              <a:noFill/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grpSp>
          <p:nvGrpSpPr>
            <p:cNvPr id="10" name="Group 10"/>
            <p:cNvGrpSpPr/>
            <p:nvPr/>
          </p:nvGrpSpPr>
          <p:grpSpPr>
            <a:xfrm>
              <a:off x="1082675" y="1864519"/>
              <a:ext cx="292100" cy="328612"/>
              <a:chOff x="1082675" y="1864519"/>
              <a:chExt cx="292100" cy="32861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82675" y="1864519"/>
                <a:ext cx="292100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09538">
                    <a:moveTo>
                      <a:pt x="0" y="54769"/>
                    </a:moveTo>
                    <a:cubicBezTo>
                      <a:pt x="0" y="85017"/>
                      <a:pt x="65389" y="109538"/>
                      <a:pt x="146050" y="109538"/>
                    </a:cubicBezTo>
                    <a:cubicBezTo>
                      <a:pt x="226711" y="109538"/>
                      <a:pt x="292100" y="85017"/>
                      <a:pt x="292100" y="54769"/>
                    </a:cubicBezTo>
                    <a:cubicBezTo>
                      <a:pt x="292100" y="24521"/>
                      <a:pt x="226711" y="0"/>
                      <a:pt x="146050" y="0"/>
                    </a:cubicBezTo>
                    <a:cubicBezTo>
                      <a:pt x="65389" y="0"/>
                      <a:pt x="0" y="24521"/>
                      <a:pt x="0" y="54769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82675" y="1919288"/>
                <a:ext cx="292100" cy="164306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64306">
                    <a:moveTo>
                      <a:pt x="0" y="0"/>
                    </a:moveTo>
                    <a:lnTo>
                      <a:pt x="0" y="109538"/>
                    </a:lnTo>
                    <a:cubicBezTo>
                      <a:pt x="0" y="139785"/>
                      <a:pt x="65389" y="164306"/>
                      <a:pt x="146050" y="164306"/>
                    </a:cubicBezTo>
                    <a:cubicBezTo>
                      <a:pt x="226711" y="164306"/>
                      <a:pt x="292100" y="139785"/>
                      <a:pt x="292100" y="109538"/>
                    </a:cubicBezTo>
                    <a:lnTo>
                      <a:pt x="2921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82675" y="2028825"/>
                <a:ext cx="292100" cy="164306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64306">
                    <a:moveTo>
                      <a:pt x="0" y="0"/>
                    </a:moveTo>
                    <a:lnTo>
                      <a:pt x="0" y="109538"/>
                    </a:lnTo>
                    <a:cubicBezTo>
                      <a:pt x="0" y="139785"/>
                      <a:pt x="65389" y="164306"/>
                      <a:pt x="146050" y="164306"/>
                    </a:cubicBezTo>
                    <a:cubicBezTo>
                      <a:pt x="226711" y="164306"/>
                      <a:pt x="292100" y="139785"/>
                      <a:pt x="292100" y="109538"/>
                    </a:cubicBezTo>
                    <a:lnTo>
                      <a:pt x="2921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651635" y="1884998"/>
              <a:ext cx="23430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24 个知识草图样例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9648" y="25922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CCFBF1"/>
                  </a:solidFill>
                  <a:latin typeface="Arial"/>
                  <a:ea typeface="Microsoft YaHei"/>
                  <a:cs typeface="Arial"/>
                </a:rPr>
                <a:t>覆盖结构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2505" y="2959418"/>
              <a:ext cx="26086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线性流程 / 分支结构 / 反馈闭环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2505" y="3264218"/>
              <a:ext cx="20415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模型架构图 / 实验流程图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09650" y="37528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CCFBF1">
                  <a:alpha val="5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9648" y="398287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CCFBF1"/>
                  </a:solidFill>
                  <a:latin typeface="Arial"/>
                  <a:ea typeface="Microsoft YaHei"/>
                  <a:cs typeface="Arial"/>
                </a:rPr>
                <a:t>每例包含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2505" y="43500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草图、语音、转写、标准节点边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2505" y="465486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语音锚点、草图区坐标、难度标签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762500" y="1428750"/>
            <a:ext cx="6477000" cy="3810000"/>
            <a:chOff x="4762500" y="1428750"/>
            <a:chExt cx="6477000" cy="3810000"/>
          </a:xfrm>
        </p:grpSpPr>
        <p:grpSp>
          <p:nvGrpSpPr>
            <p:cNvPr id="23" name="Group 23"/>
            <p:cNvGrpSpPr/>
            <p:nvPr/>
          </p:nvGrpSpPr>
          <p:grpSpPr>
            <a:xfrm>
              <a:off x="4762500" y="1428750"/>
              <a:ext cx="2000250" cy="1066800"/>
              <a:chOff x="4762500" y="1428750"/>
              <a:chExt cx="2000250" cy="10668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762500" y="14287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988242" y="1623536"/>
                <a:ext cx="913324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Node F1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994910" y="20231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节点恢复是否正确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000875" y="1428750"/>
              <a:ext cx="2000250" cy="1066800"/>
              <a:chOff x="7000875" y="1428750"/>
              <a:chExt cx="2000250" cy="10668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000875" y="14287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226618" y="1623536"/>
                <a:ext cx="913324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Edge F1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233285" y="2023110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边关系是否完整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239250" y="1428750"/>
              <a:ext cx="2000250" cy="1066800"/>
              <a:chOff x="9239250" y="1428750"/>
              <a:chExt cx="2000250" cy="10668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9239250" y="14287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465945" y="1631632"/>
                <a:ext cx="106998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Direction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471660" y="20231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因果方向是否正确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762500" y="2800350"/>
              <a:ext cx="2000250" cy="1066800"/>
              <a:chOff x="4762500" y="2800350"/>
              <a:chExt cx="2000250" cy="10668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4762500" y="28003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988242" y="2995136"/>
                <a:ext cx="44234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GED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994910" y="33947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离标准图还有多远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000875" y="2800350"/>
              <a:ext cx="2000250" cy="1066800"/>
              <a:chOff x="7000875" y="2800350"/>
              <a:chExt cx="2000250" cy="10668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000875" y="28003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227570" y="3003232"/>
                <a:ext cx="80430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Speech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233285" y="33947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语音语义覆盖程度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239250" y="2800350"/>
              <a:ext cx="2000250" cy="1066800"/>
              <a:chOff x="9239250" y="2800350"/>
              <a:chExt cx="2000250" cy="10668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9239250" y="28003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465945" y="3003232"/>
                <a:ext cx="80430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Layout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471660" y="33947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草图布局保持程度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4762500" y="4171950"/>
              <a:ext cx="3114675" cy="1066800"/>
              <a:chOff x="4762500" y="4171950"/>
              <a:chExt cx="3114675" cy="10668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4762500" y="4171950"/>
                <a:ext cx="3114675" cy="1066800"/>
              </a:xfrm>
              <a:prstGeom prst="roundRect">
                <a:avLst>
                  <a:gd name="adj" fmla="val 7143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988242" y="4366736"/>
                <a:ext cx="1118624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Edit Cost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993958" y="4758214"/>
                <a:ext cx="13925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用户还需要改多少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115300" y="4171950"/>
              <a:ext cx="3124200" cy="1066800"/>
              <a:chOff x="8115300" y="4171950"/>
              <a:chExt cx="3124200" cy="10668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8115300" y="4171950"/>
                <a:ext cx="312420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341042" y="4366736"/>
                <a:ext cx="144469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Path Energy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46758" y="4758214"/>
                <a:ext cx="13925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修复过程是否自然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79845"/>
              <a:ext cx="19911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Evaluation Protocol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288340" cy="743903"/>
            <a:chOff x="537210" y="394335"/>
            <a:chExt cx="7288340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实验结果：多模态编辑路径带来结构一致性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2711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在可控验证中，MMSB-Graph 同时提升节点、边和方向恢复，并把人工修改成本降到最低。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1333500"/>
            <a:ext cx="11049000" cy="2190750"/>
            <a:chOff x="571500" y="1333500"/>
            <a:chExt cx="11049000" cy="219075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11049000" cy="219075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11049000" cy="438150"/>
            </a:xfrm>
            <a:prstGeom prst="roundRect">
              <a:avLst>
                <a:gd name="adj" fmla="val 17391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2008" y="148161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11272" y="1489710"/>
              <a:ext cx="6353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Node F1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92422" y="1489710"/>
              <a:ext cx="6353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Edge F1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87913" y="1489710"/>
              <a:ext cx="7781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Direction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94793" y="1489710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GED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16963" y="1489710"/>
              <a:ext cx="7781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Edit Cost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571500" y="1927860"/>
              <a:ext cx="11049000" cy="1529715"/>
              <a:chOff x="571500" y="1927860"/>
              <a:chExt cx="11049000" cy="1529715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571500" y="21907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71500" y="26289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571500" y="30670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22960" y="1927860"/>
                <a:ext cx="9629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Sketch only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793682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0.803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74832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0.387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241732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0.281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013382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0.587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070783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9.292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22960" y="2366010"/>
                <a:ext cx="9629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Speech only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793682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0.890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374832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0.564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41732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0.394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013382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0.391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070783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6.188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22960" y="2804160"/>
                <a:ext cx="114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Greedy Repair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793682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374832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0.842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241732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0.729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013382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0.129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070783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1.792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85800" y="3133725"/>
                <a:ext cx="108204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22960" y="3213735"/>
                <a:ext cx="102180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MMSB-Graph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78268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36383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3073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00238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0.000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05978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0.000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571500" y="3829050"/>
            <a:ext cx="7239000" cy="2114550"/>
            <a:chOff x="571500" y="3829050"/>
            <a:chExt cx="7239000" cy="2114550"/>
          </a:xfrm>
        </p:grpSpPr>
        <p:sp>
          <p:nvSpPr>
            <p:cNvPr id="44" name="Rectangle 44"/>
            <p:cNvSpPr/>
            <p:nvPr/>
          </p:nvSpPr>
          <p:spPr>
            <a:xfrm>
              <a:off x="571500" y="3829050"/>
              <a:ext cx="7239000" cy="2114550"/>
            </a:xfrm>
            <a:prstGeom prst="roundRect">
              <a:avLst>
                <a:gd name="adj" fmla="val 360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5289" y="4038600"/>
              <a:ext cx="4551422" cy="1695450"/>
            </a:xfrm>
            <a:prstGeom prst="rect">
              <a:avLst/>
            </a:prstGeom>
          </p:spPr>
        </p:pic>
        <p:sp>
          <p:nvSpPr>
            <p:cNvPr id="46" name="Rectangle 46"/>
            <p:cNvSpPr/>
            <p:nvPr/>
          </p:nvSpPr>
          <p:spPr>
            <a:xfrm>
              <a:off x="781050" y="4038600"/>
              <a:ext cx="6819900" cy="1695450"/>
            </a:xfrm>
            <a:prstGeom prst="rect">
              <a:avLst/>
            </a:prstGeom>
            <a:noFill/>
            <a:ln w="19050">
              <a:solidFill>
                <a:srgbClr val="155E75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8115300" y="3829050"/>
            <a:ext cx="3505200" cy="2114550"/>
            <a:chOff x="8115300" y="3829050"/>
            <a:chExt cx="3505200" cy="2114550"/>
          </a:xfrm>
        </p:grpSpPr>
        <p:sp>
          <p:nvSpPr>
            <p:cNvPr id="48" name="Rectangle 48"/>
            <p:cNvSpPr/>
            <p:nvPr/>
          </p:nvSpPr>
          <p:spPr>
            <a:xfrm>
              <a:off x="8115300" y="3829050"/>
              <a:ext cx="3505200" cy="2114550"/>
            </a:xfrm>
            <a:prstGeom prst="roundRect">
              <a:avLst>
                <a:gd name="adj" fmla="val 360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grpSp>
          <p:nvGrpSpPr>
            <p:cNvPr id="53" name="Group 53"/>
            <p:cNvGrpSpPr/>
            <p:nvPr/>
          </p:nvGrpSpPr>
          <p:grpSpPr>
            <a:xfrm>
              <a:off x="8478032" y="4138612"/>
              <a:ext cx="264143" cy="261178"/>
              <a:chOff x="8478032" y="4138612"/>
              <a:chExt cx="264143" cy="26117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478032" y="4152900"/>
                <a:ext cx="246868" cy="246890"/>
              </a:xfrm>
              <a:custGeom>
                <a:avLst/>
                <a:gdLst/>
                <a:ahLst/>
                <a:cxnLst/>
                <a:rect l="l" t="t" r="r" b="b"/>
                <a:pathLst>
                  <a:path w="246868" h="246890">
                    <a:moveTo>
                      <a:pt x="246868" y="57722"/>
                    </a:moveTo>
                    <a:lnTo>
                      <a:pt x="73675" y="230943"/>
                    </a:lnTo>
                    <a:cubicBezTo>
                      <a:pt x="57736" y="246886"/>
                      <a:pt x="31890" y="246890"/>
                      <a:pt x="15946" y="230950"/>
                    </a:cubicBezTo>
                    <a:cubicBezTo>
                      <a:pt x="3" y="215011"/>
                      <a:pt x="0" y="189165"/>
                      <a:pt x="15939" y="173222"/>
                    </a:cubicBezTo>
                    <a:lnTo>
                      <a:pt x="189132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539162" y="428148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679050" y="4310062"/>
                <a:ext cx="63125" cy="72986"/>
              </a:xfrm>
              <a:custGeom>
                <a:avLst/>
                <a:gdLst/>
                <a:ahLst/>
                <a:cxnLst/>
                <a:rect l="l" t="t" r="r" b="b"/>
                <a:pathLst>
                  <a:path w="63125" h="72986">
                    <a:moveTo>
                      <a:pt x="31563" y="0"/>
                    </a:moveTo>
                    <a:lnTo>
                      <a:pt x="52994" y="22860"/>
                    </a:lnTo>
                    <a:cubicBezTo>
                      <a:pt x="63125" y="34348"/>
                      <a:pt x="62397" y="51781"/>
                      <a:pt x="51342" y="62384"/>
                    </a:cubicBezTo>
                    <a:cubicBezTo>
                      <a:pt x="40287" y="72986"/>
                      <a:pt x="22838" y="72986"/>
                      <a:pt x="11784" y="62384"/>
                    </a:cubicBezTo>
                    <a:cubicBezTo>
                      <a:pt x="729" y="51781"/>
                      <a:pt x="0" y="34348"/>
                      <a:pt x="10131" y="22860"/>
                    </a:cubicBezTo>
                    <a:lnTo>
                      <a:pt x="31563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653462" y="41386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8932545" y="41652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怎么解释结果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22005" y="46739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草图单模态：边恢复弱。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22005" y="499776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语音单模态：语义强但布局不足。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22005" y="53216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编辑桥：把补全和修正显式化。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9" name="TextBox 59"/>
            <p:cNvSpPr txBox="1"/>
            <p:nvPr/>
          </p:nvSpPr>
          <p:spPr>
            <a:xfrm>
              <a:off x="560070" y="6379845"/>
              <a:ext cx="12890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Results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7" grpId="0"/>
      <p:bldP spid="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251478" cy="743903"/>
            <a:chOff x="537210" y="394335"/>
            <a:chExt cx="7251478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工程闭环：产品、模型、评测可以互相反馈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4552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完整性体现在“用户可操作、模型可替换、结果可评测”。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776508" y="1333500"/>
            <a:ext cx="4733734" cy="4476750"/>
            <a:chOff x="1776508" y="1333500"/>
            <a:chExt cx="4733734" cy="4476750"/>
          </a:xfrm>
        </p:grpSpPr>
        <p:sp>
          <p:nvSpPr>
            <p:cNvPr id="6" name="Ellipse 6"/>
            <p:cNvSpPr/>
            <p:nvPr/>
          </p:nvSpPr>
          <p:spPr>
            <a:xfrm>
              <a:off x="2476500" y="2076450"/>
              <a:ext cx="3238500" cy="3238500"/>
            </a:xfrm>
            <a:prstGeom prst="ellipse">
              <a:avLst/>
            </a:prstGeom>
            <a:noFill/>
            <a:ln w="28575">
              <a:solidFill>
                <a:srgbClr val="CBD5E1"/>
              </a:solidFill>
              <a:custDash>
                <a:ds d="266666" sp="200000"/>
              </a:custDash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279186" y="3389948"/>
              <a:ext cx="16331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SketchVoice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48526" y="37785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产品与科研闭环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4095750" y="1790700"/>
              <a:ext cx="1790700" cy="2190750"/>
            </a:xfrm>
            <a:custGeom>
              <a:avLst/>
              <a:gdLst/>
              <a:ahLst/>
              <a:cxnLst/>
              <a:rect l="l" t="t" r="r" b="b"/>
              <a:pathLst>
                <a:path w="1790700" h="2190750">
                  <a:moveTo>
                    <a:pt x="0" y="0"/>
                  </a:moveTo>
                  <a:cubicBezTo>
                    <a:pt x="1143000" y="209550"/>
                    <a:pt x="1790700" y="1114425"/>
                    <a:pt x="1619250" y="2190750"/>
                  </a:cubicBezTo>
                </a:path>
              </a:pathLst>
            </a:custGeom>
            <a:noFill/>
            <a:ln w="38100">
              <a:solidFill>
                <a:srgbClr val="0F766E"/>
              </a:solidFill>
              <a:tailEnd type="triangle" w="lg" len="lg"/>
            </a:ln>
          </p:spPr>
        </p:sp>
        <p:sp>
          <p:nvSpPr>
            <p:cNvPr id="10" name="Freeform 10"/>
            <p:cNvSpPr/>
            <p:nvPr/>
          </p:nvSpPr>
          <p:spPr>
            <a:xfrm>
              <a:off x="2476500" y="4667250"/>
              <a:ext cx="2857500" cy="1143000"/>
            </a:xfrm>
            <a:custGeom>
              <a:avLst/>
              <a:gdLst/>
              <a:ahLst/>
              <a:cxnLst/>
              <a:rect l="l" t="t" r="r" b="b"/>
              <a:pathLst>
                <a:path w="2857500" h="1143000">
                  <a:moveTo>
                    <a:pt x="2857500" y="285750"/>
                  </a:moveTo>
                  <a:cubicBezTo>
                    <a:pt x="1981200" y="1143000"/>
                    <a:pt x="666750" y="990600"/>
                    <a:pt x="0" y="0"/>
                  </a:cubicBezTo>
                </a:path>
              </a:pathLst>
            </a:custGeom>
            <a:noFill/>
            <a:ln w="38100">
              <a:solidFill>
                <a:srgbClr val="0F766E"/>
              </a:solidFill>
              <a:tailEnd type="triangle" w="lg" len="lg"/>
            </a:ln>
          </p:spPr>
        </p:sp>
        <p:sp>
          <p:nvSpPr>
            <p:cNvPr id="11" name="Freeform 11"/>
            <p:cNvSpPr/>
            <p:nvPr/>
          </p:nvSpPr>
          <p:spPr>
            <a:xfrm>
              <a:off x="2400300" y="1733550"/>
              <a:ext cx="1695450" cy="1028700"/>
            </a:xfrm>
            <a:custGeom>
              <a:avLst/>
              <a:gdLst/>
              <a:ahLst/>
              <a:cxnLst/>
              <a:rect l="l" t="t" r="r" b="b"/>
              <a:pathLst>
                <a:path w="1695450" h="1028700">
                  <a:moveTo>
                    <a:pt x="0" y="1028700"/>
                  </a:moveTo>
                  <a:cubicBezTo>
                    <a:pt x="457200" y="171450"/>
                    <a:pt x="933450" y="0"/>
                    <a:pt x="1695450" y="57150"/>
                  </a:cubicBezTo>
                </a:path>
              </a:pathLst>
            </a:custGeom>
            <a:noFill/>
            <a:ln w="38100">
              <a:solidFill>
                <a:srgbClr val="0F766E"/>
              </a:solidFill>
              <a:tailEnd type="triangle" w="lg" len="lg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638550" y="1333500"/>
              <a:ext cx="914400" cy="1271588"/>
              <a:chOff x="3638550" y="1333500"/>
              <a:chExt cx="914400" cy="1271588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3638550" y="1333500"/>
                <a:ext cx="914400" cy="914400"/>
              </a:xfrm>
              <a:prstGeom prst="ellipse">
                <a:avLst/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3956050" y="1657905"/>
                <a:ext cx="272495" cy="272495"/>
                <a:chOff x="3956050" y="1657905"/>
                <a:chExt cx="272495" cy="272495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3956050" y="1657905"/>
                  <a:ext cx="272495" cy="272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495" h="272495">
                      <a:moveTo>
                        <a:pt x="0" y="272495"/>
                      </a:moveTo>
                      <a:lnTo>
                        <a:pt x="69850" y="272495"/>
                      </a:lnTo>
                      <a:lnTo>
                        <a:pt x="253206" y="89139"/>
                      </a:lnTo>
                      <a:cubicBezTo>
                        <a:pt x="272495" y="69850"/>
                        <a:pt x="272495" y="38577"/>
                        <a:pt x="253206" y="19289"/>
                      </a:cubicBezTo>
                      <a:cubicBezTo>
                        <a:pt x="233918" y="0"/>
                        <a:pt x="202645" y="0"/>
                        <a:pt x="183356" y="19289"/>
                      </a:cubicBezTo>
                      <a:lnTo>
                        <a:pt x="0" y="202645"/>
                      </a:lnTo>
                      <a:lnTo>
                        <a:pt x="0" y="27249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4121944" y="1694656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0"/>
                      </a:moveTo>
                      <a:lnTo>
                        <a:pt x="69850" y="698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3700558" y="23307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用户输入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5257800" y="3524250"/>
              <a:ext cx="1252442" cy="1290638"/>
              <a:chOff x="5257800" y="3524250"/>
              <a:chExt cx="1252442" cy="1290638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5257800" y="3524250"/>
                <a:ext cx="914400" cy="9144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5557838" y="3824288"/>
                <a:ext cx="314325" cy="314325"/>
                <a:chOff x="5557838" y="3824288"/>
                <a:chExt cx="314325" cy="31432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5557838" y="3824288"/>
                  <a:ext cx="314325" cy="3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314325">
                      <a:moveTo>
                        <a:pt x="52388" y="314325"/>
                      </a:moveTo>
                      <a:lnTo>
                        <a:pt x="314325" y="52388"/>
                      </a:lnTo>
                      <a:lnTo>
                        <a:pt x="261938" y="0"/>
                      </a:lnTo>
                      <a:lnTo>
                        <a:pt x="0" y="261938"/>
                      </a:lnTo>
                      <a:lnTo>
                        <a:pt x="52388" y="3143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5767388" y="387667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lnTo>
                        <a:pt x="52388" y="5238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627688" y="3824288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34925" y="0"/>
                      </a:moveTo>
                      <a:cubicBezTo>
                        <a:pt x="34925" y="19289"/>
                        <a:pt x="50561" y="34925"/>
                        <a:pt x="69850" y="34925"/>
                      </a:cubicBezTo>
                      <a:cubicBezTo>
                        <a:pt x="50561" y="34925"/>
                        <a:pt x="34925" y="50561"/>
                        <a:pt x="34925" y="69850"/>
                      </a:cubicBezTo>
                      <a:cubicBezTo>
                        <a:pt x="34925" y="50561"/>
                        <a:pt x="19289" y="34925"/>
                        <a:pt x="0" y="34925"/>
                      </a:cubicBezTo>
                      <a:cubicBezTo>
                        <a:pt x="19289" y="34925"/>
                        <a:pt x="34925" y="19289"/>
                        <a:pt x="34925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802312" y="3998912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34925" y="0"/>
                      </a:moveTo>
                      <a:cubicBezTo>
                        <a:pt x="34925" y="19289"/>
                        <a:pt x="50561" y="34925"/>
                        <a:pt x="69850" y="34925"/>
                      </a:cubicBezTo>
                      <a:cubicBezTo>
                        <a:pt x="50561" y="34925"/>
                        <a:pt x="34925" y="50561"/>
                        <a:pt x="34925" y="69850"/>
                      </a:cubicBezTo>
                      <a:cubicBezTo>
                        <a:pt x="34925" y="50561"/>
                        <a:pt x="19289" y="34925"/>
                        <a:pt x="0" y="34925"/>
                      </a:cubicBezTo>
                      <a:cubicBezTo>
                        <a:pt x="19289" y="34925"/>
                        <a:pt x="34925" y="19289"/>
                        <a:pt x="34925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5719858" y="45405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模型生成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52708" y="4210050"/>
              <a:ext cx="1080992" cy="1309688"/>
              <a:chOff x="1852708" y="4210050"/>
              <a:chExt cx="1080992" cy="1309688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2019300" y="4210050"/>
                <a:ext cx="914400" cy="9144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2319338" y="4510088"/>
                <a:ext cx="314325" cy="314325"/>
                <a:chOff x="2319338" y="4510088"/>
                <a:chExt cx="314325" cy="314325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2319338" y="4510088"/>
                  <a:ext cx="314325" cy="3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314325">
                      <a:moveTo>
                        <a:pt x="0" y="0"/>
                      </a:moveTo>
                      <a:lnTo>
                        <a:pt x="0" y="314325"/>
                      </a:lnTo>
                      <a:lnTo>
                        <a:pt x="314325" y="3143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2389188" y="4579938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2563812" y="4545012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2476500" y="4684712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2444369" y="4643152"/>
                  <a:ext cx="40862" cy="50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62" h="50292">
                      <a:moveTo>
                        <a:pt x="0" y="0"/>
                      </a:moveTo>
                      <a:lnTo>
                        <a:pt x="40862" y="5029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2530424" y="4610357"/>
                  <a:ext cx="49541" cy="80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41" h="80083">
                      <a:moveTo>
                        <a:pt x="0" y="80083"/>
                      </a:moveTo>
                      <a:lnTo>
                        <a:pt x="49541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852708" y="52454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自动评测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776508" y="2305050"/>
              <a:ext cx="1080992" cy="1290638"/>
              <a:chOff x="1776508" y="2305050"/>
              <a:chExt cx="1080992" cy="1290638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1943100" y="2305050"/>
                <a:ext cx="914400" cy="9144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2278062" y="2605088"/>
                <a:ext cx="279400" cy="331787"/>
                <a:chOff x="2278062" y="2605088"/>
                <a:chExt cx="279400" cy="331787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2435225" y="2605088"/>
                  <a:ext cx="87312" cy="8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12" h="87313">
                      <a:moveTo>
                        <a:pt x="0" y="0"/>
                      </a:moveTo>
                      <a:lnTo>
                        <a:pt x="0" y="69850"/>
                      </a:lnTo>
                      <a:cubicBezTo>
                        <a:pt x="0" y="79494"/>
                        <a:pt x="7818" y="87313"/>
                        <a:pt x="17463" y="87313"/>
                      </a:cubicBezTo>
                      <a:lnTo>
                        <a:pt x="87312" y="873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2278062" y="2605088"/>
                  <a:ext cx="279400" cy="33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400" h="331787">
                      <a:moveTo>
                        <a:pt x="113506" y="314325"/>
                      </a:moveTo>
                      <a:lnTo>
                        <a:pt x="34925" y="314325"/>
                      </a:lnTo>
                      <a:cubicBezTo>
                        <a:pt x="15636" y="314325"/>
                        <a:pt x="0" y="298689"/>
                        <a:pt x="0" y="279400"/>
                      </a:cubicBezTo>
                      <a:lnTo>
                        <a:pt x="0" y="34925"/>
                      </a:lnTo>
                      <a:cubicBezTo>
                        <a:pt x="0" y="15636"/>
                        <a:pt x="15636" y="0"/>
                        <a:pt x="34925" y="0"/>
                      </a:cubicBezTo>
                      <a:lnTo>
                        <a:pt x="157162" y="0"/>
                      </a:lnTo>
                      <a:lnTo>
                        <a:pt x="244475" y="87313"/>
                      </a:lnTo>
                      <a:lnTo>
                        <a:pt x="244475" y="174625"/>
                      </a:lnTo>
                      <a:moveTo>
                        <a:pt x="157162" y="279400"/>
                      </a:moveTo>
                      <a:lnTo>
                        <a:pt x="279400" y="279400"/>
                      </a:lnTo>
                      <a:moveTo>
                        <a:pt x="227013" y="227012"/>
                      </a:moveTo>
                      <a:lnTo>
                        <a:pt x="279400" y="279400"/>
                      </a:lnTo>
                      <a:lnTo>
                        <a:pt x="227013" y="33178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1776508" y="33213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导出交付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7334250" y="1676400"/>
            <a:ext cx="3931587" cy="3771900"/>
            <a:chOff x="7334250" y="1676400"/>
            <a:chExt cx="3931587" cy="3771900"/>
          </a:xfrm>
        </p:grpSpPr>
        <p:sp>
          <p:nvSpPr>
            <p:cNvPr id="43" name="Rectangle 43"/>
            <p:cNvSpPr/>
            <p:nvPr/>
          </p:nvSpPr>
          <p:spPr>
            <a:xfrm>
              <a:off x="7334250" y="1676400"/>
              <a:ext cx="3905250" cy="3771900"/>
            </a:xfrm>
            <a:prstGeom prst="roundRect">
              <a:avLst>
                <a:gd name="adj" fmla="val 202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44" name="TextBox 44"/>
            <p:cNvSpPr txBox="1"/>
            <p:nvPr/>
          </p:nvSpPr>
          <p:spPr>
            <a:xfrm>
              <a:off x="7673340" y="1920240"/>
              <a:ext cx="23140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闭环带来的工程价值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696200" y="23812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78102" y="2665571"/>
              <a:ext cx="91410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1. 可演示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80008" y="2967514"/>
              <a:ext cx="32117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mock 模式和样例数据保证课堂展示不断。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78102" y="3408521"/>
              <a:ext cx="91410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2. 可替换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80008" y="3710464"/>
              <a:ext cx="35858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ASR、结构化模型、图像和 TTS 服务分层接入。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78102" y="4151471"/>
              <a:ext cx="91410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3. 可评测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80008" y="44534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预测图与标准图对齐，输出结构化指标。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696200" y="4953000"/>
              <a:ext cx="2914650" cy="323850"/>
            </a:xfrm>
            <a:prstGeom prst="roundRect">
              <a:avLst>
                <a:gd name="adj" fmla="val 23529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911732" y="5042535"/>
              <a:ext cx="24835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输入 → 生成 → 交付 → 评测 → 迭代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5" name="TextBox 55"/>
            <p:cNvSpPr txBox="1"/>
            <p:nvPr/>
          </p:nvSpPr>
          <p:spPr>
            <a:xfrm>
              <a:off x="560070" y="63798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Engineering Loop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8007572" cy="743903"/>
            <a:chOff x="537210" y="394335"/>
            <a:chExt cx="8007572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真实性边界：当前是可控验证，不是大规模宣称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59750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产品原型已经跑通闭环，但科研结论需要限定在合成条件图的验证范围内。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466850"/>
            <a:ext cx="4343400" cy="3976688"/>
            <a:chOff x="571500" y="1466850"/>
            <a:chExt cx="4343400" cy="3976688"/>
          </a:xfrm>
        </p:grpSpPr>
        <p:sp>
          <p:nvSpPr>
            <p:cNvPr id="6" name="Rectangle 6"/>
            <p:cNvSpPr/>
            <p:nvPr/>
          </p:nvSpPr>
          <p:spPr>
            <a:xfrm>
              <a:off x="571500" y="1466850"/>
              <a:ext cx="4343400" cy="3905250"/>
            </a:xfrm>
            <a:prstGeom prst="roundRect">
              <a:avLst>
                <a:gd name="adj" fmla="val 195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876300" y="1809750"/>
              <a:ext cx="1257300" cy="342900"/>
            </a:xfrm>
            <a:prstGeom prst="roundRect">
              <a:avLst>
                <a:gd name="adj" fmla="val 22222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1713" y="19007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边界说明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3915" y="24298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讲清楚边界，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915" y="2848928"/>
              <a:ext cx="363521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反而让产品故事更可信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76300" y="34861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7250" y="3800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当前定位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9155" y="4159568"/>
              <a:ext cx="3472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SketchVoice 是可演示、可导出、可评测的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9155" y="44453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课程项目原型。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9155" y="4883468"/>
              <a:ext cx="3310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MMSB-Graph 当前验证的是结构恢复链路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155" y="51692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和图编辑路径的可计算性。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448300" y="1466850"/>
            <a:ext cx="6172200" cy="3905250"/>
            <a:chOff x="5448300" y="1466850"/>
            <a:chExt cx="6172200" cy="3905250"/>
          </a:xfrm>
        </p:grpSpPr>
        <p:sp>
          <p:nvSpPr>
            <p:cNvPr id="18" name="Rectangle 18"/>
            <p:cNvSpPr/>
            <p:nvPr/>
          </p:nvSpPr>
          <p:spPr>
            <a:xfrm>
              <a:off x="5448300" y="1466850"/>
              <a:ext cx="6172200" cy="3905250"/>
            </a:xfrm>
            <a:prstGeom prst="roundRect">
              <a:avLst>
                <a:gd name="adj" fmla="val 195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27" name="Group 27"/>
            <p:cNvGrpSpPr/>
            <p:nvPr/>
          </p:nvGrpSpPr>
          <p:grpSpPr>
            <a:xfrm>
              <a:off x="5753100" y="1885950"/>
              <a:ext cx="4877753" cy="635794"/>
              <a:chOff x="5753100" y="1885950"/>
              <a:chExt cx="4877753" cy="635794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5753100" y="1885950"/>
                <a:ext cx="533400" cy="5334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5887232" y="2024062"/>
                <a:ext cx="264143" cy="261178"/>
                <a:chOff x="5887232" y="2024062"/>
                <a:chExt cx="264143" cy="261178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5887232" y="2038350"/>
                  <a:ext cx="246868" cy="246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868" h="246890">
                      <a:moveTo>
                        <a:pt x="246868" y="57722"/>
                      </a:moveTo>
                      <a:lnTo>
                        <a:pt x="73675" y="230943"/>
                      </a:lnTo>
                      <a:cubicBezTo>
                        <a:pt x="57736" y="246886"/>
                        <a:pt x="31890" y="246890"/>
                        <a:pt x="15946" y="230950"/>
                      </a:cubicBezTo>
                      <a:cubicBezTo>
                        <a:pt x="3" y="215011"/>
                        <a:pt x="0" y="189165"/>
                        <a:pt x="15939" y="173222"/>
                      </a:cubicBezTo>
                      <a:lnTo>
                        <a:pt x="189132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948362" y="2166938"/>
                  <a:ext cx="114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9525">
                      <a:moveTo>
                        <a:pt x="0" y="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6088250" y="2195512"/>
                  <a:ext cx="63125" cy="72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25" h="72986">
                      <a:moveTo>
                        <a:pt x="31563" y="0"/>
                      </a:moveTo>
                      <a:lnTo>
                        <a:pt x="52994" y="22860"/>
                      </a:lnTo>
                      <a:cubicBezTo>
                        <a:pt x="63125" y="34348"/>
                        <a:pt x="62397" y="51781"/>
                        <a:pt x="51342" y="62384"/>
                      </a:cubicBezTo>
                      <a:cubicBezTo>
                        <a:pt x="40287" y="72986"/>
                        <a:pt x="22838" y="72986"/>
                        <a:pt x="11784" y="62384"/>
                      </a:cubicBezTo>
                      <a:cubicBezTo>
                        <a:pt x="729" y="51781"/>
                        <a:pt x="0" y="34348"/>
                        <a:pt x="10131" y="22860"/>
                      </a:cubicBezTo>
                      <a:lnTo>
                        <a:pt x="31563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062662" y="202406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0"/>
                      </a:moveTo>
                      <a:lnTo>
                        <a:pt x="85725" y="85725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6514148" y="190642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当前能说明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17958" y="2262664"/>
                <a:ext cx="411289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任务定义成立，评测链路可运行，图编辑过程可计算。</a:t>
                </a:r>
              </a:p>
            </p:txBody>
          </p:sp>
        </p:grpSp>
        <p:sp>
          <p:nvSpPr>
            <p:cNvPr id="28" name="Line 28"/>
            <p:cNvSpPr/>
            <p:nvPr/>
          </p:nvSpPr>
          <p:spPr>
            <a:xfrm>
              <a:off x="6019800" y="25527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753100" y="3067050"/>
              <a:ext cx="5217796" cy="635794"/>
              <a:chOff x="5753100" y="3067050"/>
              <a:chExt cx="5217796" cy="635794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5753100" y="3067050"/>
                <a:ext cx="533400" cy="533400"/>
              </a:xfrm>
              <a:prstGeom prst="ellipse">
                <a:avLst/>
              </a:prstGeom>
              <a:solidFill>
                <a:srgbClr val="FEF3C7"/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5891212" y="3205162"/>
                <a:ext cx="257176" cy="257175"/>
                <a:chOff x="5891212" y="3205162"/>
                <a:chExt cx="257176" cy="257175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5891212" y="3205162"/>
                  <a:ext cx="2571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57175">
                      <a:moveTo>
                        <a:pt x="0" y="0"/>
                      </a:moveTo>
                      <a:lnTo>
                        <a:pt x="0" y="257175"/>
                      </a:lnTo>
                      <a:lnTo>
                        <a:pt x="257175" y="25717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948362" y="326231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091238" y="32337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019800" y="33480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5993511" y="3314033"/>
                  <a:ext cx="33433" cy="41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33" h="41148">
                      <a:moveTo>
                        <a:pt x="0" y="0"/>
                      </a:moveTo>
                      <a:lnTo>
                        <a:pt x="33433" y="41148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063920" y="3287201"/>
                  <a:ext cx="40534" cy="65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34" h="65522">
                      <a:moveTo>
                        <a:pt x="0" y="65522"/>
                      </a:moveTo>
                      <a:lnTo>
                        <a:pt x="40534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6514148" y="3087529"/>
                <a:ext cx="136317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不能直接说明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517958" y="3443764"/>
                <a:ext cx="445293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大规模真实世界性能、复杂手写图鲁棒性、长期用户成本。</a:t>
                </a:r>
              </a:p>
            </p:txBody>
          </p:sp>
        </p:grpSp>
        <p:sp>
          <p:nvSpPr>
            <p:cNvPr id="40" name="Line 40"/>
            <p:cNvSpPr/>
            <p:nvPr/>
          </p:nvSpPr>
          <p:spPr>
            <a:xfrm>
              <a:off x="6019800" y="37338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753100" y="4248150"/>
              <a:ext cx="5047774" cy="635794"/>
              <a:chOff x="5753100" y="4248150"/>
              <a:chExt cx="5047774" cy="635794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5753100" y="4248150"/>
                <a:ext cx="533400" cy="5334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5891212" y="4386262"/>
                <a:ext cx="257175" cy="257175"/>
                <a:chOff x="5891212" y="4386262"/>
                <a:chExt cx="257175" cy="257175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5891212" y="4386262"/>
                  <a:ext cx="25717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28588">
                      <a:moveTo>
                        <a:pt x="0" y="128588"/>
                      </a:moveTo>
                      <a:lnTo>
                        <a:pt x="14288" y="128588"/>
                      </a:lnTo>
                      <a:moveTo>
                        <a:pt x="128588" y="0"/>
                      </a:moveTo>
                      <a:lnTo>
                        <a:pt x="128588" y="14288"/>
                      </a:lnTo>
                      <a:moveTo>
                        <a:pt x="242888" y="128588"/>
                      </a:moveTo>
                      <a:lnTo>
                        <a:pt x="257175" y="128588"/>
                      </a:lnTo>
                      <a:moveTo>
                        <a:pt x="37147" y="37147"/>
                      </a:moveTo>
                      <a:lnTo>
                        <a:pt x="47149" y="47149"/>
                      </a:lnTo>
                      <a:moveTo>
                        <a:pt x="220028" y="37147"/>
                      </a:moveTo>
                      <a:lnTo>
                        <a:pt x="210026" y="47149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942305" y="4443412"/>
                  <a:ext cx="15499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990" h="200025">
                      <a:moveTo>
                        <a:pt x="34633" y="128588"/>
                      </a:moveTo>
                      <a:cubicBezTo>
                        <a:pt x="10034" y="110138"/>
                        <a:pt x="0" y="78018"/>
                        <a:pt x="9724" y="48847"/>
                      </a:cubicBezTo>
                      <a:cubicBezTo>
                        <a:pt x="19447" y="19676"/>
                        <a:pt x="46746" y="0"/>
                        <a:pt x="77495" y="0"/>
                      </a:cubicBezTo>
                      <a:cubicBezTo>
                        <a:pt x="108244" y="0"/>
                        <a:pt x="135543" y="19676"/>
                        <a:pt x="145267" y="48847"/>
                      </a:cubicBezTo>
                      <a:cubicBezTo>
                        <a:pt x="154990" y="78018"/>
                        <a:pt x="144957" y="110138"/>
                        <a:pt x="120358" y="128588"/>
                      </a:cubicBezTo>
                      <a:cubicBezTo>
                        <a:pt x="109044" y="139786"/>
                        <a:pt x="103739" y="155703"/>
                        <a:pt x="106070" y="171450"/>
                      </a:cubicBezTo>
                      <a:cubicBezTo>
                        <a:pt x="106070" y="187232"/>
                        <a:pt x="93277" y="200025"/>
                        <a:pt x="77495" y="200025"/>
                      </a:cubicBezTo>
                      <a:cubicBezTo>
                        <a:pt x="61714" y="200025"/>
                        <a:pt x="48920" y="187232"/>
                        <a:pt x="48920" y="171450"/>
                      </a:cubicBezTo>
                      <a:cubicBezTo>
                        <a:pt x="51252" y="155703"/>
                        <a:pt x="45946" y="139786"/>
                        <a:pt x="34633" y="128588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5986939" y="4586288"/>
                  <a:ext cx="65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23" h="9525">
                      <a:moveTo>
                        <a:pt x="0" y="0"/>
                      </a:moveTo>
                      <a:lnTo>
                        <a:pt x="65723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6514148" y="4268629"/>
                <a:ext cx="18042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下一步产品化验证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517958" y="4624864"/>
                <a:ext cx="428291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接入真实用户数据，记录人工修改，形成产品反馈指标。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1581150" y="5753100"/>
            <a:ext cx="9029700" cy="438150"/>
            <a:chOff x="1581150" y="5753100"/>
            <a:chExt cx="9029700" cy="438150"/>
          </a:xfrm>
        </p:grpSpPr>
        <p:sp>
          <p:nvSpPr>
            <p:cNvPr id="50" name="Rectangle 50"/>
            <p:cNvSpPr/>
            <p:nvPr/>
          </p:nvSpPr>
          <p:spPr>
            <a:xfrm>
              <a:off x="1581150" y="5753100"/>
              <a:ext cx="9029700" cy="438150"/>
            </a:xfrm>
            <a:prstGeom prst="roundRect">
              <a:avLst>
                <a:gd name="adj" fmla="val 17391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546311" y="5885021"/>
              <a:ext cx="709937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结论：本项目证明了“产品闭环 + 结构恢复方法 + 可评测协议”可以被完整打通。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79845"/>
              <a:ext cx="1439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路 Boundary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9" grpId="0"/>
      <p:bldP spid="5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71450"/>
            </a:xfrm>
            <a:prstGeom prst="rect">
              <a:avLst/>
            </a:prstGeom>
            <a:solidFill>
              <a:srgbClr val="155E75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826262" y="691515"/>
            <a:ext cx="8539477" cy="918210"/>
            <a:chOff x="1826262" y="691515"/>
            <a:chExt cx="8539477" cy="918210"/>
          </a:xfrm>
        </p:grpSpPr>
        <p:sp>
          <p:nvSpPr>
            <p:cNvPr id="5" name="TextBox 5"/>
            <p:cNvSpPr txBox="1"/>
            <p:nvPr/>
          </p:nvSpPr>
          <p:spPr>
            <a:xfrm>
              <a:off x="1826262" y="691515"/>
              <a:ext cx="8539477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总结：产品闭环 + 方法支撑 + 可评测系统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41446" y="1304925"/>
              <a:ext cx="8109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SketchVoice 将“语音 + 草图”的自然表达过程，转化为可编辑、可导出、可评价的知识图。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981200" y="1924050"/>
            <a:ext cx="8229600" cy="895350"/>
            <a:chOff x="1981200" y="1924050"/>
            <a:chExt cx="8229600" cy="895350"/>
          </a:xfrm>
        </p:grpSpPr>
        <p:sp>
          <p:nvSpPr>
            <p:cNvPr id="8" name="Rectangle 8"/>
            <p:cNvSpPr/>
            <p:nvPr/>
          </p:nvSpPr>
          <p:spPr>
            <a:xfrm>
              <a:off x="1981200" y="1924050"/>
              <a:ext cx="8229600" cy="895350"/>
            </a:xfrm>
            <a:prstGeom prst="roundRect">
              <a:avLst>
                <a:gd name="adj" fmla="val 85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14300" dist="28575" dir="5400000" algn="ctr" rotWithShape="0">
                <a:srgbClr val="172033">
                  <a:alpha val="675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2514600" y="2105025"/>
              <a:ext cx="1559147" cy="533400"/>
              <a:chOff x="2514600" y="2105025"/>
              <a:chExt cx="1559147" cy="5334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2514600" y="2105025"/>
                <a:ext cx="533400" cy="5334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2681288" y="2228850"/>
                <a:ext cx="200025" cy="280987"/>
                <a:chOff x="2681288" y="2228850"/>
                <a:chExt cx="200025" cy="280987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738438" y="2228850"/>
                  <a:ext cx="8572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57162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cubicBezTo>
                        <a:pt x="66535" y="0"/>
                        <a:pt x="85725" y="19190"/>
                        <a:pt x="85725" y="42862"/>
                      </a:cubicBezTo>
                      <a:lnTo>
                        <a:pt x="85725" y="114300"/>
                      </a:lnTo>
                      <a:cubicBezTo>
                        <a:pt x="85725" y="137972"/>
                        <a:pt x="66535" y="157162"/>
                        <a:pt x="42862" y="157162"/>
                      </a:cubicBezTo>
                      <a:cubicBezTo>
                        <a:pt x="19190" y="157162"/>
                        <a:pt x="0" y="137972"/>
                        <a:pt x="0" y="114300"/>
                      </a:cubicBez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2681288" y="2343150"/>
                  <a:ext cx="2000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0012">
                      <a:moveTo>
                        <a:pt x="0" y="0"/>
                      </a:moveTo>
                      <a:cubicBezTo>
                        <a:pt x="0" y="55235"/>
                        <a:pt x="44777" y="100012"/>
                        <a:pt x="100012" y="100012"/>
                      </a:cubicBezTo>
                      <a:cubicBezTo>
                        <a:pt x="155248" y="100012"/>
                        <a:pt x="200025" y="55235"/>
                        <a:pt x="200025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2724150" y="2500312"/>
                  <a:ext cx="114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9525">
                      <a:moveTo>
                        <a:pt x="0" y="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781300" y="2443162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3239452" y="228457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说清语义</a:t>
                </a:r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4286250" y="23717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5314950" y="2105025"/>
              <a:ext cx="1559147" cy="533400"/>
              <a:chOff x="5314950" y="2105025"/>
              <a:chExt cx="1559147" cy="5334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5314950" y="2105025"/>
                <a:ext cx="533400" cy="5334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5453062" y="2243138"/>
                <a:ext cx="257175" cy="271462"/>
                <a:chOff x="5453062" y="2243138"/>
                <a:chExt cx="257175" cy="271462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5495925" y="2243138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5581650" y="2243138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0" y="0"/>
                      </a:moveTo>
                      <a:cubicBezTo>
                        <a:pt x="19045" y="4758"/>
                        <a:pt x="28575" y="33333"/>
                        <a:pt x="28575" y="85725"/>
                      </a:cubicBezTo>
                      <a:cubicBezTo>
                        <a:pt x="28575" y="138117"/>
                        <a:pt x="19045" y="166692"/>
                        <a:pt x="0" y="1714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553075" y="2243138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28575" y="0"/>
                      </a:moveTo>
                      <a:cubicBezTo>
                        <a:pt x="9530" y="4758"/>
                        <a:pt x="0" y="33333"/>
                        <a:pt x="0" y="85725"/>
                      </a:cubicBezTo>
                      <a:cubicBezTo>
                        <a:pt x="0" y="138117"/>
                        <a:pt x="9530" y="166692"/>
                        <a:pt x="28575" y="1714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495925" y="2328862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5453062" y="2486025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5610225" y="2486025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553075" y="245745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5581650" y="2414588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039802" y="228457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恢复结构</a:t>
                </a:r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7067550" y="23717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096250" y="2105025"/>
              <a:ext cx="1559147" cy="533400"/>
              <a:chOff x="8096250" y="2105025"/>
              <a:chExt cx="1559147" cy="533400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8096250" y="2105025"/>
                <a:ext cx="533400" cy="533400"/>
              </a:xfrm>
              <a:prstGeom prst="ellipse">
                <a:avLst/>
              </a:prstGeom>
              <a:solidFill>
                <a:srgbClr val="DCFCE7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8262938" y="2243138"/>
                <a:ext cx="228600" cy="271462"/>
                <a:chOff x="8262938" y="2243138"/>
                <a:chExt cx="228600" cy="271462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8391525" y="2243138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65041"/>
                        <a:pt x="6397" y="71438"/>
                        <a:pt x="14288" y="71438"/>
                      </a:cubicBezTo>
                      <a:lnTo>
                        <a:pt x="71438" y="7143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262938" y="2243138"/>
                  <a:ext cx="228600" cy="271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71462">
                      <a:moveTo>
                        <a:pt x="92869" y="257175"/>
                      </a:move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28588" y="0"/>
                      </a:lnTo>
                      <a:lnTo>
                        <a:pt x="200025" y="71438"/>
                      </a:lnTo>
                      <a:lnTo>
                        <a:pt x="200025" y="142875"/>
                      </a:lnTo>
                      <a:moveTo>
                        <a:pt x="128588" y="228600"/>
                      </a:moveTo>
                      <a:lnTo>
                        <a:pt x="228600" y="228600"/>
                      </a:lnTo>
                      <a:moveTo>
                        <a:pt x="185738" y="185738"/>
                      </a:moveTo>
                      <a:lnTo>
                        <a:pt x="228600" y="228600"/>
                      </a:lnTo>
                      <a:lnTo>
                        <a:pt x="185738" y="271462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8821102" y="228457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交付结果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800100" y="3295650"/>
            <a:ext cx="10591800" cy="1866900"/>
            <a:chOff x="800100" y="3295650"/>
            <a:chExt cx="10591800" cy="1866900"/>
          </a:xfrm>
        </p:grpSpPr>
        <p:grpSp>
          <p:nvGrpSpPr>
            <p:cNvPr id="48" name="Group 48"/>
            <p:cNvGrpSpPr/>
            <p:nvPr/>
          </p:nvGrpSpPr>
          <p:grpSpPr>
            <a:xfrm>
              <a:off x="800100" y="3295650"/>
              <a:ext cx="3257550" cy="1866900"/>
              <a:chOff x="800100" y="3295650"/>
              <a:chExt cx="3257550" cy="18669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00100" y="3295650"/>
                <a:ext cx="3257550" cy="1866900"/>
              </a:xfrm>
              <a:prstGeom prst="roundRect">
                <a:avLst>
                  <a:gd name="adj" fmla="val 4082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28575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1114425" y="3625850"/>
                <a:ext cx="285750" cy="263525"/>
                <a:chOff x="1114425" y="3625850"/>
                <a:chExt cx="285750" cy="263525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1114425" y="3625850"/>
                  <a:ext cx="2857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190500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269875" y="0"/>
                      </a:lnTo>
                      <a:cubicBezTo>
                        <a:pt x="278643" y="0"/>
                        <a:pt x="285750" y="7107"/>
                        <a:pt x="285750" y="15875"/>
                      </a:cubicBezTo>
                      <a:lnTo>
                        <a:pt x="285750" y="174625"/>
                      </a:lnTo>
                      <a:cubicBezTo>
                        <a:pt x="285750" y="183393"/>
                        <a:pt x="278643" y="190500"/>
                        <a:pt x="269875" y="190500"/>
                      </a:cubicBezTo>
                      <a:lnTo>
                        <a:pt x="15875" y="190500"/>
                      </a:lnTo>
                      <a:cubicBezTo>
                        <a:pt x="7107" y="190500"/>
                        <a:pt x="0" y="183393"/>
                        <a:pt x="0" y="174625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177925" y="3879850"/>
                  <a:ext cx="158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9525">
                      <a:moveTo>
                        <a:pt x="0" y="0"/>
                      </a:moveTo>
                      <a:lnTo>
                        <a:pt x="158750" y="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1209675" y="3816350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304925" y="3816350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1596390" y="3653790"/>
                <a:ext cx="80181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产品层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49655" y="4216718"/>
                <a:ext cx="28066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构建 SketchVoice 方法图工作台，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49655" y="4521518"/>
                <a:ext cx="273462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支持草图、语音、文本到图结构的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049655" y="4826318"/>
                <a:ext cx="147447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连续交互与导出。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4467225" y="3295650"/>
              <a:ext cx="3257550" cy="1866900"/>
              <a:chOff x="4467225" y="3295650"/>
              <a:chExt cx="3257550" cy="18669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4467225" y="3295650"/>
                <a:ext cx="3257550" cy="1866900"/>
              </a:xfrm>
              <a:prstGeom prst="roundRect">
                <a:avLst>
                  <a:gd name="adj" fmla="val 4082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28575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4813300" y="3625850"/>
                <a:ext cx="238125" cy="254000"/>
                <a:chOff x="4813300" y="3625850"/>
                <a:chExt cx="238125" cy="25400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4813300" y="38163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4813300" y="36258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972050" y="36258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4845050" y="36893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4876800" y="3736975"/>
                  <a:ext cx="1270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11125">
                      <a:moveTo>
                        <a:pt x="0" y="111125"/>
                      </a:moveTo>
                      <a:lnTo>
                        <a:pt x="95250" y="111125"/>
                      </a:lnTo>
                      <a:cubicBezTo>
                        <a:pt x="112785" y="111125"/>
                        <a:pt x="127000" y="96910"/>
                        <a:pt x="127000" y="7937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4956175" y="3736975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47625" y="0"/>
                      </a:lnTo>
                      <a:lnTo>
                        <a:pt x="95250" y="47625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5263515" y="3653790"/>
                <a:ext cx="80181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方法层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716780" y="4216718"/>
                <a:ext cx="29146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提出语音引导知识草图结构化任务，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716780" y="4521518"/>
                <a:ext cx="282463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 MMSB-Graph 将生成问题转化为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4716780" y="4826318"/>
                <a:ext cx="165449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可解释图编辑路径。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134350" y="3295650"/>
              <a:ext cx="3257550" cy="1866900"/>
              <a:chOff x="8134350" y="3295650"/>
              <a:chExt cx="3257550" cy="18669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8134350" y="3295650"/>
                <a:ext cx="3257550" cy="1866900"/>
              </a:xfrm>
              <a:prstGeom prst="roundRect">
                <a:avLst>
                  <a:gd name="adj" fmla="val 4082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28575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8448675" y="3609975"/>
                <a:ext cx="285750" cy="285750"/>
                <a:chOff x="8448675" y="3609975"/>
                <a:chExt cx="285750" cy="285750"/>
              </a:xfrm>
            </p:grpSpPr>
            <p:sp>
              <p:nvSpPr>
                <p:cNvPr id="63" name="Freeform 63"/>
                <p:cNvSpPr/>
                <p:nvPr/>
              </p:nvSpPr>
              <p:spPr>
                <a:xfrm>
                  <a:off x="8448675" y="3609975"/>
                  <a:ext cx="2857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285750">
                      <a:moveTo>
                        <a:pt x="0" y="0"/>
                      </a:moveTo>
                      <a:lnTo>
                        <a:pt x="0" y="285750"/>
                      </a:lnTo>
                      <a:lnTo>
                        <a:pt x="285750" y="2857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512175" y="36734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670925" y="36417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591550" y="37687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562340" y="3730942"/>
                  <a:ext cx="37148" cy="4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8" h="45720">
                      <a:moveTo>
                        <a:pt x="0" y="0"/>
                      </a:moveTo>
                      <a:lnTo>
                        <a:pt x="37148" y="4572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640572" y="3701129"/>
                  <a:ext cx="45037" cy="72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37" h="72803">
                      <a:moveTo>
                        <a:pt x="0" y="72803"/>
                      </a:moveTo>
                      <a:lnTo>
                        <a:pt x="45037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8930640" y="3653790"/>
                <a:ext cx="80181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系统层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383905" y="4216718"/>
                <a:ext cx="29146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打通输入、生成、展示、导出、评测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383905" y="4521518"/>
                <a:ext cx="255460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闭环，让产品结果可以被复用，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383905" y="4826318"/>
                <a:ext cx="165449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也可以被指标检验。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1619250" y="5600700"/>
            <a:ext cx="8953500" cy="476250"/>
            <a:chOff x="1619250" y="5600700"/>
            <a:chExt cx="8953500" cy="476250"/>
          </a:xfrm>
        </p:grpSpPr>
        <p:sp>
          <p:nvSpPr>
            <p:cNvPr id="76" name="Rectangle 76"/>
            <p:cNvSpPr/>
            <p:nvPr/>
          </p:nvSpPr>
          <p:spPr>
            <a:xfrm>
              <a:off x="1619250" y="5600700"/>
              <a:ext cx="8953500" cy="476250"/>
            </a:xfrm>
            <a:prstGeom prst="roundRect">
              <a:avLst>
                <a:gd name="adj" fmla="val 16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706029" y="5743575"/>
              <a:ext cx="677994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一句话：把“边说边画”变成结构化知识资产，并给出可解释的恢复路径。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79" name="TextBox 79"/>
            <p:cNvSpPr txBox="1"/>
            <p:nvPr/>
          </p:nvSpPr>
          <p:spPr>
            <a:xfrm>
              <a:off x="560070" y="6379845"/>
              <a:ext cx="15110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路 Conclusion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7" grpId="0"/>
      <p:bldP spid="75" grpId="0"/>
      <p:bldP spid="7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2026-06-14T04:06:23Z</dcterms:created>
  <dcterms:modified xsi:type="dcterms:W3CDTF">2026-06-14T04:06:23Z</dcterms:modified>
  <cp:category/>
  <cp:contentStatus/>
</cp:coreProperties>
</file>