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大家好，我汇报的项目是 SketchVoice，核心目标是把“边说边画”的自然表达转成可编辑知识图。这里既有一个可演示的产品闭环，也有背后的结构恢复方法 MMSB-Graph。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真实讨论里，很多有效信息不是写在规范文档里，而是散落在白板草图、口头解释和临时补充中。问题是这些内容会很快消失，后续复盘、整理和复用都需要大量人工成本。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所以产品侧先从用户旅程出发：用户在画布上画草图，同时录入语音说明，系统把这些输入整理成结构化图。最后输出的不只是图片，而是 Mermaid、JSON、SVG 和可继续编辑的终稿。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这个原型的重点是把课堂展示需要的主链路跑通。它支持草图输入、语音转写、图结构生成、图片渲染、语音讲解和导出，让“记录想法”变成“交付结构化结果”。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这一页对应现场演示流程。我们会先画一个很简单的科研流程草图，比如输入数据、模型和评测指标，然后用语音补充中间的真实含义和关系方向。系统生成后，我会展示 Mermaid、SVG 和 JSON，再生成论文风格终稿图和带光标讲解的 WebM，说明这个项目不是静态 demo，而是一条从输入到交付的完整链路。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工程实现上，前端承担交互画布、语音录入和结果展示，后端组织转写、结构生成、渲染和讲解服务。这样的分层设计让 mock fallback、外部模型服务和评测模块都可以替换。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从这里进入科研侧。产品上我们解决的是把语音和草图快速变成科研方法图，科研上它其实是一个结构恢复任务：给定手绘草图 S 和同步语音 U，恢复可编辑知识图 G。草图提供空间结构，语音提供语义锚点和方向约束，所以我们不再只问图像像不像，而是问节点、边、方向和修改成本是否被正确恢复。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 MMSB-Graph 的模型假设讲清楚：草图图、语音图和融合图不是三个孤立结果，而是同一个图状态空间里的多边缘约束。我们要求的也不是一次性猜出最终图，而是在参考编辑过程 R 下，找到同时满足草图、语音和融合约束的低代价路径。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训练和推理的关键，是先把恢复过程表示成可计算的编辑路径。当前实现用确定性图编辑桥和标准图做可控验证，没有夸大成大规模训练；但同一套路径可以继续扩展为监督编辑策略、能量排序器和基于用户修改轨迹的学习信号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为了验证这条链路，我们构建了 24 个可控知识草图样例，覆盖线性、分支、闭环、模型架构和实验流程。评测指标不只看节点和边，也看方向准确率、图编辑距离、语音覆盖和布局保持。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结果可以看到，草图单模态主要缺语义，语音单模态主要缺空间结构，早期融合和贪心修复只能解决一部分问题。MMSB-Graph 的优势在于把补全和修正显式建模，因此整体一致性和编辑成本更好。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可解释性是这个项目的科研价值之一。中间图告诉我们错误来自草图、语音还是融合，编辑路径告诉我们每一步修了什么，指标把这些解释落到数字，用户修改轨迹还能继续反哺训练和交互策略。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这一页把项目已经完成的内容放到一张知识图谱里。左侧是应用成果，包括 Web 工作台、结构输出和终稿讲解；右侧是科研成果，包括任务定义、MMSB-Graph、数据资产、评测结果和可解释轨迹。这样可以看出我们不是只讲一个故事，而是确实做出了一组互相支撑的成果。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最后从更高层面总结：SketchVoice 把自然表达升级成一条可研究的知识结构生产线。产品上它能演示和交付，科研上它提出任务和模型，评测上它有样例与指标，工程上它可替换可复现，应用上它能把课堂和科研讲解沉淀为结构化资产。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25a91e8a88d312c.pn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-342900"/>
            <a:ext cx="12230100" cy="7200900"/>
            <a:chOff x="0" y="-342900"/>
            <a:chExt cx="12230100" cy="72009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029700" y="-342900"/>
              <a:ext cx="3200400" cy="32004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639300" y="266700"/>
              <a:ext cx="1981200" cy="1981200"/>
            </a:xfrm>
            <a:prstGeom prst="ellipse">
              <a:avLst/>
            </a:prstGeom>
            <a:solidFill>
              <a:srgbClr val="CCFBF1">
                <a:alpha val="85000"/>
              </a:srgbClr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571500" y="514350"/>
              <a:ext cx="819150" cy="76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55E75"/>
                </a:gs>
                <a:gs pos="100000">
                  <a:srgbClr val="0F766E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15340" y="1272540"/>
            <a:ext cx="7430834" cy="2575560"/>
            <a:chOff x="815340" y="1272540"/>
            <a:chExt cx="7430834" cy="2575560"/>
          </a:xfrm>
        </p:grpSpPr>
        <p:sp>
          <p:nvSpPr>
            <p:cNvPr id="7" name="TextBox 7"/>
            <p:cNvSpPr txBox="1"/>
            <p:nvPr/>
          </p:nvSpPr>
          <p:spPr>
            <a:xfrm>
              <a:off x="815340" y="1272540"/>
              <a:ext cx="4020007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SketchVoice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6295" y="2079308"/>
              <a:ext cx="506393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语音 + 草图 → 科研方法图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1540" y="2796540"/>
              <a:ext cx="735463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一个可演示的 AI 产品原型，也是一个可继续研究的多模态结构化任务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14400" y="3371850"/>
              <a:ext cx="685800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152400" dist="38100" dir="5400000" algn="ctr" rotWithShape="0">
                <a:srgbClr val="172033">
                  <a:alpha val="75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44905" y="3530918"/>
              <a:ext cx="66951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把课堂、科研讨论和白板草稿，一键转化为可编辑、可展示、可讲解的结构化方法图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524750" y="2171700"/>
            <a:ext cx="3790950" cy="2876550"/>
            <a:chOff x="7524750" y="2171700"/>
            <a:chExt cx="3790950" cy="2876550"/>
          </a:xfrm>
        </p:grpSpPr>
        <p:sp>
          <p:nvSpPr>
            <p:cNvPr id="13" name="Rectangle 13"/>
            <p:cNvSpPr/>
            <p:nvPr/>
          </p:nvSpPr>
          <p:spPr>
            <a:xfrm>
              <a:off x="7524750" y="2171700"/>
              <a:ext cx="321945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152400" dist="38100" dir="5400000" algn="ctr" rotWithShape="0">
                <a:srgbClr val="172033">
                  <a:alpha val="7500"/>
                </a:srgbClr>
              </a:outerShdw>
            </a:effectLst>
          </p:spPr>
        </p:sp>
        <p:grpSp>
          <p:nvGrpSpPr>
            <p:cNvPr id="16" name="Group 16"/>
            <p:cNvGrpSpPr/>
            <p:nvPr/>
          </p:nvGrpSpPr>
          <p:grpSpPr>
            <a:xfrm>
              <a:off x="7864475" y="2402461"/>
              <a:ext cx="210564" cy="210564"/>
              <a:chOff x="7864475" y="2402461"/>
              <a:chExt cx="210564" cy="21056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864475" y="2402461"/>
                <a:ext cx="210564" cy="210564"/>
              </a:xfrm>
              <a:custGeom>
                <a:avLst/>
                <a:gdLst/>
                <a:ahLst/>
                <a:cxnLst/>
                <a:rect l="l" t="t" r="r" b="b"/>
                <a:pathLst>
                  <a:path w="210564" h="210564">
                    <a:moveTo>
                      <a:pt x="0" y="210564"/>
                    </a:moveTo>
                    <a:lnTo>
                      <a:pt x="53975" y="210564"/>
                    </a:lnTo>
                    <a:lnTo>
                      <a:pt x="195659" y="68880"/>
                    </a:lnTo>
                    <a:cubicBezTo>
                      <a:pt x="210564" y="53975"/>
                      <a:pt x="210564" y="29810"/>
                      <a:pt x="195659" y="14905"/>
                    </a:cubicBezTo>
                    <a:cubicBezTo>
                      <a:pt x="180755" y="0"/>
                      <a:pt x="156589" y="0"/>
                      <a:pt x="141684" y="14905"/>
                    </a:cubicBezTo>
                    <a:lnTo>
                      <a:pt x="0" y="156589"/>
                    </a:lnTo>
                    <a:lnTo>
                      <a:pt x="0" y="210564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992666" y="243085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53975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305800" y="2438400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手绘草图：空间结构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96250" y="3219450"/>
              <a:ext cx="321945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152400" dist="38100" dir="5400000" algn="ctr" rotWithShape="0">
                <a:srgbClr val="172033">
                  <a:alpha val="7500"/>
                </a:srgbClr>
              </a:outerShdw>
            </a:effectLst>
          </p:spPr>
        </p:sp>
        <p:grpSp>
          <p:nvGrpSpPr>
            <p:cNvPr id="23" name="Group 23"/>
            <p:cNvGrpSpPr/>
            <p:nvPr/>
          </p:nvGrpSpPr>
          <p:grpSpPr>
            <a:xfrm>
              <a:off x="8449469" y="3417888"/>
              <a:ext cx="188912" cy="265906"/>
              <a:chOff x="8449469" y="3417888"/>
              <a:chExt cx="188912" cy="26590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503444" y="3417888"/>
                <a:ext cx="80962" cy="148431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148431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cubicBezTo>
                      <a:pt x="62838" y="0"/>
                      <a:pt x="80962" y="18124"/>
                      <a:pt x="80962" y="40481"/>
                    </a:cubicBezTo>
                    <a:lnTo>
                      <a:pt x="80962" y="107950"/>
                    </a:lnTo>
                    <a:cubicBezTo>
                      <a:pt x="80962" y="130307"/>
                      <a:pt x="62838" y="148431"/>
                      <a:pt x="40481" y="148431"/>
                    </a:cubicBezTo>
                    <a:cubicBezTo>
                      <a:pt x="18124" y="148431"/>
                      <a:pt x="0" y="130307"/>
                      <a:pt x="0" y="107950"/>
                    </a:cubicBez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449469" y="3525838"/>
                <a:ext cx="188912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88912" h="94456">
                    <a:moveTo>
                      <a:pt x="0" y="0"/>
                    </a:moveTo>
                    <a:cubicBezTo>
                      <a:pt x="0" y="52167"/>
                      <a:pt x="42290" y="94456"/>
                      <a:pt x="94456" y="94456"/>
                    </a:cubicBezTo>
                    <a:cubicBezTo>
                      <a:pt x="146623" y="94456"/>
                      <a:pt x="188912" y="52167"/>
                      <a:pt x="188912" y="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489950" y="3674269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543925" y="3620294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8877300" y="3486150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同步语音：语义锚点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24750" y="4305300"/>
              <a:ext cx="3219450" cy="742950"/>
            </a:xfrm>
            <a:prstGeom prst="roundRect">
              <a:avLst>
                <a:gd name="adj" fmla="val 10256"/>
              </a:avLst>
            </a:prstGeom>
            <a:solidFill>
              <a:srgbClr val="155E75"/>
            </a:solidFill>
            <a:ln>
              <a:noFill/>
            </a:ln>
            <a:effectLst>
              <a:outerShdw blurRad="152400" dist="38100" dir="5400000" algn="ctr" rotWithShape="0">
                <a:srgbClr val="172033">
                  <a:alpha val="7500"/>
                </a:srgbClr>
              </a:outerShdw>
            </a:effectLst>
          </p:spPr>
        </p:sp>
        <p:grpSp>
          <p:nvGrpSpPr>
            <p:cNvPr id="34" name="Group 34"/>
            <p:cNvGrpSpPr/>
            <p:nvPr/>
          </p:nvGrpSpPr>
          <p:grpSpPr>
            <a:xfrm>
              <a:off x="7850981" y="4555331"/>
              <a:ext cx="242887" cy="256382"/>
              <a:chOff x="7850981" y="4555331"/>
              <a:chExt cx="242887" cy="25638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1462" y="4555331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80962"/>
                    </a:moveTo>
                    <a:cubicBezTo>
                      <a:pt x="0" y="125677"/>
                      <a:pt x="36248" y="161925"/>
                      <a:pt x="80962" y="161925"/>
                    </a:cubicBezTo>
                    <a:cubicBezTo>
                      <a:pt x="125677" y="161925"/>
                      <a:pt x="161925" y="125677"/>
                      <a:pt x="161925" y="80962"/>
                    </a:cubicBezTo>
                    <a:cubicBezTo>
                      <a:pt x="161925" y="36248"/>
                      <a:pt x="125677" y="0"/>
                      <a:pt x="80962" y="0"/>
                    </a:cubicBezTo>
                    <a:cubicBezTo>
                      <a:pt x="36248" y="0"/>
                      <a:pt x="0" y="36248"/>
                      <a:pt x="0" y="8096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972425" y="4555331"/>
                <a:ext cx="269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161925">
                    <a:moveTo>
                      <a:pt x="0" y="0"/>
                    </a:moveTo>
                    <a:cubicBezTo>
                      <a:pt x="17987" y="4493"/>
                      <a:pt x="26988" y="31481"/>
                      <a:pt x="26988" y="80962"/>
                    </a:cubicBezTo>
                    <a:cubicBezTo>
                      <a:pt x="26988" y="130444"/>
                      <a:pt x="17987" y="157432"/>
                      <a:pt x="0" y="1619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945438" y="4555331"/>
                <a:ext cx="269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161925">
                    <a:moveTo>
                      <a:pt x="26988" y="0"/>
                    </a:moveTo>
                    <a:cubicBezTo>
                      <a:pt x="9000" y="4493"/>
                      <a:pt x="0" y="31481"/>
                      <a:pt x="0" y="80962"/>
                    </a:cubicBezTo>
                    <a:cubicBezTo>
                      <a:pt x="0" y="130444"/>
                      <a:pt x="9000" y="157432"/>
                      <a:pt x="26988" y="1619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891462" y="4636294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850981" y="4784725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999412" y="4784725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945438" y="475773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972425" y="4717256"/>
                <a:ext cx="952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481">
                    <a:moveTo>
                      <a:pt x="0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8304848" y="4602004"/>
              <a:ext cx="18042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结构化知识图资产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9124950" y="2876550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28575">
              <a:solidFill>
                <a:srgbClr val="0F766E"/>
              </a:solidFill>
              <a:custDash>
                <a:ds d="233333" sp="200000"/>
              </a:custDash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9124950" y="3924300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28575">
              <a:solidFill>
                <a:srgbClr val="0F766E"/>
              </a:solidFill>
              <a:custDash>
                <a:ds d="233333" sp="200000"/>
              </a:custDash>
              <a:tailEnd type="triangle" w="lg" len="lg"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862012" y="6069806"/>
            <a:ext cx="10465118" cy="228600"/>
            <a:chOff x="862012" y="6069806"/>
            <a:chExt cx="10465118" cy="228600"/>
          </a:xfrm>
        </p:grpSpPr>
        <p:sp>
          <p:nvSpPr>
            <p:cNvPr id="39" name="TextBox 39"/>
            <p:cNvSpPr txBox="1"/>
            <p:nvPr/>
          </p:nvSpPr>
          <p:spPr>
            <a:xfrm>
              <a:off x="862012" y="6069806"/>
              <a:ext cx="23313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语音信息处理课程结项答辩 · 2026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02220" y="6094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451485"/>
            <a:ext cx="8007572" cy="762953"/>
            <a:chOff x="537210" y="451485"/>
            <a:chExt cx="8007572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451485"/>
              <a:ext cx="80075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应用出发点：真实工作流是边说、边画、边补充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940118"/>
              <a:ext cx="70371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普通“文本生成图”工具不完全匹配科研学习场景，因为原始思考过程不是完整 prompt。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76300" y="1581150"/>
            <a:ext cx="10439400" cy="1143000"/>
            <a:chOff x="876300" y="1581150"/>
            <a:chExt cx="10439400" cy="1143000"/>
          </a:xfrm>
        </p:grpSpPr>
        <p:sp>
          <p:nvSpPr>
            <p:cNvPr id="6" name="Rectangle 6"/>
            <p:cNvSpPr/>
            <p:nvPr/>
          </p:nvSpPr>
          <p:spPr>
            <a:xfrm>
              <a:off x="876300" y="1581150"/>
              <a:ext cx="1043940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10" name="Group 10"/>
            <p:cNvGrpSpPr/>
            <p:nvPr/>
          </p:nvGrpSpPr>
          <p:grpSpPr>
            <a:xfrm>
              <a:off x="1257300" y="1943100"/>
              <a:ext cx="342900" cy="342900"/>
              <a:chOff x="1257300" y="1943100"/>
              <a:chExt cx="342900" cy="3429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257300" y="22098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524000" y="19431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38100" y="76200"/>
                    </a:move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  <a:cubicBezTo>
                      <a:pt x="0" y="59142"/>
                      <a:pt x="17058" y="76200"/>
                      <a:pt x="38100" y="762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390650" y="1981200"/>
                <a:ext cx="762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66700">
                    <a:moveTo>
                      <a:pt x="76200" y="0"/>
                    </a:moveTo>
                    <a:cubicBezTo>
                      <a:pt x="55158" y="0"/>
                      <a:pt x="38100" y="17058"/>
                      <a:pt x="38100" y="38100"/>
                    </a:cubicBezTo>
                    <a:lnTo>
                      <a:pt x="38100" y="228600"/>
                    </a:lnTo>
                    <a:cubicBezTo>
                      <a:pt x="38100" y="249642"/>
                      <a:pt x="21042" y="266700"/>
                      <a:pt x="0" y="2667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920240" y="1844040"/>
              <a:ext cx="66237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痛点不是“不会画图”，而是讨论过程很难沉淀为结构化资产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25955" y="2254568"/>
              <a:ext cx="74152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草图留下布局和箭头，语音留下节点名称、关系方向和设计意图；但会后往往还要重新整理。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33500" y="3068479"/>
            <a:ext cx="9525000" cy="1472565"/>
            <a:chOff x="1333500" y="3068479"/>
            <a:chExt cx="9525000" cy="1472565"/>
          </a:xfrm>
        </p:grpSpPr>
        <p:sp>
          <p:nvSpPr>
            <p:cNvPr id="14" name="Line 14"/>
            <p:cNvSpPr/>
            <p:nvPr/>
          </p:nvSpPr>
          <p:spPr>
            <a:xfrm>
              <a:off x="1333500" y="33147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466850" y="3068479"/>
              <a:ext cx="2967990" cy="615315"/>
              <a:chOff x="1466850" y="3068479"/>
              <a:chExt cx="2967990" cy="615315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1466850" y="3143250"/>
                <a:ext cx="342900" cy="342900"/>
              </a:xfrm>
              <a:prstGeom prst="ellipse">
                <a:avLst/>
              </a:prstGeom>
              <a:solidFill>
                <a:srgbClr val="155E75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580695" y="3250406"/>
                <a:ext cx="1152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018348" y="3068479"/>
                <a:ext cx="1230854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AI/科研学生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022158" y="3424714"/>
                <a:ext cx="24126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读论文、做组会、快速画方法图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466850" y="3925729"/>
              <a:ext cx="3648076" cy="615315"/>
              <a:chOff x="1466850" y="3925729"/>
              <a:chExt cx="3648076" cy="615315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1466850" y="4000500"/>
                <a:ext cx="342900" cy="342900"/>
              </a:xfrm>
              <a:prstGeom prst="ellipse">
                <a:avLst/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580695" y="4107656"/>
                <a:ext cx="1152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018348" y="3925729"/>
                <a:ext cx="104340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教师/助教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022158" y="4281964"/>
                <a:ext cx="309276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课堂讲解和知识路线需要留下结构化材料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324600" y="3068479"/>
              <a:ext cx="3894606" cy="615315"/>
              <a:chOff x="6324600" y="3068479"/>
              <a:chExt cx="3894606" cy="615315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6324600" y="3143250"/>
                <a:ext cx="342900" cy="3429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438445" y="3250406"/>
                <a:ext cx="1152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876098" y="306847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科研团队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879908" y="3424714"/>
                <a:ext cx="333929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白板 brainstorming 容易丢失，复盘成本高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324600" y="3925729"/>
              <a:ext cx="3988118" cy="615315"/>
              <a:chOff x="6324600" y="3925729"/>
              <a:chExt cx="3988118" cy="615315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6324600" y="4000500"/>
                <a:ext cx="342900" cy="3429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438445" y="4107656"/>
                <a:ext cx="1152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876098" y="3925729"/>
                <a:ext cx="1484461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双创/产品团队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879908" y="4281964"/>
                <a:ext cx="343281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想法表达很快，但图形产物和讲解材料生成慢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1581150" y="5334000"/>
            <a:ext cx="9029700" cy="457200"/>
            <a:chOff x="1581150" y="5334000"/>
            <a:chExt cx="9029700" cy="457200"/>
          </a:xfrm>
        </p:grpSpPr>
        <p:sp>
          <p:nvSpPr>
            <p:cNvPr id="36" name="Rectangle 36"/>
            <p:cNvSpPr/>
            <p:nvPr/>
          </p:nvSpPr>
          <p:spPr>
            <a:xfrm>
              <a:off x="1581150" y="5334000"/>
              <a:ext cx="9029700" cy="457200"/>
            </a:xfrm>
            <a:prstGeom prst="roundRect">
              <a:avLst>
                <a:gd name="adj" fmla="val 16667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877903" y="5475446"/>
              <a:ext cx="84361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SketchVoice 的切入点：保留自然表达方式，同时输出可编辑、可复用、可展示的结构化结果。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39" name="TextBox 39"/>
            <p:cNvSpPr txBox="1"/>
            <p:nvPr/>
          </p:nvSpPr>
          <p:spPr>
            <a:xfrm>
              <a:off x="560070" y="6379845"/>
              <a:ext cx="20271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Application Scenario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5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8423424" cy="743903"/>
            <a:chOff x="537210" y="394335"/>
            <a:chExt cx="8423424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842342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竞品定位：我们解决的是“自然表达过程到科研图”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73071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现有工具大多做文本到图或画布协作，SketchVoice 聚焦草图 + 语音 + 结构化科研方法图。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1352550"/>
            <a:ext cx="11049000" cy="3429000"/>
            <a:chOff x="571500" y="1352550"/>
            <a:chExt cx="11049000" cy="3429000"/>
          </a:xfrm>
        </p:grpSpPr>
        <p:sp>
          <p:nvSpPr>
            <p:cNvPr id="6" name="Rectangle 6"/>
            <p:cNvSpPr/>
            <p:nvPr/>
          </p:nvSpPr>
          <p:spPr>
            <a:xfrm>
              <a:off x="571500" y="1352550"/>
              <a:ext cx="110490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19050" dir="5400000" algn="ctr" rotWithShape="0">
                <a:srgbClr val="172033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571500" y="1352550"/>
              <a:ext cx="11049000" cy="495300"/>
            </a:xfrm>
            <a:prstGeom prst="roundRect">
              <a:avLst>
                <a:gd name="adj" fmla="val 15385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2010" y="15468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55139" y="15468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79239" y="15468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优势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12889" y="15468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不足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3847" y="15468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我们的切入点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657350" y="184785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238500" y="184785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191250" y="184785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8382000" y="184785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571500" y="257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571500" y="32956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71500" y="4019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42010" y="1993106"/>
              <a:ext cx="9276754" cy="476250"/>
              <a:chOff x="842010" y="1993106"/>
              <a:chExt cx="9276754" cy="47625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842010" y="210883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在线白板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871996" y="2125028"/>
                <a:ext cx="113280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Miro / Whimsical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09962" y="19931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协作、画布、流程图成熟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509962" y="2240756"/>
                <a:ext cx="14012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AI 可利用画布上下文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62712" y="199310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偏通用协作资产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62712" y="224075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不专注科研方法图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672512" y="2116931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科研知识草图结构化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42010" y="2717006"/>
              <a:ext cx="9119234" cy="476250"/>
              <a:chOff x="842010" y="2717006"/>
              <a:chExt cx="9119234" cy="476250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842010" y="2832735"/>
                <a:ext cx="89578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AI 图示生成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131028" y="28489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Napkin AI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509962" y="271700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文本转图方便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509962" y="2964656"/>
                <a:ext cx="18137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支持 PPT、PNG、PDF、SVG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462712" y="271700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输入多为文本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462712" y="29646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弱化草图和语音过程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672512" y="2840831"/>
                <a:ext cx="12887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保留原始思考过程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842010" y="3440906"/>
              <a:ext cx="9544538" cy="476250"/>
              <a:chOff x="842010" y="3440906"/>
              <a:chExt cx="9544538" cy="476250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842010" y="3556635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代码图工具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773984" y="3572828"/>
                <a:ext cx="13288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Mermaid / Graphviz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509962" y="344090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可编辑、可版本管理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509962" y="36885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适合工程化复用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462712" y="34409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非技术用户门槛高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462712" y="36885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需要手写图代码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672512" y="3564731"/>
                <a:ext cx="171403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自动生成图代码和 JSON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42010" y="4164806"/>
              <a:ext cx="9906833" cy="476250"/>
              <a:chOff x="842010" y="4164806"/>
              <a:chExt cx="9906833" cy="476250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842010" y="4280535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草图转图研究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910501" y="4296728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SketchAgent 等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3509962" y="41648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关注结构化图恢复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509962" y="4412456"/>
                <a:ext cx="161877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可转 Mermaid 或图代码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462712" y="416480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多聚焦静态图像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462712" y="441245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同步语音反馈较少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672512" y="4288631"/>
                <a:ext cx="20763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语音作为语义锚点和方向约束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1428750" y="5219700"/>
            <a:ext cx="9587498" cy="533400"/>
            <a:chOff x="1428750" y="5219700"/>
            <a:chExt cx="9587498" cy="533400"/>
          </a:xfrm>
        </p:grpSpPr>
        <p:sp>
          <p:nvSpPr>
            <p:cNvPr id="53" name="Rectangle 53"/>
            <p:cNvSpPr/>
            <p:nvPr/>
          </p:nvSpPr>
          <p:spPr>
            <a:xfrm>
              <a:off x="1428750" y="5219700"/>
              <a:ext cx="9334500" cy="533400"/>
            </a:xfrm>
            <a:prstGeom prst="roundRect">
              <a:avLst>
                <a:gd name="adj" fmla="val 14286"/>
              </a:avLst>
            </a:prstGeom>
            <a:solidFill>
              <a:srgbClr val="CCFBF1"/>
            </a:solidFill>
            <a:ln w="9525">
              <a:solidFill>
                <a:srgbClr val="0F766E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1733550" y="5372100"/>
              <a:ext cx="228600" cy="228600"/>
              <a:chOff x="1733550" y="5372100"/>
              <a:chExt cx="228600" cy="2286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1835150" y="54737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784350" y="542290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733550" y="53721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2154555" y="5416868"/>
              <a:ext cx="88616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差异化：草图保留空间结构，语音补全语义和方向，输出 Mermaid / SVG / JSON / WebM 等结构化资产。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60" name="TextBox 60"/>
            <p:cNvSpPr txBox="1"/>
            <p:nvPr/>
          </p:nvSpPr>
          <p:spPr>
            <a:xfrm>
              <a:off x="560070" y="6379845"/>
              <a:ext cx="20511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Competitive Position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7667330" cy="743903"/>
            <a:chOff x="537210" y="394335"/>
            <a:chExt cx="7667330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76673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产品能力：不只是生成图，而是生成“工作台”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价值来自完整操作面，而不是一次模型调用。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71500" y="1428750"/>
            <a:ext cx="11974902" cy="4000500"/>
            <a:chOff x="571500" y="1428750"/>
            <a:chExt cx="11974902" cy="4000500"/>
          </a:xfrm>
        </p:grpSpPr>
        <p:grpSp>
          <p:nvGrpSpPr>
            <p:cNvPr id="17" name="Group 17"/>
            <p:cNvGrpSpPr/>
            <p:nvPr/>
          </p:nvGrpSpPr>
          <p:grpSpPr>
            <a:xfrm>
              <a:off x="571500" y="1428750"/>
              <a:ext cx="4703446" cy="1809750"/>
              <a:chOff x="571500" y="1428750"/>
              <a:chExt cx="4703446" cy="1809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142875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7" name="Rectangle 7"/>
              <p:cNvSpPr/>
              <p:nvPr/>
            </p:nvSpPr>
            <p:spPr>
              <a:xfrm>
                <a:off x="838200" y="167640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985838" y="1835150"/>
                <a:ext cx="200025" cy="187325"/>
                <a:chOff x="985838" y="1835150"/>
                <a:chExt cx="200025" cy="187325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985838" y="1835150"/>
                  <a:ext cx="2000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3335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188913" y="0"/>
                      </a:lnTo>
                      <a:cubicBezTo>
                        <a:pt x="195050" y="0"/>
                        <a:pt x="200025" y="4975"/>
                        <a:pt x="200025" y="11113"/>
                      </a:cubicBezTo>
                      <a:lnTo>
                        <a:pt x="200025" y="122238"/>
                      </a:lnTo>
                      <a:cubicBezTo>
                        <a:pt x="200025" y="128375"/>
                        <a:pt x="195050" y="133350"/>
                        <a:pt x="188913" y="133350"/>
                      </a:cubicBezTo>
                      <a:lnTo>
                        <a:pt x="11113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030288" y="201295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052512" y="196850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119188" y="196850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503045" y="17078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输入工作台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508760" y="2042160"/>
                <a:ext cx="2750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画布、录音、上传音频、转写文本补充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838200" y="245745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22008" y="2643664"/>
                <a:ext cx="445293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用户不需要先整理成规范格式，直接把讨论过程放进系统。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381500" y="1428750"/>
              <a:ext cx="3870341" cy="1809750"/>
              <a:chOff x="4381500" y="1428750"/>
              <a:chExt cx="3870341" cy="18097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4381500" y="142875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4648200" y="167640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4795838" y="1824038"/>
                <a:ext cx="200024" cy="211137"/>
                <a:chOff x="4795838" y="1824038"/>
                <a:chExt cx="200024" cy="211137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4829175" y="1824038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9"/>
                        <a:pt x="29851" y="133350"/>
                        <a:pt x="66675" y="133350"/>
                      </a:cubicBezTo>
                      <a:cubicBezTo>
                        <a:pt x="103499" y="133350"/>
                        <a:pt x="133350" y="103499"/>
                        <a:pt x="133350" y="66675"/>
                      </a:cubicBez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895850" y="1824038"/>
                  <a:ext cx="222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133350">
                      <a:moveTo>
                        <a:pt x="0" y="0"/>
                      </a:moveTo>
                      <a:cubicBezTo>
                        <a:pt x="14813" y="3700"/>
                        <a:pt x="22225" y="25925"/>
                        <a:pt x="22225" y="66675"/>
                      </a:cubicBezTo>
                      <a:cubicBezTo>
                        <a:pt x="22225" y="107425"/>
                        <a:pt x="14813" y="129650"/>
                        <a:pt x="0" y="13335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873625" y="1824038"/>
                  <a:ext cx="222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133350">
                      <a:moveTo>
                        <a:pt x="22225" y="0"/>
                      </a:moveTo>
                      <a:cubicBezTo>
                        <a:pt x="7412" y="3700"/>
                        <a:pt x="0" y="25925"/>
                        <a:pt x="0" y="66675"/>
                      </a:cubicBezTo>
                      <a:cubicBezTo>
                        <a:pt x="0" y="107425"/>
                        <a:pt x="7412" y="129650"/>
                        <a:pt x="22225" y="13335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829175" y="1890712"/>
                  <a:ext cx="1333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">
                      <a:moveTo>
                        <a:pt x="0" y="0"/>
                      </a:moveTo>
                      <a:lnTo>
                        <a:pt x="13335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795838" y="2012950"/>
                  <a:ext cx="777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8" h="9525">
                      <a:moveTo>
                        <a:pt x="0" y="0"/>
                      </a:moveTo>
                      <a:lnTo>
                        <a:pt x="77788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918075" y="2012950"/>
                  <a:ext cx="7778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9525">
                      <a:moveTo>
                        <a:pt x="0" y="0"/>
                      </a:moveTo>
                      <a:lnTo>
                        <a:pt x="77787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873625" y="199072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895850" y="1957388"/>
                  <a:ext cx="9525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3338">
                      <a:moveTo>
                        <a:pt x="0" y="0"/>
                      </a:move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5313045" y="17078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结构化建模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18760" y="2042160"/>
                <a:ext cx="22707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节点、边、方向、类型、置信度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4648200" y="245745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632008" y="2643664"/>
                <a:ext cx="361983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核心不是“画得像”，而是恢复可编辑知识结构。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8191500" y="1428750"/>
              <a:ext cx="3853339" cy="1809750"/>
              <a:chOff x="8191500" y="1428750"/>
              <a:chExt cx="3853339" cy="18097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8191500" y="142875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8458200" y="167640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8583612" y="1879600"/>
                <a:ext cx="244476" cy="88900"/>
                <a:chOff x="8583612" y="1879600"/>
                <a:chExt cx="244476" cy="88900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8794750" y="1879600"/>
                  <a:ext cx="3333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88900">
                      <a:moveTo>
                        <a:pt x="0" y="88900"/>
                      </a:moveTo>
                      <a:lnTo>
                        <a:pt x="0" y="0"/>
                      </a:lnTo>
                      <a:lnTo>
                        <a:pt x="33338" y="88900"/>
                      </a:lnTo>
                      <a:lnTo>
                        <a:pt x="3333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8716962" y="1879600"/>
                  <a:ext cx="4445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88900">
                      <a:moveTo>
                        <a:pt x="22225" y="0"/>
                      </a:moveTo>
                      <a:cubicBezTo>
                        <a:pt x="34500" y="0"/>
                        <a:pt x="44450" y="9950"/>
                        <a:pt x="44450" y="22225"/>
                      </a:cubicBezTo>
                      <a:lnTo>
                        <a:pt x="44450" y="66675"/>
                      </a:lnTo>
                      <a:cubicBezTo>
                        <a:pt x="44450" y="78950"/>
                        <a:pt x="34500" y="88900"/>
                        <a:pt x="22225" y="88900"/>
                      </a:cubicBezTo>
                      <a:cubicBezTo>
                        <a:pt x="9950" y="88900"/>
                        <a:pt x="0" y="78950"/>
                        <a:pt x="0" y="66675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583612" y="1879600"/>
                  <a:ext cx="3333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88900">
                      <a:moveTo>
                        <a:pt x="0" y="0"/>
                      </a:moveTo>
                      <a:lnTo>
                        <a:pt x="33338" y="0"/>
                      </a:lnTo>
                      <a:lnTo>
                        <a:pt x="33338" y="72231"/>
                      </a:lnTo>
                      <a:cubicBezTo>
                        <a:pt x="33338" y="81437"/>
                        <a:pt x="25875" y="88900"/>
                        <a:pt x="16669" y="88900"/>
                      </a:cubicBezTo>
                      <a:cubicBezTo>
                        <a:pt x="7463" y="88900"/>
                        <a:pt x="0" y="81437"/>
                        <a:pt x="0" y="72231"/>
                      </a:cubicBez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650288" y="1879600"/>
                  <a:ext cx="3333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88900">
                      <a:moveTo>
                        <a:pt x="0" y="77787"/>
                      </a:moveTo>
                      <a:cubicBezTo>
                        <a:pt x="0" y="83925"/>
                        <a:pt x="4975" y="88900"/>
                        <a:pt x="11113" y="88900"/>
                      </a:cubicBezTo>
                      <a:lnTo>
                        <a:pt x="22225" y="88900"/>
                      </a:lnTo>
                      <a:cubicBezTo>
                        <a:pt x="28362" y="88900"/>
                        <a:pt x="33338" y="83925"/>
                        <a:pt x="33338" y="77787"/>
                      </a:cubicBezTo>
                      <a:lnTo>
                        <a:pt x="33338" y="55562"/>
                      </a:lnTo>
                      <a:cubicBezTo>
                        <a:pt x="33338" y="49425"/>
                        <a:pt x="28362" y="44450"/>
                        <a:pt x="22225" y="44450"/>
                      </a:cubicBezTo>
                      <a:lnTo>
                        <a:pt x="11113" y="44450"/>
                      </a:lnTo>
                      <a:cubicBezTo>
                        <a:pt x="4975" y="44450"/>
                        <a:pt x="0" y="39475"/>
                        <a:pt x="0" y="33338"/>
                      </a:cubicBezTo>
                      <a:lnTo>
                        <a:pt x="0" y="11112"/>
                      </a:ln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22225" y="0"/>
                      </a:lnTo>
                      <a:cubicBezTo>
                        <a:pt x="28362" y="0"/>
                        <a:pt x="33338" y="4975"/>
                        <a:pt x="33338" y="11112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9123045" y="17078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多视图预览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128760" y="20421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Mermaid / 图形 / AI 图像 / JSON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8458200" y="245745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442008" y="2643664"/>
                <a:ext cx="360283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同一个结构可以用不同形式检查、修改和下载。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3619500"/>
              <a:ext cx="4023360" cy="1809750"/>
              <a:chOff x="571500" y="3619500"/>
              <a:chExt cx="4023360" cy="180975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361950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838200" y="38671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985838" y="4014788"/>
                <a:ext cx="200025" cy="200025"/>
                <a:chOff x="985838" y="4014788"/>
                <a:chExt cx="200025" cy="200025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1119188" y="40703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985838" y="401478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099" y="0"/>
                        <a:pt x="200025" y="14926"/>
                        <a:pt x="200025" y="33338"/>
                      </a:cubicBezTo>
                      <a:lnTo>
                        <a:pt x="200025" y="166688"/>
                      </a:lnTo>
                      <a:cubicBezTo>
                        <a:pt x="200025" y="185099"/>
                        <a:pt x="185099" y="200025"/>
                        <a:pt x="166688" y="200025"/>
                      </a:cubicBezTo>
                      <a:lnTo>
                        <a:pt x="33338" y="200025"/>
                      </a:lnTo>
                      <a:cubicBezTo>
                        <a:pt x="14926" y="200025"/>
                        <a:pt x="0" y="185099"/>
                        <a:pt x="0" y="166688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985838" y="4093764"/>
                  <a:ext cx="144463" cy="65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3" h="65486">
                      <a:moveTo>
                        <a:pt x="0" y="65486"/>
                      </a:moveTo>
                      <a:lnTo>
                        <a:pt x="55562" y="9923"/>
                      </a:lnTo>
                      <a:cubicBezTo>
                        <a:pt x="65875" y="0"/>
                        <a:pt x="78588" y="0"/>
                        <a:pt x="88900" y="9923"/>
                      </a:cubicBezTo>
                      <a:lnTo>
                        <a:pt x="144463" y="65486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1108075" y="4115989"/>
                  <a:ext cx="77787" cy="43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43261">
                      <a:moveTo>
                        <a:pt x="0" y="21036"/>
                      </a:moveTo>
                      <a:lnTo>
                        <a:pt x="11112" y="9923"/>
                      </a:lnTo>
                      <a:cubicBezTo>
                        <a:pt x="21425" y="0"/>
                        <a:pt x="34138" y="0"/>
                        <a:pt x="44450" y="9923"/>
                      </a:cubicBezTo>
                      <a:lnTo>
                        <a:pt x="77787" y="43261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1503045" y="3898582"/>
                <a:ext cx="16591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草稿图与终稿图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508760" y="4232910"/>
                <a:ext cx="206273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豆包草稿图 + OpenAI 终稿图</a:t>
                </a:r>
              </a:p>
            </p:txBody>
          </p:sp>
          <p:sp>
            <p:nvSpPr>
              <p:cNvPr id="55" name="Line 55"/>
              <p:cNvSpPr/>
              <p:nvPr/>
            </p:nvSpPr>
            <p:spPr>
              <a:xfrm>
                <a:off x="838200" y="46482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822008" y="4834414"/>
                <a:ext cx="377285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把结构图进一步包装成论文或汇报可用的方法图。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4381500" y="3619500"/>
              <a:ext cx="3853339" cy="1809750"/>
              <a:chOff x="4381500" y="3619500"/>
              <a:chExt cx="3853339" cy="180975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4381500" y="361950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4648200" y="38671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EF3C7"/>
              </a:solidFill>
              <a:ln>
                <a:noFill/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4795838" y="4025438"/>
                <a:ext cx="200025" cy="178262"/>
                <a:chOff x="4795838" y="4025438"/>
                <a:chExt cx="200025" cy="178262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4962525" y="4070350"/>
                  <a:ext cx="33338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66675">
                      <a:moveTo>
                        <a:pt x="0" y="0"/>
                      </a:moveTo>
                      <a:cubicBezTo>
                        <a:pt x="18412" y="0"/>
                        <a:pt x="33338" y="14926"/>
                        <a:pt x="33338" y="33338"/>
                      </a:cubicBezTo>
                      <a:cubicBezTo>
                        <a:pt x="33338" y="51749"/>
                        <a:pt x="18412" y="66675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4840288" y="4070350"/>
                  <a:ext cx="33338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133350">
                      <a:moveTo>
                        <a:pt x="33338" y="0"/>
                      </a:moveTo>
                      <a:lnTo>
                        <a:pt x="33338" y="122238"/>
                      </a:lnTo>
                      <a:cubicBezTo>
                        <a:pt x="33338" y="128375"/>
                        <a:pt x="28362" y="133350"/>
                        <a:pt x="22225" y="133350"/>
                      </a:cubicBezTo>
                      <a:lnTo>
                        <a:pt x="11112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4795838" y="4025438"/>
                  <a:ext cx="166689" cy="15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9" h="156500">
                      <a:moveTo>
                        <a:pt x="100012" y="44912"/>
                      </a:moveTo>
                      <a:lnTo>
                        <a:pt x="150285" y="3018"/>
                      </a:lnTo>
                      <a:cubicBezTo>
                        <a:pt x="153268" y="534"/>
                        <a:pt x="157418" y="0"/>
                        <a:pt x="160932" y="1648"/>
                      </a:cubicBezTo>
                      <a:cubicBezTo>
                        <a:pt x="164446" y="3295"/>
                        <a:pt x="166689" y="6827"/>
                        <a:pt x="166688" y="10708"/>
                      </a:cubicBezTo>
                      <a:lnTo>
                        <a:pt x="166688" y="145792"/>
                      </a:lnTo>
                      <a:cubicBezTo>
                        <a:pt x="166689" y="149673"/>
                        <a:pt x="164446" y="153205"/>
                        <a:pt x="160932" y="154852"/>
                      </a:cubicBezTo>
                      <a:cubicBezTo>
                        <a:pt x="157418" y="156500"/>
                        <a:pt x="153268" y="155965"/>
                        <a:pt x="150285" y="153482"/>
                      </a:cubicBezTo>
                      <a:lnTo>
                        <a:pt x="100012" y="111587"/>
                      </a:lnTo>
                      <a:lnTo>
                        <a:pt x="11113" y="111587"/>
                      </a:lnTo>
                      <a:cubicBezTo>
                        <a:pt x="4975" y="111587"/>
                        <a:pt x="0" y="106612"/>
                        <a:pt x="0" y="100475"/>
                      </a:cubicBezTo>
                      <a:lnTo>
                        <a:pt x="0" y="56025"/>
                      </a:lnTo>
                      <a:cubicBezTo>
                        <a:pt x="0" y="49888"/>
                        <a:pt x="4975" y="44912"/>
                        <a:pt x="11113" y="44912"/>
                      </a:cubicBezTo>
                      <a:lnTo>
                        <a:pt x="100012" y="44912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5313045" y="389858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终稿图讲解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5318760" y="4232910"/>
                <a:ext cx="24707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分段脚本、TTS、光标坐标、WebM</a:t>
                </a:r>
              </a:p>
            </p:txBody>
          </p:sp>
          <p:sp>
            <p:nvSpPr>
              <p:cNvPr id="66" name="Line 66"/>
              <p:cNvSpPr/>
              <p:nvPr/>
            </p:nvSpPr>
            <p:spPr>
              <a:xfrm>
                <a:off x="4648200" y="46482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4632008" y="4834414"/>
                <a:ext cx="360283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输出不止是静态图，也能变成可播放讲解材料。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8191500" y="3619500"/>
              <a:ext cx="4354902" cy="1809750"/>
              <a:chOff x="8191500" y="3619500"/>
              <a:chExt cx="4354902" cy="180975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8191500" y="361950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8458200" y="38671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73" name="Group 73"/>
              <p:cNvGrpSpPr/>
              <p:nvPr/>
            </p:nvGrpSpPr>
            <p:grpSpPr>
              <a:xfrm>
                <a:off x="8628062" y="4014788"/>
                <a:ext cx="177800" cy="211138"/>
                <a:chOff x="8628062" y="4014788"/>
                <a:chExt cx="177800" cy="211138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8728075" y="4014788"/>
                  <a:ext cx="55562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55562">
                      <a:moveTo>
                        <a:pt x="0" y="0"/>
                      </a:moveTo>
                      <a:lnTo>
                        <a:pt x="0" y="44450"/>
                      </a:lnTo>
                      <a:cubicBezTo>
                        <a:pt x="0" y="50587"/>
                        <a:pt x="4975" y="55562"/>
                        <a:pt x="11112" y="55562"/>
                      </a:cubicBezTo>
                      <a:lnTo>
                        <a:pt x="55562" y="55562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8628062" y="4014788"/>
                  <a:ext cx="177800" cy="211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11138">
                      <a:moveTo>
                        <a:pt x="72231" y="200025"/>
                      </a:moveTo>
                      <a:lnTo>
                        <a:pt x="22225" y="200025"/>
                      </a:lnTo>
                      <a:cubicBezTo>
                        <a:pt x="9950" y="200025"/>
                        <a:pt x="0" y="190075"/>
                        <a:pt x="0" y="177800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00012" y="0"/>
                      </a:lnTo>
                      <a:lnTo>
                        <a:pt x="155575" y="55562"/>
                      </a:lnTo>
                      <a:lnTo>
                        <a:pt x="155575" y="111125"/>
                      </a:lnTo>
                      <a:moveTo>
                        <a:pt x="100012" y="177800"/>
                      </a:moveTo>
                      <a:lnTo>
                        <a:pt x="177800" y="177800"/>
                      </a:lnTo>
                      <a:moveTo>
                        <a:pt x="144462" y="144463"/>
                      </a:moveTo>
                      <a:lnTo>
                        <a:pt x="177800" y="177800"/>
                      </a:lnTo>
                      <a:lnTo>
                        <a:pt x="144462" y="21113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9123045" y="389858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下载与演示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9128760" y="4232910"/>
                <a:ext cx="26948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SVG、JSON、Mermaid、图像、WebM</a:t>
                </a:r>
              </a:p>
            </p:txBody>
          </p:sp>
          <p:sp>
            <p:nvSpPr>
              <p:cNvPr id="76" name="Line 76"/>
              <p:cNvSpPr/>
              <p:nvPr/>
            </p:nvSpPr>
            <p:spPr>
              <a:xfrm>
                <a:off x="8458200" y="46482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442008" y="4834414"/>
                <a:ext cx="410439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Mock 模式保证课堂演示时即使无 key 也能跑通闭环。</a:t>
                </a:r>
              </a:p>
            </p:txBody>
          </p:sp>
        </p:grpSp>
      </p:grpSp>
      <p:grpSp>
        <p:nvGrpSpPr>
          <p:cNvPr id="82" name="Group 82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80" name="TextBox 80"/>
            <p:cNvSpPr txBox="1"/>
            <p:nvPr/>
          </p:nvSpPr>
          <p:spPr>
            <a:xfrm>
              <a:off x="560070" y="6379845"/>
              <a:ext cx="1685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Capability Map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432435"/>
            <a:ext cx="7251478" cy="743903"/>
            <a:chOff x="537210" y="432435"/>
            <a:chExt cx="7251478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432435"/>
              <a:ext cx="72514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现场演示流程：从一张草图到可讲解交付物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902018"/>
              <a:ext cx="68751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演示重点不是单次生成图片，而是展示输入、结构化、渲染、讲解和下载的完整链路。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28650" y="1581150"/>
            <a:ext cx="10934700" cy="2971800"/>
            <a:chOff x="628650" y="1581150"/>
            <a:chExt cx="10934700" cy="2971800"/>
          </a:xfrm>
        </p:grpSpPr>
        <p:sp>
          <p:nvSpPr>
            <p:cNvPr id="6" name="Rectangle 6"/>
            <p:cNvSpPr/>
            <p:nvPr/>
          </p:nvSpPr>
          <p:spPr>
            <a:xfrm>
              <a:off x="628650" y="1581150"/>
              <a:ext cx="10934700" cy="2971800"/>
            </a:xfrm>
            <a:prstGeom prst="roundRect">
              <a:avLst>
                <a:gd name="adj" fmla="val 256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7" name="Line 7"/>
            <p:cNvSpPr/>
            <p:nvPr/>
          </p:nvSpPr>
          <p:spPr>
            <a:xfrm>
              <a:off x="1695450" y="3028950"/>
              <a:ext cx="8610600" cy="9525"/>
            </a:xfrm>
            <a:custGeom>
              <a:avLst/>
              <a:gdLst/>
              <a:ahLst/>
              <a:cxnLst/>
              <a:rect l="l" t="t" r="r" b="b"/>
              <a:pathLst>
                <a:path w="8610600" h="9525">
                  <a:moveTo>
                    <a:pt x="0" y="0"/>
                  </a:moveTo>
                  <a:lnTo>
                    <a:pt x="8610600" y="0"/>
                  </a:lnTo>
                </a:path>
              </a:pathLst>
            </a:custGeom>
            <a:noFill/>
            <a:ln w="28575">
              <a:solidFill>
                <a:srgbClr val="CBD5E1"/>
              </a:solidFill>
              <a:custDash>
                <a:ds d="266666" sp="200000"/>
              </a:custDash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64406" y="2590800"/>
              <a:ext cx="928688" cy="1650206"/>
              <a:chOff x="964406" y="2590800"/>
              <a:chExt cx="928688" cy="1650206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990600" y="2590800"/>
                <a:ext cx="876300" cy="876300"/>
              </a:xfrm>
              <a:prstGeom prst="ellipse">
                <a:avLst/>
              </a:prstGeom>
              <a:solidFill>
                <a:srgbClr val="E0F2FE"/>
              </a:solidFill>
              <a:ln w="19050">
                <a:solidFill>
                  <a:srgbClr val="155E75"/>
                </a:solidFill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1289050" y="2896155"/>
                <a:ext cx="272495" cy="272495"/>
                <a:chOff x="1289050" y="2896155"/>
                <a:chExt cx="272495" cy="272495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289050" y="2896155"/>
                  <a:ext cx="272495" cy="272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495" h="272495">
                      <a:moveTo>
                        <a:pt x="0" y="272495"/>
                      </a:moveTo>
                      <a:lnTo>
                        <a:pt x="69850" y="272495"/>
                      </a:lnTo>
                      <a:lnTo>
                        <a:pt x="253206" y="89139"/>
                      </a:lnTo>
                      <a:cubicBezTo>
                        <a:pt x="272495" y="69850"/>
                        <a:pt x="272495" y="38577"/>
                        <a:pt x="253206" y="19289"/>
                      </a:cubicBezTo>
                      <a:cubicBezTo>
                        <a:pt x="233918" y="0"/>
                        <a:pt x="202645" y="0"/>
                        <a:pt x="183356" y="19289"/>
                      </a:cubicBezTo>
                      <a:lnTo>
                        <a:pt x="0" y="202645"/>
                      </a:lnTo>
                      <a:lnTo>
                        <a:pt x="0" y="272495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454944" y="2932906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0"/>
                      </a:moveTo>
                      <a:lnTo>
                        <a:pt x="69850" y="6985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1094661" y="368617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画草图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64406" y="401240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科研流程骨架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195262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2624138" y="2590800"/>
              <a:ext cx="1228725" cy="1650206"/>
              <a:chOff x="2624138" y="2590800"/>
              <a:chExt cx="1228725" cy="1650206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2800350" y="2590800"/>
                <a:ext cx="876300" cy="876300"/>
              </a:xfrm>
              <a:prstGeom prst="ellipse">
                <a:avLst/>
              </a:prstGeom>
              <a:solidFill>
                <a:srgbClr val="CCFBF1"/>
              </a:solidFill>
              <a:ln w="19050">
                <a:solidFill>
                  <a:srgbClr val="0F766E"/>
                </a:solidFill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3116262" y="2854325"/>
                <a:ext cx="244475" cy="341312"/>
                <a:chOff x="3116262" y="2854325"/>
                <a:chExt cx="244475" cy="341312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3186112" y="2854325"/>
                  <a:ext cx="104775" cy="19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92087">
                      <a:moveTo>
                        <a:pt x="0" y="52388"/>
                      </a:moveTo>
                      <a:cubicBezTo>
                        <a:pt x="0" y="23455"/>
                        <a:pt x="23455" y="0"/>
                        <a:pt x="52388" y="0"/>
                      </a:cubicBezTo>
                      <a:cubicBezTo>
                        <a:pt x="81320" y="0"/>
                        <a:pt x="104775" y="23455"/>
                        <a:pt x="104775" y="52388"/>
                      </a:cubicBezTo>
                      <a:lnTo>
                        <a:pt x="104775" y="139700"/>
                      </a:lnTo>
                      <a:cubicBezTo>
                        <a:pt x="104775" y="168633"/>
                        <a:pt x="81320" y="192087"/>
                        <a:pt x="52388" y="192087"/>
                      </a:cubicBezTo>
                      <a:cubicBezTo>
                        <a:pt x="23455" y="192087"/>
                        <a:pt x="0" y="168633"/>
                        <a:pt x="0" y="139700"/>
                      </a:cubicBezTo>
                      <a:lnTo>
                        <a:pt x="0" y="5238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3116262" y="2994025"/>
                  <a:ext cx="244475" cy="12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475" h="122238">
                      <a:moveTo>
                        <a:pt x="0" y="0"/>
                      </a:moveTo>
                      <a:cubicBezTo>
                        <a:pt x="0" y="67510"/>
                        <a:pt x="54728" y="122238"/>
                        <a:pt x="122237" y="122238"/>
                      </a:cubicBezTo>
                      <a:cubicBezTo>
                        <a:pt x="189747" y="122238"/>
                        <a:pt x="244475" y="67510"/>
                        <a:pt x="244475" y="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168650" y="3186112"/>
                  <a:ext cx="1397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9525">
                      <a:moveTo>
                        <a:pt x="0" y="0"/>
                      </a:moveTo>
                      <a:lnTo>
                        <a:pt x="1397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3238500" y="3116262"/>
                  <a:ext cx="9525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9850">
                      <a:moveTo>
                        <a:pt x="0" y="0"/>
                      </a:moveTo>
                      <a:lnTo>
                        <a:pt x="0" y="6985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2904411" y="368617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补语音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624138" y="40124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节点、方向、意图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376237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4467642" y="2590800"/>
              <a:ext cx="1161217" cy="1650206"/>
              <a:chOff x="4467642" y="2590800"/>
              <a:chExt cx="1161217" cy="1650206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4610100" y="2590800"/>
                <a:ext cx="876300" cy="8763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2563EB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4891088" y="2871788"/>
                <a:ext cx="314325" cy="331787"/>
                <a:chOff x="4891088" y="2871788"/>
                <a:chExt cx="314325" cy="331787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4943475" y="2871788"/>
                  <a:ext cx="209550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209550">
                      <a:moveTo>
                        <a:pt x="0" y="104775"/>
                      </a:moveTo>
                      <a:cubicBezTo>
                        <a:pt x="0" y="162641"/>
                        <a:pt x="46909" y="209550"/>
                        <a:pt x="104775" y="209550"/>
                      </a:cubicBezTo>
                      <a:cubicBezTo>
                        <a:pt x="162641" y="209550"/>
                        <a:pt x="209550" y="162641"/>
                        <a:pt x="209550" y="104775"/>
                      </a:cubicBezTo>
                      <a:cubicBezTo>
                        <a:pt x="209550" y="46909"/>
                        <a:pt x="162641" y="0"/>
                        <a:pt x="104775" y="0"/>
                      </a:cubicBezTo>
                      <a:cubicBezTo>
                        <a:pt x="46909" y="0"/>
                        <a:pt x="0" y="46909"/>
                        <a:pt x="0" y="104775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5048250" y="2871788"/>
                  <a:ext cx="34925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209550">
                      <a:moveTo>
                        <a:pt x="0" y="0"/>
                      </a:moveTo>
                      <a:cubicBezTo>
                        <a:pt x="23278" y="5815"/>
                        <a:pt x="34925" y="40740"/>
                        <a:pt x="34925" y="104775"/>
                      </a:cubicBezTo>
                      <a:cubicBezTo>
                        <a:pt x="34925" y="168810"/>
                        <a:pt x="23278" y="203735"/>
                        <a:pt x="0" y="20955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5013325" y="2871788"/>
                  <a:ext cx="34925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209550">
                      <a:moveTo>
                        <a:pt x="34925" y="0"/>
                      </a:moveTo>
                      <a:cubicBezTo>
                        <a:pt x="11647" y="5815"/>
                        <a:pt x="0" y="40740"/>
                        <a:pt x="0" y="104775"/>
                      </a:cubicBezTo>
                      <a:cubicBezTo>
                        <a:pt x="0" y="168810"/>
                        <a:pt x="11647" y="203735"/>
                        <a:pt x="34925" y="20955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943475" y="2976562"/>
                  <a:ext cx="2095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9525">
                      <a:moveTo>
                        <a:pt x="0" y="0"/>
                      </a:moveTo>
                      <a:lnTo>
                        <a:pt x="209550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891088" y="3168650"/>
                  <a:ext cx="1222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9525">
                      <a:moveTo>
                        <a:pt x="0" y="0"/>
                      </a:moveTo>
                      <a:lnTo>
                        <a:pt x="12223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5083175" y="3168650"/>
                  <a:ext cx="1222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9525">
                      <a:moveTo>
                        <a:pt x="0" y="0"/>
                      </a:moveTo>
                      <a:lnTo>
                        <a:pt x="12223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5013325" y="3133725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4"/>
                        <a:pt x="15636" y="69850"/>
                        <a:pt x="34925" y="69850"/>
                      </a:cubicBezTo>
                      <a:cubicBezTo>
                        <a:pt x="54214" y="69850"/>
                        <a:pt x="69850" y="54214"/>
                        <a:pt x="69850" y="34925"/>
                      </a:cubicBezTo>
                      <a:cubicBezTo>
                        <a:pt x="69850" y="15636"/>
                        <a:pt x="54214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5048250" y="3081338"/>
                  <a:ext cx="9525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2388">
                      <a:moveTo>
                        <a:pt x="0" y="0"/>
                      </a:moveTo>
                      <a:lnTo>
                        <a:pt x="0" y="52388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4504134" y="36861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生成结构图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467642" y="4012406"/>
                <a:ext cx="116121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Mermaid / JSON</a:t>
                </a:r>
              </a:p>
            </p:txBody>
          </p:sp>
        </p:grpSp>
        <p:sp>
          <p:nvSpPr>
            <p:cNvPr id="39" name="Line 39"/>
            <p:cNvSpPr/>
            <p:nvPr/>
          </p:nvSpPr>
          <p:spPr>
            <a:xfrm>
              <a:off x="557212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313884" y="2590800"/>
              <a:ext cx="1088231" cy="1650206"/>
              <a:chOff x="6313884" y="2590800"/>
              <a:chExt cx="1088231" cy="1650206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6419850" y="2590800"/>
                <a:ext cx="876300" cy="876300"/>
              </a:xfrm>
              <a:prstGeom prst="ellipse">
                <a:avLst/>
              </a:prstGeom>
              <a:solidFill>
                <a:srgbClr val="DCFCE7"/>
              </a:solidFill>
              <a:ln w="19050">
                <a:solidFill>
                  <a:srgbClr val="16A34A"/>
                </a:solidFill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6700838" y="2871788"/>
                <a:ext cx="314325" cy="314325"/>
                <a:chOff x="6700838" y="2871788"/>
                <a:chExt cx="314325" cy="314325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6910388" y="2959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75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6700838" y="2871788"/>
                  <a:ext cx="314325" cy="3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5" h="314325">
                      <a:moveTo>
                        <a:pt x="0" y="52388"/>
                      </a:moveTo>
                      <a:cubicBezTo>
                        <a:pt x="0" y="23455"/>
                        <a:pt x="23455" y="0"/>
                        <a:pt x="52388" y="0"/>
                      </a:cubicBezTo>
                      <a:lnTo>
                        <a:pt x="261938" y="0"/>
                      </a:lnTo>
                      <a:cubicBezTo>
                        <a:pt x="290870" y="0"/>
                        <a:pt x="314325" y="23455"/>
                        <a:pt x="314325" y="52388"/>
                      </a:cubicBezTo>
                      <a:lnTo>
                        <a:pt x="314325" y="261938"/>
                      </a:lnTo>
                      <a:cubicBezTo>
                        <a:pt x="314325" y="290870"/>
                        <a:pt x="290870" y="314325"/>
                        <a:pt x="261938" y="314325"/>
                      </a:cubicBezTo>
                      <a:lnTo>
                        <a:pt x="52388" y="314325"/>
                      </a:lnTo>
                      <a:cubicBezTo>
                        <a:pt x="23455" y="314325"/>
                        <a:pt x="0" y="290870"/>
                        <a:pt x="0" y="261938"/>
                      </a:cubicBezTo>
                      <a:lnTo>
                        <a:pt x="0" y="52388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6700838" y="2995893"/>
                  <a:ext cx="227013" cy="1029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013" h="102907">
                      <a:moveTo>
                        <a:pt x="0" y="102907"/>
                      </a:moveTo>
                      <a:lnTo>
                        <a:pt x="87312" y="15594"/>
                      </a:lnTo>
                      <a:cubicBezTo>
                        <a:pt x="103518" y="0"/>
                        <a:pt x="123495" y="0"/>
                        <a:pt x="139700" y="15594"/>
                      </a:cubicBezTo>
                      <a:lnTo>
                        <a:pt x="227013" y="102907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6892925" y="3030818"/>
                  <a:ext cx="122238" cy="67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67982">
                      <a:moveTo>
                        <a:pt x="0" y="33057"/>
                      </a:moveTo>
                      <a:lnTo>
                        <a:pt x="17463" y="15594"/>
                      </a:lnTo>
                      <a:cubicBezTo>
                        <a:pt x="33668" y="0"/>
                        <a:pt x="53645" y="0"/>
                        <a:pt x="69850" y="15594"/>
                      </a:cubicBezTo>
                      <a:lnTo>
                        <a:pt x="122238" y="67982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6313884" y="36861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生成终稿图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318647" y="401240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论文风格方法图</a:t>
                </a:r>
              </a:p>
            </p:txBody>
          </p:sp>
        </p:grpSp>
        <p:sp>
          <p:nvSpPr>
            <p:cNvPr id="49" name="Line 49"/>
            <p:cNvSpPr/>
            <p:nvPr/>
          </p:nvSpPr>
          <p:spPr>
            <a:xfrm>
              <a:off x="738187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203406" y="2590800"/>
              <a:ext cx="928688" cy="1650206"/>
              <a:chOff x="8203406" y="2590800"/>
              <a:chExt cx="928688" cy="1650206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8229600" y="2590800"/>
                <a:ext cx="876300" cy="876300"/>
              </a:xfrm>
              <a:prstGeom prst="ellipse">
                <a:avLst/>
              </a:prstGeom>
              <a:solidFill>
                <a:srgbClr val="FEF3C7"/>
              </a:solidFill>
              <a:ln w="19050">
                <a:solidFill>
                  <a:srgbClr val="F59E0B"/>
                </a:solidFill>
              </a:ln>
            </p:spPr>
          </p:sp>
          <p:grpSp>
            <p:nvGrpSpPr>
              <p:cNvPr id="54" name="Group 54"/>
              <p:cNvGrpSpPr/>
              <p:nvPr/>
            </p:nvGrpSpPr>
            <p:grpSpPr>
              <a:xfrm>
                <a:off x="8510588" y="2888523"/>
                <a:ext cx="314325" cy="280127"/>
                <a:chOff x="8510588" y="2888523"/>
                <a:chExt cx="314325" cy="280127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8772525" y="2959100"/>
                  <a:ext cx="52388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104775">
                      <a:moveTo>
                        <a:pt x="0" y="0"/>
                      </a:moveTo>
                      <a:cubicBezTo>
                        <a:pt x="28933" y="0"/>
                        <a:pt x="52388" y="23455"/>
                        <a:pt x="52388" y="52388"/>
                      </a:cubicBezTo>
                      <a:cubicBezTo>
                        <a:pt x="52388" y="81320"/>
                        <a:pt x="28933" y="104775"/>
                        <a:pt x="0" y="104775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8580438" y="2959100"/>
                  <a:ext cx="52388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209550">
                      <a:moveTo>
                        <a:pt x="52388" y="0"/>
                      </a:moveTo>
                      <a:lnTo>
                        <a:pt x="52388" y="192087"/>
                      </a:lnTo>
                      <a:cubicBezTo>
                        <a:pt x="52388" y="201732"/>
                        <a:pt x="44569" y="209550"/>
                        <a:pt x="34925" y="209550"/>
                      </a:cubicBezTo>
                      <a:lnTo>
                        <a:pt x="17462" y="209550"/>
                      </a:lnTo>
                      <a:cubicBezTo>
                        <a:pt x="7818" y="209550"/>
                        <a:pt x="0" y="201732"/>
                        <a:pt x="0" y="192087"/>
                      </a:cubicBezTo>
                      <a:lnTo>
                        <a:pt x="0" y="10477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8510588" y="2888523"/>
                  <a:ext cx="261941" cy="245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1" h="245928">
                      <a:moveTo>
                        <a:pt x="157162" y="70577"/>
                      </a:moveTo>
                      <a:lnTo>
                        <a:pt x="236163" y="4743"/>
                      </a:lnTo>
                      <a:cubicBezTo>
                        <a:pt x="240849" y="840"/>
                        <a:pt x="247371" y="0"/>
                        <a:pt x="252893" y="2589"/>
                      </a:cubicBezTo>
                      <a:cubicBezTo>
                        <a:pt x="258415" y="5178"/>
                        <a:pt x="261941" y="10728"/>
                        <a:pt x="261938" y="16827"/>
                      </a:cubicBezTo>
                      <a:lnTo>
                        <a:pt x="261938" y="229101"/>
                      </a:lnTo>
                      <a:cubicBezTo>
                        <a:pt x="261941" y="235200"/>
                        <a:pt x="258415" y="240750"/>
                        <a:pt x="252893" y="243339"/>
                      </a:cubicBezTo>
                      <a:cubicBezTo>
                        <a:pt x="247371" y="245928"/>
                        <a:pt x="240849" y="245089"/>
                        <a:pt x="236163" y="241185"/>
                      </a:cubicBezTo>
                      <a:lnTo>
                        <a:pt x="157162" y="175352"/>
                      </a:lnTo>
                      <a:lnTo>
                        <a:pt x="17463" y="175352"/>
                      </a:lnTo>
                      <a:cubicBezTo>
                        <a:pt x="7818" y="175352"/>
                        <a:pt x="0" y="167533"/>
                        <a:pt x="0" y="157889"/>
                      </a:cubicBezTo>
                      <a:lnTo>
                        <a:pt x="0" y="88039"/>
                      </a:lnTo>
                      <a:cubicBezTo>
                        <a:pt x="0" y="78395"/>
                        <a:pt x="7818" y="70577"/>
                        <a:pt x="17463" y="70577"/>
                      </a:cubicBezTo>
                      <a:lnTo>
                        <a:pt x="157162" y="70577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55" name="TextBox 55"/>
              <p:cNvSpPr txBox="1"/>
              <p:nvPr/>
            </p:nvSpPr>
            <p:spPr>
              <a:xfrm>
                <a:off x="8228648" y="36861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生成讲解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203406" y="401240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光标跟随段落</a:t>
                </a:r>
              </a:p>
            </p:txBody>
          </p:sp>
        </p:grpSp>
        <p:sp>
          <p:nvSpPr>
            <p:cNvPr id="58" name="Line 58"/>
            <p:cNvSpPr/>
            <p:nvPr/>
          </p:nvSpPr>
          <p:spPr>
            <a:xfrm>
              <a:off x="919162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9791879" y="2590800"/>
              <a:ext cx="1371243" cy="1650206"/>
              <a:chOff x="9791879" y="2590800"/>
              <a:chExt cx="1371243" cy="1650206"/>
            </a:xfrm>
          </p:grpSpPr>
          <p:sp>
            <p:nvSpPr>
              <p:cNvPr id="59" name="Ellipse 59"/>
              <p:cNvSpPr/>
              <p:nvPr/>
            </p:nvSpPr>
            <p:spPr>
              <a:xfrm>
                <a:off x="10039350" y="2590800"/>
                <a:ext cx="876300" cy="876300"/>
              </a:xfrm>
              <a:prstGeom prst="ellipse">
                <a:avLst/>
              </a:prstGeom>
              <a:gradFill>
                <a:gsLst>
                  <a:gs pos="0">
                    <a:srgbClr val="155E75"/>
                  </a:gs>
                  <a:gs pos="100000">
                    <a:srgbClr val="0F766E"/>
                  </a:gs>
                </a:gsLst>
                <a:lin ang="0" scaled="1"/>
              </a:gradFill>
              <a:ln w="19050">
                <a:solidFill>
                  <a:srgbClr val="0F766E"/>
                </a:solidFill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10355262" y="2871788"/>
                <a:ext cx="279400" cy="331787"/>
                <a:chOff x="10355262" y="2871788"/>
                <a:chExt cx="279400" cy="331787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10512425" y="2871788"/>
                  <a:ext cx="87312" cy="87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12" h="87313">
                      <a:moveTo>
                        <a:pt x="0" y="0"/>
                      </a:moveTo>
                      <a:lnTo>
                        <a:pt x="0" y="69850"/>
                      </a:lnTo>
                      <a:cubicBezTo>
                        <a:pt x="0" y="79494"/>
                        <a:pt x="7818" y="87313"/>
                        <a:pt x="17462" y="87313"/>
                      </a:cubicBezTo>
                      <a:lnTo>
                        <a:pt x="87312" y="873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10355262" y="2871788"/>
                  <a:ext cx="279400" cy="33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400" h="331787">
                      <a:moveTo>
                        <a:pt x="113506" y="314325"/>
                      </a:moveTo>
                      <a:lnTo>
                        <a:pt x="34925" y="314325"/>
                      </a:lnTo>
                      <a:cubicBezTo>
                        <a:pt x="15636" y="314325"/>
                        <a:pt x="0" y="298689"/>
                        <a:pt x="0" y="279400"/>
                      </a:cubicBezTo>
                      <a:lnTo>
                        <a:pt x="0" y="34925"/>
                      </a:lnTo>
                      <a:cubicBezTo>
                        <a:pt x="0" y="15636"/>
                        <a:pt x="15636" y="0"/>
                        <a:pt x="34925" y="0"/>
                      </a:cubicBezTo>
                      <a:lnTo>
                        <a:pt x="157162" y="0"/>
                      </a:lnTo>
                      <a:lnTo>
                        <a:pt x="244475" y="87313"/>
                      </a:lnTo>
                      <a:lnTo>
                        <a:pt x="244475" y="174625"/>
                      </a:lnTo>
                      <a:moveTo>
                        <a:pt x="157162" y="279400"/>
                      </a:moveTo>
                      <a:lnTo>
                        <a:pt x="279400" y="279400"/>
                      </a:lnTo>
                      <a:moveTo>
                        <a:pt x="227012" y="227012"/>
                      </a:moveTo>
                      <a:lnTo>
                        <a:pt x="279400" y="279400"/>
                      </a:lnTo>
                      <a:lnTo>
                        <a:pt x="227012" y="33178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10038398" y="36861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下载交付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791879" y="4012406"/>
                <a:ext cx="137124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SVG / JSON / WebM</a:t>
                </a: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895350" y="4953000"/>
            <a:ext cx="10842165" cy="723900"/>
            <a:chOff x="895350" y="4953000"/>
            <a:chExt cx="10842165" cy="723900"/>
          </a:xfrm>
        </p:grpSpPr>
        <p:sp>
          <p:nvSpPr>
            <p:cNvPr id="67" name="Rectangle 67"/>
            <p:cNvSpPr/>
            <p:nvPr/>
          </p:nvSpPr>
          <p:spPr>
            <a:xfrm>
              <a:off x="895350" y="4953000"/>
              <a:ext cx="10401300" cy="723900"/>
            </a:xfrm>
            <a:prstGeom prst="roundRect">
              <a:avLst>
                <a:gd name="adj" fmla="val 10526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143000" y="507682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推荐现场演示口径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44905" y="5378768"/>
              <a:ext cx="105926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画一个“输入数据 → 模型 → 评测指标”的简单草图，再用语音补充中间步骤，最后展示 Mermaid、SVG、JSON、终稿图和讲解 WebM。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71" name="TextBox 71"/>
            <p:cNvSpPr txBox="1"/>
            <p:nvPr/>
          </p:nvSpPr>
          <p:spPr>
            <a:xfrm>
              <a:off x="560070" y="6379845"/>
              <a:ext cx="17090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Live Demo Flow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7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8007572" cy="743903"/>
            <a:chOff x="537210" y="394335"/>
            <a:chExt cx="8007572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80075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系统架构：前端交互、后端服务和模型能力分层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66771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产品闭环由浏览器工作台、FastAPI 接口、结构化模型、图像与语音服务共同完成。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38200" y="1409700"/>
            <a:ext cx="10963276" cy="4495800"/>
            <a:chOff x="838200" y="1409700"/>
            <a:chExt cx="10963276" cy="4495800"/>
          </a:xfrm>
        </p:grpSpPr>
        <p:grpSp>
          <p:nvGrpSpPr>
            <p:cNvPr id="15" name="Group 15"/>
            <p:cNvGrpSpPr/>
            <p:nvPr/>
          </p:nvGrpSpPr>
          <p:grpSpPr>
            <a:xfrm>
              <a:off x="838200" y="1409700"/>
              <a:ext cx="10515600" cy="914400"/>
              <a:chOff x="838200" y="1409700"/>
              <a:chExt cx="10515600" cy="914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838200" y="1409700"/>
                <a:ext cx="105156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E0F2FE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066800" y="163830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1214438" y="1778000"/>
                <a:ext cx="200025" cy="187325"/>
                <a:chOff x="1214438" y="1778000"/>
                <a:chExt cx="200025" cy="187325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1214438" y="1778000"/>
                  <a:ext cx="2000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3335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2" y="0"/>
                      </a:cubicBezTo>
                      <a:lnTo>
                        <a:pt x="188913" y="0"/>
                      </a:lnTo>
                      <a:cubicBezTo>
                        <a:pt x="195050" y="0"/>
                        <a:pt x="200025" y="4975"/>
                        <a:pt x="200025" y="11113"/>
                      </a:cubicBezTo>
                      <a:lnTo>
                        <a:pt x="200025" y="122238"/>
                      </a:lnTo>
                      <a:cubicBezTo>
                        <a:pt x="200025" y="128375"/>
                        <a:pt x="195050" y="133350"/>
                        <a:pt x="188913" y="133350"/>
                      </a:cubicBezTo>
                      <a:lnTo>
                        <a:pt x="11112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258888" y="195580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281112" y="191135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347788" y="191135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827848" y="1582579"/>
                <a:ext cx="114264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前端工作台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31658" y="1919764"/>
                <a:ext cx="462295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画布、录音、上传、标签页预览、下载、讲解播放和光标动画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38200" y="2552700"/>
              <a:ext cx="10963276" cy="914400"/>
              <a:chOff x="838200" y="2552700"/>
              <a:chExt cx="10963276" cy="9144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838200" y="2552700"/>
                <a:ext cx="105156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066800" y="278130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1214438" y="2921000"/>
                <a:ext cx="200025" cy="177800"/>
                <a:chOff x="1214438" y="2921000"/>
                <a:chExt cx="200025" cy="17780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1214438" y="2921000"/>
                  <a:ext cx="20002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099" y="0"/>
                        <a:pt x="200025" y="14926"/>
                        <a:pt x="200025" y="33338"/>
                      </a:cubicBezTo>
                      <a:lnTo>
                        <a:pt x="200025" y="55562"/>
                      </a:lnTo>
                      <a:cubicBezTo>
                        <a:pt x="200025" y="73974"/>
                        <a:pt x="185099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4"/>
                        <a:pt x="0" y="55562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214438" y="3009900"/>
                  <a:ext cx="20002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099" y="0"/>
                        <a:pt x="200025" y="14926"/>
                        <a:pt x="200025" y="33338"/>
                      </a:cubicBezTo>
                      <a:lnTo>
                        <a:pt x="200025" y="55562"/>
                      </a:lnTo>
                      <a:cubicBezTo>
                        <a:pt x="200025" y="73974"/>
                        <a:pt x="185099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4"/>
                        <a:pt x="0" y="55562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258888" y="2965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258888" y="30543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827848" y="2725579"/>
                <a:ext cx="156164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FastAPI 服务层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832610" y="3070860"/>
                <a:ext cx="42150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/api/generate /api/render-image /api/narrate-image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708708" y="3005614"/>
                <a:ext cx="309276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统一接收草图、音频、文本和结构化结果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38200" y="3695700"/>
              <a:ext cx="10515600" cy="1066800"/>
              <a:chOff x="838200" y="3695700"/>
              <a:chExt cx="10515600" cy="10668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838200" y="3695700"/>
                <a:ext cx="1051560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1066800" y="398145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EF3C7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1214438" y="4110038"/>
                <a:ext cx="200025" cy="200025"/>
                <a:chOff x="1214438" y="4110038"/>
                <a:chExt cx="200025" cy="200025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1214438" y="411003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33338" y="200025"/>
                      </a:moveTo>
                      <a:lnTo>
                        <a:pt x="200025" y="33338"/>
                      </a:lnTo>
                      <a:lnTo>
                        <a:pt x="166688" y="0"/>
                      </a:lnTo>
                      <a:lnTo>
                        <a:pt x="0" y="166688"/>
                      </a:lnTo>
                      <a:lnTo>
                        <a:pt x="33338" y="20002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347788" y="4143375"/>
                  <a:ext cx="33338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33338">
                      <a:moveTo>
                        <a:pt x="0" y="0"/>
                      </a:moveTo>
                      <a:lnTo>
                        <a:pt x="33338" y="33338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258888" y="4110038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22225" y="0"/>
                      </a:moveTo>
                      <a:cubicBezTo>
                        <a:pt x="22225" y="12275"/>
                        <a:pt x="32175" y="22225"/>
                        <a:pt x="44450" y="22225"/>
                      </a:cubicBezTo>
                      <a:cubicBezTo>
                        <a:pt x="32175" y="22225"/>
                        <a:pt x="22225" y="32175"/>
                        <a:pt x="22225" y="44450"/>
                      </a:cubicBezTo>
                      <a:cubicBezTo>
                        <a:pt x="22225" y="32175"/>
                        <a:pt x="12275" y="22225"/>
                        <a:pt x="0" y="22225"/>
                      </a:cubicBezTo>
                      <a:cubicBezTo>
                        <a:pt x="12275" y="22225"/>
                        <a:pt x="22225" y="12275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370012" y="4221162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22225" y="0"/>
                      </a:moveTo>
                      <a:cubicBezTo>
                        <a:pt x="22225" y="12275"/>
                        <a:pt x="32175" y="22225"/>
                        <a:pt x="44450" y="22225"/>
                      </a:cubicBezTo>
                      <a:cubicBezTo>
                        <a:pt x="32175" y="22225"/>
                        <a:pt x="22225" y="32175"/>
                        <a:pt x="22225" y="44450"/>
                      </a:cubicBezTo>
                      <a:cubicBezTo>
                        <a:pt x="22225" y="32175"/>
                        <a:pt x="12275" y="22225"/>
                        <a:pt x="0" y="22225"/>
                      </a:cubicBezTo>
                      <a:cubicBezTo>
                        <a:pt x="12275" y="22225"/>
                        <a:pt x="22225" y="12275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1827848" y="3830479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模型与生成服务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831658" y="4167664"/>
                <a:ext cx="618715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ASR 转写、多模态结构化、豆包草稿图、OpenAI 终稿图、OpenAI/豆包/Mock TTS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1847850" y="4457700"/>
                <a:ext cx="1619250" cy="209550"/>
              </a:xfrm>
              <a:prstGeom prst="roundRect">
                <a:avLst>
                  <a:gd name="adj" fmla="val 36364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2216039" y="4504849"/>
                <a:ext cx="88287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mock fallback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838200" y="4991100"/>
              <a:ext cx="10515600" cy="914400"/>
              <a:chOff x="838200" y="4991100"/>
              <a:chExt cx="10515600" cy="9144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838200" y="4991100"/>
                <a:ext cx="105156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CCFBF1"/>
              </a:solidFill>
              <a:ln w="9525">
                <a:solidFill>
                  <a:srgbClr val="0F766E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1066800" y="521970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1236662" y="5348288"/>
                <a:ext cx="177800" cy="211137"/>
                <a:chOff x="1236662" y="5348288"/>
                <a:chExt cx="177800" cy="211137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1336675" y="5348288"/>
                  <a:ext cx="55562" cy="55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55563">
                      <a:moveTo>
                        <a:pt x="0" y="0"/>
                      </a:moveTo>
                      <a:lnTo>
                        <a:pt x="0" y="44450"/>
                      </a:lnTo>
                      <a:cubicBezTo>
                        <a:pt x="0" y="50587"/>
                        <a:pt x="4975" y="55563"/>
                        <a:pt x="11112" y="55563"/>
                      </a:cubicBezTo>
                      <a:lnTo>
                        <a:pt x="55562" y="55563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236662" y="5348288"/>
                  <a:ext cx="177800" cy="211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11137">
                      <a:moveTo>
                        <a:pt x="72231" y="200025"/>
                      </a:moveTo>
                      <a:lnTo>
                        <a:pt x="22225" y="200025"/>
                      </a:lnTo>
                      <a:cubicBezTo>
                        <a:pt x="9950" y="200025"/>
                        <a:pt x="0" y="190075"/>
                        <a:pt x="0" y="177800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00012" y="0"/>
                      </a:lnTo>
                      <a:lnTo>
                        <a:pt x="155575" y="55563"/>
                      </a:lnTo>
                      <a:lnTo>
                        <a:pt x="155575" y="111125"/>
                      </a:lnTo>
                      <a:moveTo>
                        <a:pt x="100012" y="177800"/>
                      </a:moveTo>
                      <a:lnTo>
                        <a:pt x="177800" y="177800"/>
                      </a:lnTo>
                      <a:moveTo>
                        <a:pt x="144462" y="144462"/>
                      </a:moveTo>
                      <a:lnTo>
                        <a:pt x="177800" y="177800"/>
                      </a:lnTo>
                      <a:lnTo>
                        <a:pt x="144462" y="211137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1827848" y="5163979"/>
                <a:ext cx="136317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输出与导出层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831658" y="5501164"/>
                <a:ext cx="48099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Mermaid、SVG、JSON、AI 图像、讲解音频、浏览器录制 WebM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8915400" y="1695450"/>
            <a:ext cx="2000250" cy="4057650"/>
            <a:chOff x="8915400" y="1695450"/>
            <a:chExt cx="2000250" cy="4057650"/>
          </a:xfrm>
        </p:grpSpPr>
        <p:sp>
          <p:nvSpPr>
            <p:cNvPr id="48" name="Rectangle 48"/>
            <p:cNvSpPr/>
            <p:nvPr/>
          </p:nvSpPr>
          <p:spPr>
            <a:xfrm>
              <a:off x="8915400" y="1695450"/>
              <a:ext cx="200025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28201" y="183261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用户看到的是闭环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915400" y="5334000"/>
              <a:ext cx="200025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12212" y="54711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系统内部是分层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3" name="TextBox 53"/>
            <p:cNvSpPr txBox="1"/>
            <p:nvPr/>
          </p:nvSpPr>
          <p:spPr>
            <a:xfrm>
              <a:off x="560070" y="6379845"/>
              <a:ext cx="16190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Architecture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6873430" cy="743903"/>
            <a:chOff x="537210" y="394335"/>
            <a:chExt cx="6873430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68734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科研侧：把产品需求抽象成结构恢复任务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63530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从产品角度看是“语音画图工具”，从科研角度看是语音引导的知识草图结构化。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28750"/>
            <a:ext cx="5561647" cy="4000500"/>
            <a:chOff x="666750" y="1428750"/>
            <a:chExt cx="5561647" cy="4000500"/>
          </a:xfrm>
        </p:grpSpPr>
        <p:sp>
          <p:nvSpPr>
            <p:cNvPr id="6" name="Rectangle 6"/>
            <p:cNvSpPr/>
            <p:nvPr/>
          </p:nvSpPr>
          <p:spPr>
            <a:xfrm>
              <a:off x="666750" y="1428750"/>
              <a:ext cx="4762500" cy="4000500"/>
            </a:xfrm>
            <a:prstGeom prst="roundRect">
              <a:avLst>
                <a:gd name="adj" fmla="val 190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954405" y="1673542"/>
              <a:ext cx="1668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关键转折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58215" y="2296478"/>
              <a:ext cx="184999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不是把草图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58215" y="275367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直接画漂亮，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58215" y="3363278"/>
              <a:ext cx="14929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而是恢复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8215" y="3820478"/>
              <a:ext cx="292112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可编辑知识结构。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90600" y="4552950"/>
              <a:ext cx="36195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55E75"/>
                </a:gs>
                <a:gs pos="100000">
                  <a:srgbClr val="0F766E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73455" y="4864418"/>
              <a:ext cx="52549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草图负责二维布局，语音负责语义锚点，系统恢复结构化图表示。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905500" y="1428750"/>
            <a:ext cx="6357118" cy="4000500"/>
            <a:chOff x="5905500" y="1428750"/>
            <a:chExt cx="6357118" cy="4000500"/>
          </a:xfrm>
        </p:grpSpPr>
        <p:sp>
          <p:nvSpPr>
            <p:cNvPr id="15" name="Rectangle 15"/>
            <p:cNvSpPr/>
            <p:nvPr/>
          </p:nvSpPr>
          <p:spPr>
            <a:xfrm>
              <a:off x="5905500" y="1428750"/>
              <a:ext cx="5619750" cy="4000500"/>
            </a:xfrm>
            <a:prstGeom prst="roundRect">
              <a:avLst>
                <a:gd name="adj" fmla="val 190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6191250" y="1752600"/>
              <a:ext cx="571500" cy="571500"/>
            </a:xfrm>
            <a:prstGeom prst="roundRect">
              <a:avLst>
                <a:gd name="adj" fmla="val 13333"/>
              </a:avLst>
            </a:prstGeom>
            <a:solidFill>
              <a:srgbClr val="E0F2FE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6362700" y="1924050"/>
              <a:ext cx="228600" cy="228600"/>
              <a:chOff x="6362700" y="1924050"/>
              <a:chExt cx="228600" cy="228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464300" y="20256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413500" y="19748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362700" y="19240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949440" y="1815465"/>
              <a:ext cx="53131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Speech-Guided Sketch-to-Knowledge-Graph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56108" y="218646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语音引导的知识草图结构化任务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191250" y="26479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64592" y="2899886"/>
              <a:ext cx="139638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Input: S + U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69355" y="3245168"/>
              <a:ext cx="39677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 是手绘草图，提供模块位置、箭头和空间关系。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69355" y="3530918"/>
              <a:ext cx="43278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U 是同步语音，提供节点名称、关系方向和设计意图。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496050" y="3981450"/>
              <a:ext cx="4324350" cy="1"/>
            </a:xfrm>
            <a:prstGeom prst="line">
              <a:avLst/>
            </a:prstGeom>
            <a:noFill/>
            <a:ln w="38100">
              <a:solidFill>
                <a:srgbClr val="0F766E"/>
              </a:solidFill>
              <a:tailEnd type="triangle" w="lg" len="lg"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64592" y="4290536"/>
              <a:ext cx="277310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Output: G_hat = (V, E)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69355" y="4635818"/>
              <a:ext cx="57950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节点包含标签、类型、解释和置信度；边包含方向、关系类型和置信度。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69355" y="4921568"/>
              <a:ext cx="49129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评测从“像不像”转为结构是否恢复正确、修改成本是否下降。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43000" y="5715000"/>
            <a:ext cx="9906000" cy="419100"/>
            <a:chOff x="1143000" y="5715000"/>
            <a:chExt cx="9906000" cy="419100"/>
          </a:xfrm>
        </p:grpSpPr>
        <p:sp>
          <p:nvSpPr>
            <p:cNvPr id="32" name="Rectangle 32"/>
            <p:cNvSpPr/>
            <p:nvPr/>
          </p:nvSpPr>
          <p:spPr>
            <a:xfrm>
              <a:off x="1143000" y="5715000"/>
              <a:ext cx="9906000" cy="419100"/>
            </a:xfrm>
            <a:prstGeom prst="roundRect">
              <a:avLst>
                <a:gd name="adj" fmla="val 18182"/>
              </a:avLst>
            </a:prstGeom>
            <a:solidFill>
              <a:srgbClr val="CCFBF1"/>
            </a:solidFill>
            <a:ln w="9525">
              <a:solidFill>
                <a:srgbClr val="0F766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286929" y="5827871"/>
              <a:ext cx="761814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三个假设：语音补节点标签，叙述顺序纠正边方向，显式编辑路径降低用户修改成本。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35" name="TextBox 35"/>
            <p:cNvSpPr txBox="1"/>
            <p:nvPr/>
          </p:nvSpPr>
          <p:spPr>
            <a:xfrm>
              <a:off x="560070" y="6379845"/>
              <a:ext cx="22911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Research Task Definition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1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75285"/>
            <a:ext cx="8347815" cy="762953"/>
            <a:chOff x="537210" y="375285"/>
            <a:chExt cx="8347815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75285"/>
              <a:ext cx="834781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MMSB-Graph：把多模态输入放进同一图状态空间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72531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核心不是直接“画好看”，而是在离散知识图空间里求一条低代价、可解释的结构恢复路径。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" y="1600200"/>
            <a:ext cx="2667000" cy="4133850"/>
            <a:chOff x="666750" y="1600200"/>
            <a:chExt cx="2667000" cy="4133850"/>
          </a:xfrm>
        </p:grpSpPr>
        <p:grpSp>
          <p:nvGrpSpPr>
            <p:cNvPr id="14" name="Group 14"/>
            <p:cNvGrpSpPr/>
            <p:nvPr/>
          </p:nvGrpSpPr>
          <p:grpSpPr>
            <a:xfrm>
              <a:off x="666750" y="1600200"/>
              <a:ext cx="2667000" cy="1123950"/>
              <a:chOff x="666750" y="1600200"/>
              <a:chExt cx="2667000" cy="11239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66750" y="1600200"/>
                <a:ext cx="2667000" cy="1123950"/>
              </a:xfrm>
              <a:prstGeom prst="roundRect">
                <a:avLst>
                  <a:gd name="adj" fmla="val 678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7" name="Rectangle 7"/>
              <p:cNvSpPr/>
              <p:nvPr/>
            </p:nvSpPr>
            <p:spPr>
              <a:xfrm>
                <a:off x="666750" y="1600200"/>
                <a:ext cx="76200" cy="112395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</p:sp>
          <p:grpSp>
            <p:nvGrpSpPr>
              <p:cNvPr id="10" name="Group 10"/>
              <p:cNvGrpSpPr/>
              <p:nvPr/>
            </p:nvGrpSpPr>
            <p:grpSpPr>
              <a:xfrm>
                <a:off x="1016000" y="1936677"/>
                <a:ext cx="247723" cy="247723"/>
                <a:chOff x="1016000" y="1936677"/>
                <a:chExt cx="247723" cy="247723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1016000" y="1936677"/>
                  <a:ext cx="247723" cy="247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723" h="247723">
                      <a:moveTo>
                        <a:pt x="0" y="247723"/>
                      </a:moveTo>
                      <a:lnTo>
                        <a:pt x="63500" y="247723"/>
                      </a:lnTo>
                      <a:lnTo>
                        <a:pt x="230188" y="81035"/>
                      </a:lnTo>
                      <a:cubicBezTo>
                        <a:pt x="247723" y="63500"/>
                        <a:pt x="247723" y="35070"/>
                        <a:pt x="230188" y="17535"/>
                      </a:cubicBezTo>
                      <a:cubicBezTo>
                        <a:pt x="212652" y="0"/>
                        <a:pt x="184223" y="0"/>
                        <a:pt x="166688" y="17535"/>
                      </a:cubicBezTo>
                      <a:lnTo>
                        <a:pt x="0" y="184223"/>
                      </a:lnTo>
                      <a:lnTo>
                        <a:pt x="0" y="247723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166812" y="1970088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63500" y="6350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11" name="TextBox 11"/>
              <p:cNvSpPr txBox="1"/>
              <p:nvPr/>
            </p:nvSpPr>
            <p:spPr>
              <a:xfrm>
                <a:off x="1483995" y="1831658"/>
                <a:ext cx="29604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Gs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87805" y="21212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草图边缘约束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38212" y="24503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位置、邻接、箭头粗方向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66750" y="3105150"/>
              <a:ext cx="2667000" cy="1123950"/>
              <a:chOff x="666750" y="3105150"/>
              <a:chExt cx="2667000" cy="11239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66750" y="3105150"/>
                <a:ext cx="2667000" cy="1123950"/>
              </a:xfrm>
              <a:prstGeom prst="roundRect">
                <a:avLst>
                  <a:gd name="adj" fmla="val 678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66750" y="3105150"/>
                <a:ext cx="76200" cy="1123950"/>
              </a:xfrm>
              <a:prstGeom prst="roundRect">
                <a:avLst>
                  <a:gd name="adj" fmla="val 50000"/>
                </a:avLst>
              </a:prstGeom>
              <a:solidFill>
                <a:srgbClr val="0F766E"/>
              </a:solidFill>
              <a:ln>
                <a:noFill/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1031875" y="3403600"/>
                <a:ext cx="222250" cy="311150"/>
                <a:chOff x="1031875" y="3403600"/>
                <a:chExt cx="222250" cy="31115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1095375" y="3403600"/>
                  <a:ext cx="95250" cy="17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74625">
                      <a:moveTo>
                        <a:pt x="0" y="47625"/>
                      </a:moveTo>
                      <a:cubicBezTo>
                        <a:pt x="0" y="21322"/>
                        <a:pt x="21322" y="0"/>
                        <a:pt x="47625" y="0"/>
                      </a:cubicBezTo>
                      <a:cubicBezTo>
                        <a:pt x="73928" y="0"/>
                        <a:pt x="95250" y="21322"/>
                        <a:pt x="95250" y="47625"/>
                      </a:cubicBezTo>
                      <a:lnTo>
                        <a:pt x="95250" y="127000"/>
                      </a:lnTo>
                      <a:cubicBezTo>
                        <a:pt x="95250" y="153303"/>
                        <a:pt x="73928" y="174625"/>
                        <a:pt x="47625" y="174625"/>
                      </a:cubicBezTo>
                      <a:cubicBezTo>
                        <a:pt x="21322" y="174625"/>
                        <a:pt x="0" y="153303"/>
                        <a:pt x="0" y="127000"/>
                      </a:cubicBezTo>
                      <a:lnTo>
                        <a:pt x="0" y="47625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031875" y="3530600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>
                      <a:moveTo>
                        <a:pt x="0" y="0"/>
                      </a:moveTo>
                      <a:cubicBezTo>
                        <a:pt x="0" y="61373"/>
                        <a:pt x="49752" y="111125"/>
                        <a:pt x="111125" y="111125"/>
                      </a:cubicBezTo>
                      <a:cubicBezTo>
                        <a:pt x="172498" y="111125"/>
                        <a:pt x="222250" y="61373"/>
                        <a:pt x="222250" y="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079500" y="3705225"/>
                  <a:ext cx="127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9525">
                      <a:moveTo>
                        <a:pt x="0" y="0"/>
                      </a:move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143000" y="3641725"/>
                  <a:ext cx="952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3500">
                      <a:moveTo>
                        <a:pt x="0" y="0"/>
                      </a:moveTo>
                      <a:lnTo>
                        <a:pt x="0" y="6350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1483995" y="3336608"/>
                <a:ext cx="29604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Gu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487805" y="36261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语音语义约束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38212" y="3955256"/>
                <a:ext cx="1828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节点标签、顺序、关系意图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66750" y="4610100"/>
              <a:ext cx="2667000" cy="1123950"/>
              <a:chOff x="666750" y="4610100"/>
              <a:chExt cx="2667000" cy="11239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666750" y="4610100"/>
                <a:ext cx="2667000" cy="1123950"/>
              </a:xfrm>
              <a:prstGeom prst="roundRect">
                <a:avLst>
                  <a:gd name="adj" fmla="val 678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66750" y="4610100"/>
                <a:ext cx="76200" cy="1123950"/>
              </a:xfrm>
              <a:prstGeom prst="roundRect">
                <a:avLst>
                  <a:gd name="adj" fmla="val 50000"/>
                </a:avLst>
              </a:prstGeom>
              <a:solidFill>
                <a:srgbClr val="F59E0B"/>
              </a:solidFill>
              <a:ln>
                <a:noFill/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1015989" y="4940300"/>
                <a:ext cx="254011" cy="254000"/>
                <a:chOff x="1015989" y="4940300"/>
                <a:chExt cx="254011" cy="254000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1079500" y="500380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174625" y="4254"/>
                      </a:moveTo>
                      <a:cubicBezTo>
                        <a:pt x="184448" y="9926"/>
                        <a:pt x="190500" y="20407"/>
                        <a:pt x="190500" y="31750"/>
                      </a:cubicBezTo>
                      <a:lnTo>
                        <a:pt x="190500" y="158750"/>
                      </a:lnTo>
                      <a:cubicBezTo>
                        <a:pt x="190500" y="176285"/>
                        <a:pt x="176285" y="190500"/>
                        <a:pt x="158750" y="190500"/>
                      </a:cubicBezTo>
                      <a:lnTo>
                        <a:pt x="31750" y="190500"/>
                      </a:lnTo>
                      <a:cubicBezTo>
                        <a:pt x="14215" y="190500"/>
                        <a:pt x="0" y="176285"/>
                        <a:pt x="0" y="158750"/>
                      </a:cubicBez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79375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015989" y="4940300"/>
                  <a:ext cx="190511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11" h="190500">
                      <a:moveTo>
                        <a:pt x="15886" y="186277"/>
                      </a:moveTo>
                      <a:cubicBezTo>
                        <a:pt x="6053" y="180600"/>
                        <a:pt x="0" y="170104"/>
                        <a:pt x="11" y="158750"/>
                      </a:cubicBezTo>
                      <a:lnTo>
                        <a:pt x="11" y="31750"/>
                      </a:lnTo>
                      <a:cubicBezTo>
                        <a:pt x="11" y="14215"/>
                        <a:pt x="14226" y="0"/>
                        <a:pt x="31761" y="0"/>
                      </a:cubicBezTo>
                      <a:lnTo>
                        <a:pt x="158761" y="0"/>
                      </a:lnTo>
                      <a:cubicBezTo>
                        <a:pt x="176296" y="0"/>
                        <a:pt x="190511" y="14215"/>
                        <a:pt x="190511" y="31750"/>
                      </a:cubicBezTo>
                      <a:lnTo>
                        <a:pt x="190511" y="158750"/>
                      </a:lnTo>
                      <a:cubicBezTo>
                        <a:pt x="190511" y="176285"/>
                        <a:pt x="176296" y="190500"/>
                        <a:pt x="158761" y="190500"/>
                      </a:cubicBezTo>
                      <a:lnTo>
                        <a:pt x="111136" y="19050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1483995" y="4841558"/>
                <a:ext cx="29604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59E0B"/>
                    </a:solidFill>
                    <a:latin typeface="Consolas"/>
                    <a:ea typeface="Microsoft YaHei"/>
                    <a:cs typeface="Consolas"/>
                  </a:rPr>
                  <a:t>Gf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487805" y="51311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早期融合候选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38212" y="546020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初始图与多模态锚点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3371850" y="1695450"/>
            <a:ext cx="7161966" cy="3467100"/>
            <a:chOff x="3371850" y="1695450"/>
            <a:chExt cx="7161966" cy="3467100"/>
          </a:xfrm>
        </p:grpSpPr>
        <p:sp>
          <p:nvSpPr>
            <p:cNvPr id="36" name="Freeform 36"/>
            <p:cNvSpPr/>
            <p:nvPr/>
          </p:nvSpPr>
          <p:spPr>
            <a:xfrm>
              <a:off x="3371850" y="2152650"/>
              <a:ext cx="1733550" cy="1200150"/>
            </a:xfrm>
            <a:custGeom>
              <a:avLst/>
              <a:gdLst/>
              <a:ahLst/>
              <a:cxnLst/>
              <a:rect l="l" t="t" r="r" b="b"/>
              <a:pathLst>
                <a:path w="1733550" h="1200150">
                  <a:moveTo>
                    <a:pt x="0" y="0"/>
                  </a:moveTo>
                  <a:cubicBezTo>
                    <a:pt x="933450" y="0"/>
                    <a:pt x="962025" y="990600"/>
                    <a:pt x="1733550" y="1200150"/>
                  </a:cubicBezTo>
                </a:path>
              </a:pathLst>
            </a:custGeom>
            <a:noFill/>
            <a:ln w="28575">
              <a:solidFill>
                <a:srgbClr val="2563EB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3371850" y="3448050"/>
              <a:ext cx="1733550" cy="209550"/>
            </a:xfrm>
            <a:custGeom>
              <a:avLst/>
              <a:gdLst/>
              <a:ahLst/>
              <a:cxnLst/>
              <a:rect l="l" t="t" r="r" b="b"/>
              <a:pathLst>
                <a:path w="1733550" h="209550">
                  <a:moveTo>
                    <a:pt x="0" y="209550"/>
                  </a:moveTo>
                  <a:cubicBezTo>
                    <a:pt x="914400" y="209550"/>
                    <a:pt x="1047750" y="114300"/>
                    <a:pt x="1733550" y="0"/>
                  </a:cubicBezTo>
                </a:path>
              </a:pathLst>
            </a:cu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3371850" y="3543300"/>
              <a:ext cx="1733550" cy="1619250"/>
            </a:xfrm>
            <a:custGeom>
              <a:avLst/>
              <a:gdLst/>
              <a:ahLst/>
              <a:cxnLst/>
              <a:rect l="l" t="t" r="r" b="b"/>
              <a:pathLst>
                <a:path w="1733550" h="1619250">
                  <a:moveTo>
                    <a:pt x="0" y="1619250"/>
                  </a:moveTo>
                  <a:cubicBezTo>
                    <a:pt x="933450" y="1619250"/>
                    <a:pt x="962025" y="247650"/>
                    <a:pt x="1733550" y="0"/>
                  </a:cubicBezTo>
                </a:path>
              </a:pathLst>
            </a:custGeom>
            <a:noFill/>
            <a:ln w="28575">
              <a:solidFill>
                <a:srgbClr val="F59E0B"/>
              </a:solidFill>
              <a:tailEnd type="triangle" w="lg" len="lg"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143500" y="1695450"/>
              <a:ext cx="3429000" cy="3467100"/>
            </a:xfrm>
            <a:prstGeom prst="roundRect">
              <a:avLst>
                <a:gd name="adj" fmla="val 2222"/>
              </a:avLst>
            </a:prstGeom>
            <a:solidFill>
              <a:srgbClr val="155E75"/>
            </a:solidFill>
            <a:ln>
              <a:noFill/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5949220" y="194500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离散图编辑桥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78762" y="2338864"/>
              <a:ext cx="25584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CCFBF1"/>
                  </a:solidFill>
                  <a:latin typeface="Consolas"/>
                  <a:ea typeface="Microsoft YaHei"/>
                  <a:cs typeface="Consolas"/>
                </a:rPr>
                <a:t>P(G0:T) in graph state space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5657850" y="3105150"/>
              <a:ext cx="2400300" cy="952500"/>
              <a:chOff x="5657850" y="3105150"/>
              <a:chExt cx="2400300" cy="95250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5657850" y="3105150"/>
                <a:ext cx="457200" cy="457200"/>
              </a:xfrm>
              <a:prstGeom prst="ellipse">
                <a:avLst/>
              </a:prstGeom>
              <a:solidFill>
                <a:srgbClr val="E0F2FE"/>
              </a:solidFill>
              <a:ln w="19050">
                <a:solidFill>
                  <a:srgbClr val="FFFFFF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6305550" y="3105150"/>
                <a:ext cx="457200" cy="457200"/>
              </a:xfrm>
              <a:prstGeom prst="ellipse">
                <a:avLst/>
              </a:prstGeom>
              <a:solidFill>
                <a:srgbClr val="CCFBF1"/>
              </a:solidFill>
              <a:ln w="19050">
                <a:solidFill>
                  <a:srgbClr val="FFFFFF"/>
                </a:solidFill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6953250" y="3105150"/>
                <a:ext cx="457200" cy="457200"/>
              </a:xfrm>
              <a:prstGeom prst="ellipse">
                <a:avLst/>
              </a:prstGeom>
              <a:solidFill>
                <a:srgbClr val="FEF3C7"/>
              </a:solidFill>
              <a:ln w="19050">
                <a:solidFill>
                  <a:srgbClr val="FFFFFF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7600950" y="3105150"/>
                <a:ext cx="457200" cy="457200"/>
              </a:xfrm>
              <a:prstGeom prst="ellipse">
                <a:avLst/>
              </a:prstGeom>
              <a:solidFill>
                <a:srgbClr val="DCFCE7"/>
              </a:solidFill>
              <a:ln w="19050">
                <a:solidFill>
                  <a:srgbClr val="FFFFFF"/>
                </a:solidFill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6115050" y="3333750"/>
                <a:ext cx="190500" cy="1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tailEnd type="triangle" w="lg" len="lg"/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6762750" y="3333750"/>
                <a:ext cx="190500" cy="1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tailEnd type="triangle" w="lg" len="lg"/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7410450" y="3333750"/>
                <a:ext cx="190500" cy="1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tailEnd type="triangle" w="lg" len="lg"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5783199" y="3813810"/>
                <a:ext cx="20650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E0F2FE"/>
                    </a:solidFill>
                    <a:latin typeface="Consolas"/>
                    <a:ea typeface="Microsoft YaHei"/>
                    <a:cs typeface="Consolas"/>
                  </a:rPr>
                  <a:t>G0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430899" y="3813810"/>
                <a:ext cx="20650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E0F2FE"/>
                    </a:solidFill>
                    <a:latin typeface="Consolas"/>
                    <a:ea typeface="Microsoft YaHei"/>
                    <a:cs typeface="Consolas"/>
                  </a:rPr>
                  <a:t>G1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034594" y="3813810"/>
                <a:ext cx="2945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E0F2FE"/>
                    </a:solidFill>
                    <a:latin typeface="Consolas"/>
                    <a:ea typeface="Microsoft YaHei"/>
                    <a:cs typeface="Consolas"/>
                  </a:rPr>
                  <a:t>...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726299" y="3813810"/>
                <a:ext cx="20650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E0F2FE"/>
                    </a:solidFill>
                    <a:latin typeface="Consolas"/>
                    <a:ea typeface="Microsoft YaHei"/>
                    <a:cs typeface="Consolas"/>
                  </a:rPr>
                  <a:t>GT</a:t>
                </a:r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5470208" y="4339114"/>
              <a:ext cx="32190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min_P KL(P||R) + λs Cs + λu Cu + λf Cf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472112" y="4688681"/>
              <a:ext cx="5061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R 是允许节点/边编辑的参考过程，三个 λ 控制草图、语音、融合约束权重。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610600" y="1981200"/>
            <a:ext cx="2914650" cy="2895600"/>
            <a:chOff x="8610600" y="1981200"/>
            <a:chExt cx="2914650" cy="2895600"/>
          </a:xfrm>
        </p:grpSpPr>
        <p:sp>
          <p:nvSpPr>
            <p:cNvPr id="57" name="Freeform 57"/>
            <p:cNvSpPr/>
            <p:nvPr/>
          </p:nvSpPr>
          <p:spPr>
            <a:xfrm>
              <a:off x="8610600" y="3429000"/>
              <a:ext cx="1085850" cy="9525"/>
            </a:xfrm>
            <a:custGeom>
              <a:avLst/>
              <a:gdLst/>
              <a:ahLst/>
              <a:cxnLst/>
              <a:rect l="l" t="t" r="r" b="b"/>
              <a:pathLst>
                <a:path w="1085850" h="9525">
                  <a:moveTo>
                    <a:pt x="0" y="0"/>
                  </a:moveTo>
                  <a:cubicBezTo>
                    <a:pt x="533400" y="0"/>
                    <a:pt x="685800" y="0"/>
                    <a:pt x="1085850" y="0"/>
                  </a:cubicBezTo>
                </a:path>
              </a:pathLst>
            </a:cu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715500" y="1981200"/>
              <a:ext cx="1809750" cy="289560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62" name="Group 62"/>
            <p:cNvGrpSpPr/>
            <p:nvPr/>
          </p:nvGrpSpPr>
          <p:grpSpPr>
            <a:xfrm>
              <a:off x="10477500" y="2400300"/>
              <a:ext cx="342900" cy="342900"/>
              <a:chOff x="10477500" y="2400300"/>
              <a:chExt cx="342900" cy="3429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10629900" y="25527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0553700" y="24765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147855"/>
                      <a:pt x="42645" y="190500"/>
                      <a:pt x="95250" y="190500"/>
                    </a:cubicBezTo>
                    <a:cubicBezTo>
                      <a:pt x="147855" y="190500"/>
                      <a:pt x="190500" y="147855"/>
                      <a:pt x="190500" y="95250"/>
                    </a:cubicBez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0477500" y="240030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0" y="171450"/>
                    </a:moveTo>
                    <a:cubicBezTo>
                      <a:pt x="0" y="266139"/>
                      <a:pt x="76761" y="342900"/>
                      <a:pt x="171450" y="342900"/>
                    </a:cubicBezTo>
                    <a:cubicBezTo>
                      <a:pt x="266139" y="342900"/>
                      <a:pt x="342900" y="266139"/>
                      <a:pt x="342900" y="171450"/>
                    </a:cubicBezTo>
                    <a:cubicBezTo>
                      <a:pt x="342900" y="76761"/>
                      <a:pt x="266139" y="0"/>
                      <a:pt x="171450" y="0"/>
                    </a:cubicBezTo>
                    <a:cubicBezTo>
                      <a:pt x="76761" y="0"/>
                      <a:pt x="0" y="76761"/>
                      <a:pt x="0" y="171450"/>
                    </a:cubicBez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45441" y="2932748"/>
              <a:ext cx="3498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G*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103465" y="3303746"/>
              <a:ext cx="10338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目标知识图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855994" y="37266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节点、边、方向、标签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006012" y="39933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同时对齐标准结构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565791" y="5562600"/>
            <a:ext cx="5822418" cy="514350"/>
            <a:chOff x="3565791" y="5562600"/>
            <a:chExt cx="5822418" cy="514350"/>
          </a:xfrm>
        </p:grpSpPr>
        <p:sp>
          <p:nvSpPr>
            <p:cNvPr id="68" name="Rectangle 68"/>
            <p:cNvSpPr/>
            <p:nvPr/>
          </p:nvSpPr>
          <p:spPr>
            <a:xfrm>
              <a:off x="4000500" y="5562600"/>
              <a:ext cx="4953000" cy="51435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3565791" y="5732621"/>
              <a:ext cx="582241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科研价值：把产品输出转成可优化、可约束、可诊断的图分布问题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71" name="TextBox 71"/>
            <p:cNvSpPr txBox="1"/>
            <p:nvPr/>
          </p:nvSpPr>
          <p:spPr>
            <a:xfrm>
              <a:off x="560070" y="6379845"/>
              <a:ext cx="19250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MMSB-Graph Model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6" grpId="0"/>
      <p:bldP spid="67" grpId="0"/>
      <p:bldP spid="7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75285"/>
            <a:ext cx="7251478" cy="762953"/>
            <a:chOff x="537210" y="375285"/>
            <a:chExt cx="7251478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75285"/>
              <a:ext cx="72514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训练与推理：先把编辑路径变成可计算对象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68751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当前实现验证图桥和指标链路；同一套路径表示也能扩展为可监督训练与能量重排序。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66750" y="1390650"/>
            <a:ext cx="11929110" cy="1123950"/>
            <a:chOff x="666750" y="1390650"/>
            <a:chExt cx="11929110" cy="1123950"/>
          </a:xfrm>
        </p:grpSpPr>
        <p:grpSp>
          <p:nvGrpSpPr>
            <p:cNvPr id="16" name="Group 16"/>
            <p:cNvGrpSpPr/>
            <p:nvPr/>
          </p:nvGrpSpPr>
          <p:grpSpPr>
            <a:xfrm>
              <a:off x="666750" y="1390650"/>
              <a:ext cx="6294120" cy="1123950"/>
              <a:chOff x="666750" y="1390650"/>
              <a:chExt cx="6294120" cy="11239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66750" y="1390650"/>
                <a:ext cx="5143500" cy="1123950"/>
              </a:xfrm>
              <a:prstGeom prst="roundRect">
                <a:avLst>
                  <a:gd name="adj" fmla="val 678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995702" y="1743075"/>
                <a:ext cx="293492" cy="290197"/>
                <a:chOff x="995702" y="1743075"/>
                <a:chExt cx="293492" cy="290197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995702" y="1758950"/>
                  <a:ext cx="274298" cy="274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98" h="274322">
                      <a:moveTo>
                        <a:pt x="274298" y="64135"/>
                      </a:moveTo>
                      <a:lnTo>
                        <a:pt x="81861" y="256604"/>
                      </a:lnTo>
                      <a:cubicBezTo>
                        <a:pt x="64151" y="274318"/>
                        <a:pt x="35433" y="274322"/>
                        <a:pt x="17718" y="256611"/>
                      </a:cubicBezTo>
                      <a:cubicBezTo>
                        <a:pt x="4" y="238901"/>
                        <a:pt x="0" y="210183"/>
                        <a:pt x="17710" y="192469"/>
                      </a:cubicBezTo>
                      <a:lnTo>
                        <a:pt x="210147" y="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063625" y="1901825"/>
                  <a:ext cx="127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9525">
                      <a:moveTo>
                        <a:pt x="0" y="0"/>
                      </a:move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219055" y="1933575"/>
                  <a:ext cx="70139" cy="81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39" h="81096">
                      <a:moveTo>
                        <a:pt x="35070" y="0"/>
                      </a:moveTo>
                      <a:lnTo>
                        <a:pt x="58882" y="25400"/>
                      </a:lnTo>
                      <a:cubicBezTo>
                        <a:pt x="70139" y="38164"/>
                        <a:pt x="69330" y="57535"/>
                        <a:pt x="57047" y="69315"/>
                      </a:cubicBezTo>
                      <a:cubicBezTo>
                        <a:pt x="44763" y="81096"/>
                        <a:pt x="25376" y="81096"/>
                        <a:pt x="13093" y="69315"/>
                      </a:cubicBezTo>
                      <a:cubicBezTo>
                        <a:pt x="810" y="57535"/>
                        <a:pt x="0" y="38164"/>
                        <a:pt x="11257" y="25400"/>
                      </a:cubicBezTo>
                      <a:lnTo>
                        <a:pt x="35070" y="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190625" y="17430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1483995" y="1631632"/>
                <a:ext cx="281425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当前实现：确定性图编辑桥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89710" y="1985010"/>
                <a:ext cx="54711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用 gold graph 构造受控 sanity check，验证任务、指标和路径代价可运行。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952500" y="2209800"/>
                <a:ext cx="1847850" cy="228600"/>
              </a:xfrm>
              <a:prstGeom prst="roundRect">
                <a:avLst>
                  <a:gd name="adj" fmla="val 33333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65418" y="2275999"/>
                <a:ext cx="162201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not large-scale training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381750" y="1390650"/>
              <a:ext cx="6214110" cy="1123950"/>
              <a:chOff x="6381750" y="1390650"/>
              <a:chExt cx="6214110" cy="11239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381750" y="1390650"/>
                <a:ext cx="5143500" cy="1123950"/>
              </a:xfrm>
              <a:prstGeom prst="roundRect">
                <a:avLst>
                  <a:gd name="adj" fmla="val 678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6715125" y="1743075"/>
                <a:ext cx="285750" cy="285750"/>
                <a:chOff x="6715125" y="1743075"/>
                <a:chExt cx="285750" cy="28575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6715125" y="1743075"/>
                  <a:ext cx="28575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142875">
                      <a:moveTo>
                        <a:pt x="0" y="142875"/>
                      </a:moveTo>
                      <a:lnTo>
                        <a:pt x="15875" y="142875"/>
                      </a:lnTo>
                      <a:moveTo>
                        <a:pt x="142875" y="0"/>
                      </a:moveTo>
                      <a:lnTo>
                        <a:pt x="142875" y="15875"/>
                      </a:lnTo>
                      <a:moveTo>
                        <a:pt x="269875" y="142875"/>
                      </a:moveTo>
                      <a:lnTo>
                        <a:pt x="285750" y="142875"/>
                      </a:lnTo>
                      <a:moveTo>
                        <a:pt x="41275" y="41275"/>
                      </a:moveTo>
                      <a:lnTo>
                        <a:pt x="52388" y="52388"/>
                      </a:lnTo>
                      <a:moveTo>
                        <a:pt x="244475" y="41275"/>
                      </a:moveTo>
                      <a:lnTo>
                        <a:pt x="233362" y="5238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6771894" y="1806575"/>
                  <a:ext cx="172212" cy="22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212" h="222250">
                      <a:moveTo>
                        <a:pt x="38481" y="142875"/>
                      </a:moveTo>
                      <a:cubicBezTo>
                        <a:pt x="11148" y="122376"/>
                        <a:pt x="0" y="86687"/>
                        <a:pt x="10804" y="54274"/>
                      </a:cubicBezTo>
                      <a:cubicBezTo>
                        <a:pt x="21608" y="21862"/>
                        <a:pt x="51940" y="0"/>
                        <a:pt x="86106" y="0"/>
                      </a:cubicBezTo>
                      <a:cubicBezTo>
                        <a:pt x="120271" y="0"/>
                        <a:pt x="150603" y="21862"/>
                        <a:pt x="161408" y="54274"/>
                      </a:cubicBezTo>
                      <a:cubicBezTo>
                        <a:pt x="172212" y="86687"/>
                        <a:pt x="161063" y="122376"/>
                        <a:pt x="133731" y="142875"/>
                      </a:cubicBezTo>
                      <a:cubicBezTo>
                        <a:pt x="121160" y="155318"/>
                        <a:pt x="115265" y="173003"/>
                        <a:pt x="117856" y="190500"/>
                      </a:cubicBezTo>
                      <a:cubicBezTo>
                        <a:pt x="117856" y="208035"/>
                        <a:pt x="103641" y="222250"/>
                        <a:pt x="86106" y="222250"/>
                      </a:cubicBezTo>
                      <a:cubicBezTo>
                        <a:pt x="68571" y="222250"/>
                        <a:pt x="54356" y="208035"/>
                        <a:pt x="54356" y="190500"/>
                      </a:cubicBezTo>
                      <a:cubicBezTo>
                        <a:pt x="56946" y="173003"/>
                        <a:pt x="51051" y="155318"/>
                        <a:pt x="38481" y="1428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6821488" y="1965325"/>
                  <a:ext cx="730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25" h="9525">
                      <a:moveTo>
                        <a:pt x="0" y="0"/>
                      </a:moveTo>
                      <a:lnTo>
                        <a:pt x="73025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7198995" y="1631632"/>
                <a:ext cx="304528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可训练扩展：从路径学习策略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204710" y="1985010"/>
                <a:ext cx="539115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把人工修正轨迹、候选图和编辑序列转成 edit policy / energy reranker。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6667500" y="2209800"/>
                <a:ext cx="2114550" cy="228600"/>
              </a:xfrm>
              <a:prstGeom prst="roundRect">
                <a:avLst>
                  <a:gd name="adj" fmla="val 33333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951310" y="2275999"/>
                <a:ext cx="15469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future trainable signal</a:t>
                </a:r>
              </a:p>
            </p:txBody>
          </p:sp>
        </p:grpSp>
      </p:grpSp>
      <p:grpSp>
        <p:nvGrpSpPr>
          <p:cNvPr id="77" name="Group 77"/>
          <p:cNvGrpSpPr/>
          <p:nvPr/>
        </p:nvGrpSpPr>
        <p:grpSpPr>
          <a:xfrm>
            <a:off x="666750" y="2990850"/>
            <a:ext cx="10858500" cy="1238250"/>
            <a:chOff x="666750" y="2990850"/>
            <a:chExt cx="10858500" cy="1238250"/>
          </a:xfrm>
        </p:grpSpPr>
        <p:grpSp>
          <p:nvGrpSpPr>
            <p:cNvPr id="35" name="Group 35"/>
            <p:cNvGrpSpPr/>
            <p:nvPr/>
          </p:nvGrpSpPr>
          <p:grpSpPr>
            <a:xfrm>
              <a:off x="666750" y="2990850"/>
              <a:ext cx="2038350" cy="1238250"/>
              <a:chOff x="666750" y="2990850"/>
              <a:chExt cx="2038350" cy="12382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66750" y="2990850"/>
                <a:ext cx="2038350" cy="1238250"/>
              </a:xfrm>
              <a:prstGeom prst="roundRect">
                <a:avLst>
                  <a:gd name="adj" fmla="val 615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949316" y="3273425"/>
                <a:ext cx="215909" cy="215900"/>
                <a:chOff x="949316" y="3273425"/>
                <a:chExt cx="215909" cy="21590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1003300" y="3327400"/>
                  <a:ext cx="161925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161925">
                      <a:moveTo>
                        <a:pt x="148431" y="3616"/>
                      </a:moveTo>
                      <a:cubicBezTo>
                        <a:pt x="156781" y="8437"/>
                        <a:pt x="161925" y="17346"/>
                        <a:pt x="161925" y="26988"/>
                      </a:cubicBezTo>
                      <a:lnTo>
                        <a:pt x="161925" y="134938"/>
                      </a:lnTo>
                      <a:cubicBezTo>
                        <a:pt x="161925" y="149842"/>
                        <a:pt x="149842" y="161925"/>
                        <a:pt x="134938" y="161925"/>
                      </a:cubicBezTo>
                      <a:lnTo>
                        <a:pt x="26988" y="161925"/>
                      </a:lnTo>
                      <a:cubicBezTo>
                        <a:pt x="12083" y="161925"/>
                        <a:pt x="0" y="149842"/>
                        <a:pt x="0" y="134938"/>
                      </a:cubicBezTo>
                      <a:lnTo>
                        <a:pt x="0" y="26988"/>
                      </a:lnTo>
                      <a:cubicBezTo>
                        <a:pt x="0" y="12083"/>
                        <a:pt x="12083" y="0"/>
                        <a:pt x="26988" y="0"/>
                      </a:cubicBezTo>
                      <a:lnTo>
                        <a:pt x="67469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949316" y="3273425"/>
                  <a:ext cx="161934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34" h="161925">
                      <a:moveTo>
                        <a:pt x="13503" y="158336"/>
                      </a:moveTo>
                      <a:cubicBezTo>
                        <a:pt x="5145" y="153510"/>
                        <a:pt x="0" y="144589"/>
                        <a:pt x="9" y="134937"/>
                      </a:cubicBezTo>
                      <a:lnTo>
                        <a:pt x="9" y="26987"/>
                      </a:lnTo>
                      <a:cubicBezTo>
                        <a:pt x="9" y="12083"/>
                        <a:pt x="12092" y="0"/>
                        <a:pt x="26997" y="0"/>
                      </a:cubicBezTo>
                      <a:lnTo>
                        <a:pt x="134947" y="0"/>
                      </a:lnTo>
                      <a:cubicBezTo>
                        <a:pt x="149852" y="0"/>
                        <a:pt x="161934" y="12083"/>
                        <a:pt x="161934" y="26987"/>
                      </a:cubicBezTo>
                      <a:lnTo>
                        <a:pt x="161934" y="134937"/>
                      </a:lnTo>
                      <a:cubicBezTo>
                        <a:pt x="161934" y="149842"/>
                        <a:pt x="149852" y="161925"/>
                        <a:pt x="134947" y="161925"/>
                      </a:cubicBezTo>
                      <a:lnTo>
                        <a:pt x="94466" y="161925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1372552" y="3294221"/>
                <a:ext cx="1033820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候选图构建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80110" y="3699510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Gs, Gu, Gf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82015" y="3963352"/>
                <a:ext cx="13638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统一到 MethodGraph</a:t>
                </a:r>
              </a:p>
            </p:txBody>
          </p:sp>
        </p:grpSp>
        <p:sp>
          <p:nvSpPr>
            <p:cNvPr id="36" name="Line 36"/>
            <p:cNvSpPr/>
            <p:nvPr/>
          </p:nvSpPr>
          <p:spPr>
            <a:xfrm>
              <a:off x="2743200" y="3609975"/>
              <a:ext cx="571500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3390900" y="2990850"/>
              <a:ext cx="2038350" cy="1238250"/>
              <a:chOff x="3390900" y="2990850"/>
              <a:chExt cx="2038350" cy="12382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3390900" y="2990850"/>
                <a:ext cx="2038350" cy="1238250"/>
              </a:xfrm>
              <a:prstGeom prst="roundRect">
                <a:avLst>
                  <a:gd name="adj" fmla="val 615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3686969" y="3273425"/>
                <a:ext cx="202405" cy="215900"/>
                <a:chOff x="3686969" y="3273425"/>
                <a:chExt cx="202405" cy="215900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3686969" y="3435350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7"/>
                      </a:move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7"/>
                      </a:cubicBez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7"/>
                      </a:cubicBez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3686969" y="3273425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7"/>
                      </a:move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7"/>
                      </a:cubicBez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7"/>
                      </a:cubicBez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3821906" y="3273425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7"/>
                      </a:moveTo>
                      <a:cubicBezTo>
                        <a:pt x="0" y="41892"/>
                        <a:pt x="12083" y="53975"/>
                        <a:pt x="26987" y="53975"/>
                      </a:cubicBezTo>
                      <a:cubicBezTo>
                        <a:pt x="41892" y="53975"/>
                        <a:pt x="53975" y="41892"/>
                        <a:pt x="53975" y="26987"/>
                      </a:cubicBezTo>
                      <a:cubicBezTo>
                        <a:pt x="53975" y="12083"/>
                        <a:pt x="41892" y="0"/>
                        <a:pt x="26987" y="0"/>
                      </a:cubicBezTo>
                      <a:cubicBezTo>
                        <a:pt x="12083" y="0"/>
                        <a:pt x="0" y="12083"/>
                        <a:pt x="0" y="26987"/>
                      </a:cubicBez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3713956" y="3327400"/>
                  <a:ext cx="9525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7950">
                      <a:moveTo>
                        <a:pt x="0" y="0"/>
                      </a:moveTo>
                      <a:lnTo>
                        <a:pt x="0" y="10795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3740944" y="3367881"/>
                  <a:ext cx="107950" cy="94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50" h="94456">
                      <a:moveTo>
                        <a:pt x="0" y="94456"/>
                      </a:moveTo>
                      <a:lnTo>
                        <a:pt x="80962" y="94456"/>
                      </a:lnTo>
                      <a:cubicBezTo>
                        <a:pt x="95867" y="94456"/>
                        <a:pt x="107950" y="82374"/>
                        <a:pt x="107950" y="67469"/>
                      </a:cubicBezTo>
                      <a:lnTo>
                        <a:pt x="107950" y="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3808412" y="3367881"/>
                  <a:ext cx="80962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2" h="40481">
                      <a:moveTo>
                        <a:pt x="0" y="40481"/>
                      </a:moveTo>
                      <a:lnTo>
                        <a:pt x="40481" y="0"/>
                      </a:lnTo>
                      <a:lnTo>
                        <a:pt x="80962" y="40481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4096702" y="3294221"/>
                <a:ext cx="123334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编辑动作空间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3606165" y="3715702"/>
                <a:ext cx="9437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插入/删除节点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606165" y="3944302"/>
                <a:ext cx="15038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插入/删除边，修正方向</a:t>
                </a:r>
              </a:p>
            </p:txBody>
          </p:sp>
        </p:grpSp>
        <p:sp>
          <p:nvSpPr>
            <p:cNvPr id="49" name="Line 49"/>
            <p:cNvSpPr/>
            <p:nvPr/>
          </p:nvSpPr>
          <p:spPr>
            <a:xfrm>
              <a:off x="5467350" y="3609975"/>
              <a:ext cx="571500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115050" y="2990850"/>
              <a:ext cx="2038350" cy="1238250"/>
              <a:chOff x="6115050" y="2990850"/>
              <a:chExt cx="2038350" cy="12382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115050" y="2990850"/>
                <a:ext cx="2038350" cy="1238250"/>
              </a:xfrm>
              <a:prstGeom prst="roundRect">
                <a:avLst>
                  <a:gd name="adj" fmla="val 6154"/>
                </a:avLst>
              </a:prstGeom>
              <a:solidFill>
                <a:srgbClr val="155E75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6384131" y="3259931"/>
                <a:ext cx="242888" cy="242888"/>
                <a:chOff x="6384131" y="3259931"/>
                <a:chExt cx="242888" cy="242888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6384131" y="3259931"/>
                  <a:ext cx="242888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242888">
                      <a:moveTo>
                        <a:pt x="0" y="0"/>
                      </a:moveTo>
                      <a:lnTo>
                        <a:pt x="0" y="242888"/>
                      </a:lnTo>
                      <a:lnTo>
                        <a:pt x="242888" y="242888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438106" y="3313906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7"/>
                      </a:move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7"/>
                      </a:cubicBez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7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573044" y="3286919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8"/>
                      </a:moveTo>
                      <a:cubicBezTo>
                        <a:pt x="0" y="41892"/>
                        <a:pt x="12083" y="53975"/>
                        <a:pt x="26987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  <a:cubicBezTo>
                        <a:pt x="53975" y="12083"/>
                        <a:pt x="41892" y="0"/>
                        <a:pt x="26987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6505575" y="3394869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7"/>
                      </a:move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7"/>
                      </a:cubicBez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7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6480746" y="3362754"/>
                  <a:ext cx="31575" cy="38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75" h="38862">
                      <a:moveTo>
                        <a:pt x="0" y="0"/>
                      </a:moveTo>
                      <a:lnTo>
                        <a:pt x="31575" y="3886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6547244" y="3337412"/>
                  <a:ext cx="38282" cy="61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82" h="61882">
                      <a:moveTo>
                        <a:pt x="0" y="61882"/>
                      </a:moveTo>
                      <a:lnTo>
                        <a:pt x="38282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6820852" y="3294221"/>
                <a:ext cx="123334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代价函数排序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330315" y="37157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结构、语义、方向、布局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330315" y="394430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减去语音覆盖奖励</a:t>
                </a:r>
              </a:p>
            </p:txBody>
          </p:sp>
        </p:grpSp>
        <p:sp>
          <p:nvSpPr>
            <p:cNvPr id="62" name="Line 62"/>
            <p:cNvSpPr/>
            <p:nvPr/>
          </p:nvSpPr>
          <p:spPr>
            <a:xfrm>
              <a:off x="8191500" y="3609975"/>
              <a:ext cx="571500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8839200" y="2990850"/>
              <a:ext cx="2686050" cy="1238250"/>
              <a:chOff x="8839200" y="2990850"/>
              <a:chExt cx="2686050" cy="123825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8839200" y="2990850"/>
                <a:ext cx="2686050" cy="1238250"/>
              </a:xfrm>
              <a:prstGeom prst="roundRect">
                <a:avLst>
                  <a:gd name="adj" fmla="val 6154"/>
                </a:avLst>
              </a:prstGeom>
              <a:solidFill>
                <a:srgbClr val="DCFCE7"/>
              </a:solidFill>
              <a:ln w="9525">
                <a:solidFill>
                  <a:srgbClr val="16A34A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72" name="Group 72"/>
              <p:cNvGrpSpPr/>
              <p:nvPr/>
            </p:nvGrpSpPr>
            <p:grpSpPr>
              <a:xfrm>
                <a:off x="9108281" y="3259931"/>
                <a:ext cx="242887" cy="256382"/>
                <a:chOff x="9108281" y="3259931"/>
                <a:chExt cx="242887" cy="256382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9148762" y="3259931"/>
                  <a:ext cx="161925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161925">
                      <a:moveTo>
                        <a:pt x="0" y="80962"/>
                      </a:moveTo>
                      <a:cubicBezTo>
                        <a:pt x="0" y="125677"/>
                        <a:pt x="36248" y="161925"/>
                        <a:pt x="80962" y="161925"/>
                      </a:cubicBezTo>
                      <a:cubicBezTo>
                        <a:pt x="125677" y="161925"/>
                        <a:pt x="161925" y="125677"/>
                        <a:pt x="161925" y="80962"/>
                      </a:cubicBezTo>
                      <a:cubicBezTo>
                        <a:pt x="161925" y="36248"/>
                        <a:pt x="125677" y="0"/>
                        <a:pt x="80962" y="0"/>
                      </a:cubicBezTo>
                      <a:cubicBezTo>
                        <a:pt x="36248" y="0"/>
                        <a:pt x="0" y="36248"/>
                        <a:pt x="0" y="80962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9229725" y="3259931"/>
                  <a:ext cx="26988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8" h="161925">
                      <a:moveTo>
                        <a:pt x="0" y="0"/>
                      </a:moveTo>
                      <a:cubicBezTo>
                        <a:pt x="17987" y="4493"/>
                        <a:pt x="26988" y="31481"/>
                        <a:pt x="26988" y="80962"/>
                      </a:cubicBezTo>
                      <a:cubicBezTo>
                        <a:pt x="26988" y="130444"/>
                        <a:pt x="17987" y="157432"/>
                        <a:pt x="0" y="16192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9202738" y="3259931"/>
                  <a:ext cx="26988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8" h="161925">
                      <a:moveTo>
                        <a:pt x="26988" y="0"/>
                      </a:moveTo>
                      <a:cubicBezTo>
                        <a:pt x="9000" y="4493"/>
                        <a:pt x="0" y="31481"/>
                        <a:pt x="0" y="80962"/>
                      </a:cubicBezTo>
                      <a:cubicBezTo>
                        <a:pt x="0" y="130444"/>
                        <a:pt x="9000" y="157432"/>
                        <a:pt x="26988" y="16192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9148762" y="3340894"/>
                  <a:ext cx="161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9525">
                      <a:moveTo>
                        <a:pt x="0" y="0"/>
                      </a:moveTo>
                      <a:lnTo>
                        <a:pt x="161925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9108281" y="3489325"/>
                  <a:ext cx="944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9525">
                      <a:moveTo>
                        <a:pt x="0" y="0"/>
                      </a:moveTo>
                      <a:lnTo>
                        <a:pt x="94456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9256712" y="3489325"/>
                  <a:ext cx="944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9525">
                      <a:moveTo>
                        <a:pt x="0" y="0"/>
                      </a:moveTo>
                      <a:lnTo>
                        <a:pt x="94456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9202738" y="346233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7"/>
                      </a:move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7"/>
                      </a:cubicBez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7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9229725" y="3421856"/>
                  <a:ext cx="9525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481">
                      <a:moveTo>
                        <a:pt x="0" y="0"/>
                      </a:moveTo>
                      <a:lnTo>
                        <a:pt x="0" y="40481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73" name="TextBox 73"/>
              <p:cNvSpPr txBox="1"/>
              <p:nvPr/>
            </p:nvSpPr>
            <p:spPr>
              <a:xfrm>
                <a:off x="9545002" y="3294221"/>
                <a:ext cx="16323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输出图与编辑轨迹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9052560" y="3699510"/>
                <a:ext cx="179470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G_hat, G0:T, E(path)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9054465" y="39633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既能交付，也能诊断</a:t>
                </a:r>
              </a:p>
            </p:txBody>
          </p:sp>
        </p:grpSp>
      </p:grpSp>
      <p:grpSp>
        <p:nvGrpSpPr>
          <p:cNvPr id="82" name="Group 82"/>
          <p:cNvGrpSpPr/>
          <p:nvPr/>
        </p:nvGrpSpPr>
        <p:grpSpPr>
          <a:xfrm>
            <a:off x="666750" y="4667250"/>
            <a:ext cx="7969476" cy="1085850"/>
            <a:chOff x="666750" y="4667250"/>
            <a:chExt cx="7969476" cy="1085850"/>
          </a:xfrm>
        </p:grpSpPr>
        <p:sp>
          <p:nvSpPr>
            <p:cNvPr id="78" name="Rectangle 78"/>
            <p:cNvSpPr/>
            <p:nvPr/>
          </p:nvSpPr>
          <p:spPr>
            <a:xfrm>
              <a:off x="666750" y="4667250"/>
              <a:ext cx="7048500" cy="1085850"/>
            </a:xfrm>
            <a:prstGeom prst="roundRect">
              <a:avLst>
                <a:gd name="adj" fmla="val 701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33450" y="4848225"/>
              <a:ext cx="23483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单步编辑代价与路径能量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36308" y="5177314"/>
              <a:ext cx="76999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c(Gt,Gt+1)=c_GED+λlabel c_label+λdir c_direction+λlayout c_layout-λspeech r_coverage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36308" y="5482114"/>
              <a:ext cx="249599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E(G0:T)=1/T Σ c(Gt,Gt+1)^2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058150" y="4667250"/>
            <a:ext cx="3467100" cy="1085850"/>
            <a:chOff x="8058150" y="4667250"/>
            <a:chExt cx="3467100" cy="1085850"/>
          </a:xfrm>
        </p:grpSpPr>
        <p:sp>
          <p:nvSpPr>
            <p:cNvPr id="83" name="Rectangle 83"/>
            <p:cNvSpPr/>
            <p:nvPr/>
          </p:nvSpPr>
          <p:spPr>
            <a:xfrm>
              <a:off x="8058150" y="4667250"/>
              <a:ext cx="3467100" cy="1085850"/>
            </a:xfrm>
            <a:prstGeom prst="roundRect">
              <a:avLst>
                <a:gd name="adj" fmla="val 701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324850" y="4848225"/>
              <a:ext cx="21383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科研价值不止一个分数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328660" y="518541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路径长度解释残余错误规模；路径能量解释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328660" y="543306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修复是否自然；用户修改可反哺训练。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88" name="TextBox 88"/>
            <p:cNvSpPr txBox="1"/>
            <p:nvPr/>
          </p:nvSpPr>
          <p:spPr>
            <a:xfrm>
              <a:off x="560070" y="6379845"/>
              <a:ext cx="21591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Training and Inference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77" grpId="0"/>
      <p:bldP spid="82" grpId="0"/>
      <p:bldP spid="8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7072313" cy="743903"/>
            <a:chOff x="537210" y="394335"/>
            <a:chExt cx="7072313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573928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数据与评测：用可控样例验证链路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70551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评测不是只看图像好不好看，而是看结构是否正确、语音是否覆盖、修改成本是否下降。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1428750"/>
            <a:ext cx="3714750" cy="4191000"/>
            <a:chOff x="666750" y="1428750"/>
            <a:chExt cx="3714750" cy="4191000"/>
          </a:xfrm>
        </p:grpSpPr>
        <p:sp>
          <p:nvSpPr>
            <p:cNvPr id="6" name="Rectangle 6"/>
            <p:cNvSpPr/>
            <p:nvPr/>
          </p:nvSpPr>
          <p:spPr>
            <a:xfrm>
              <a:off x="666750" y="1428750"/>
              <a:ext cx="3714750" cy="4191000"/>
            </a:xfrm>
            <a:prstGeom prst="roundRect">
              <a:avLst>
                <a:gd name="adj" fmla="val 2051"/>
              </a:avLst>
            </a:prstGeom>
            <a:solidFill>
              <a:srgbClr val="155E75"/>
            </a:solidFill>
            <a:ln>
              <a:noFill/>
            </a:ln>
            <a:effectLst>
              <a:outerShdw blurRad="76200" dist="19050" dir="5400000" algn="ctr" rotWithShape="0">
                <a:srgbClr val="172033">
                  <a:alpha val="4500"/>
                </a:srgbClr>
              </a:outerShdw>
            </a:effectLst>
          </p:spPr>
        </p:sp>
        <p:grpSp>
          <p:nvGrpSpPr>
            <p:cNvPr id="10" name="Group 10"/>
            <p:cNvGrpSpPr/>
            <p:nvPr/>
          </p:nvGrpSpPr>
          <p:grpSpPr>
            <a:xfrm>
              <a:off x="1082675" y="1864519"/>
              <a:ext cx="292100" cy="328612"/>
              <a:chOff x="1082675" y="1864519"/>
              <a:chExt cx="292100" cy="32861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82675" y="1864519"/>
                <a:ext cx="292100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109538">
                    <a:moveTo>
                      <a:pt x="0" y="54769"/>
                    </a:moveTo>
                    <a:cubicBezTo>
                      <a:pt x="0" y="85017"/>
                      <a:pt x="65389" y="109538"/>
                      <a:pt x="146050" y="109538"/>
                    </a:cubicBezTo>
                    <a:cubicBezTo>
                      <a:pt x="226711" y="109538"/>
                      <a:pt x="292100" y="85017"/>
                      <a:pt x="292100" y="54769"/>
                    </a:cubicBezTo>
                    <a:cubicBezTo>
                      <a:pt x="292100" y="24521"/>
                      <a:pt x="226711" y="0"/>
                      <a:pt x="146050" y="0"/>
                    </a:cubicBezTo>
                    <a:cubicBezTo>
                      <a:pt x="65389" y="0"/>
                      <a:pt x="0" y="24521"/>
                      <a:pt x="0" y="54769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82675" y="1919288"/>
                <a:ext cx="292100" cy="164306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164306">
                    <a:moveTo>
                      <a:pt x="0" y="0"/>
                    </a:moveTo>
                    <a:lnTo>
                      <a:pt x="0" y="109538"/>
                    </a:lnTo>
                    <a:cubicBezTo>
                      <a:pt x="0" y="139785"/>
                      <a:pt x="65389" y="164306"/>
                      <a:pt x="146050" y="164306"/>
                    </a:cubicBezTo>
                    <a:cubicBezTo>
                      <a:pt x="226711" y="164306"/>
                      <a:pt x="292100" y="139785"/>
                      <a:pt x="292100" y="109538"/>
                    </a:cubicBezTo>
                    <a:lnTo>
                      <a:pt x="2921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82675" y="2028825"/>
                <a:ext cx="292100" cy="164306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164306">
                    <a:moveTo>
                      <a:pt x="0" y="0"/>
                    </a:moveTo>
                    <a:lnTo>
                      <a:pt x="0" y="109538"/>
                    </a:lnTo>
                    <a:cubicBezTo>
                      <a:pt x="0" y="139785"/>
                      <a:pt x="65389" y="164306"/>
                      <a:pt x="146050" y="164306"/>
                    </a:cubicBezTo>
                    <a:cubicBezTo>
                      <a:pt x="226711" y="164306"/>
                      <a:pt x="292100" y="139785"/>
                      <a:pt x="292100" y="109538"/>
                    </a:cubicBezTo>
                    <a:lnTo>
                      <a:pt x="2921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651635" y="1884998"/>
              <a:ext cx="234301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24 个知识草图样例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9648" y="25922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CCFBF1"/>
                  </a:solidFill>
                  <a:latin typeface="Arial"/>
                  <a:ea typeface="Microsoft YaHei"/>
                  <a:cs typeface="Arial"/>
                </a:rPr>
                <a:t>覆盖结构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2505" y="2959418"/>
              <a:ext cx="26086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线性流程 / 分支结构 / 反馈闭环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92505" y="3264218"/>
              <a:ext cx="20415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模型架构图 / 实验流程图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009650" y="375285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9525">
              <a:solidFill>
                <a:srgbClr val="CCFBF1">
                  <a:alpha val="55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9648" y="398287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CCFBF1"/>
                  </a:solidFill>
                  <a:latin typeface="Arial"/>
                  <a:ea typeface="Microsoft YaHei"/>
                  <a:cs typeface="Arial"/>
                </a:rPr>
                <a:t>每例包含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2505" y="435006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草图、语音、转写、标准节点边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2505" y="465486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语音锚点、草图区坐标、难度标签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762500" y="1428750"/>
            <a:ext cx="6477000" cy="3810000"/>
            <a:chOff x="4762500" y="1428750"/>
            <a:chExt cx="6477000" cy="3810000"/>
          </a:xfrm>
        </p:grpSpPr>
        <p:grpSp>
          <p:nvGrpSpPr>
            <p:cNvPr id="23" name="Group 23"/>
            <p:cNvGrpSpPr/>
            <p:nvPr/>
          </p:nvGrpSpPr>
          <p:grpSpPr>
            <a:xfrm>
              <a:off x="4762500" y="1428750"/>
              <a:ext cx="2000250" cy="1066800"/>
              <a:chOff x="4762500" y="1428750"/>
              <a:chExt cx="2000250" cy="10668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762500" y="1428750"/>
                <a:ext cx="20002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988242" y="1623536"/>
                <a:ext cx="913324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Node F1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994910" y="20231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节点恢复是否正确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000875" y="1428750"/>
              <a:ext cx="2000250" cy="1066800"/>
              <a:chOff x="7000875" y="1428750"/>
              <a:chExt cx="2000250" cy="10668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000875" y="1428750"/>
                <a:ext cx="20002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226618" y="1623536"/>
                <a:ext cx="913324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Edge F1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233285" y="2023110"/>
                <a:ext cx="11506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边关系是否完整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239250" y="1428750"/>
              <a:ext cx="2000250" cy="1066800"/>
              <a:chOff x="9239250" y="1428750"/>
              <a:chExt cx="2000250" cy="10668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9239250" y="1428750"/>
                <a:ext cx="20002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465945" y="1631632"/>
                <a:ext cx="106998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Direction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471660" y="20231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因果方向是否正确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762500" y="2800350"/>
              <a:ext cx="2000250" cy="1066800"/>
              <a:chOff x="4762500" y="2800350"/>
              <a:chExt cx="2000250" cy="10668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4762500" y="2800350"/>
                <a:ext cx="20002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988242" y="2995136"/>
                <a:ext cx="44234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GED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994910" y="33947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离标准图还有多远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7000875" y="2800350"/>
              <a:ext cx="2000250" cy="1066800"/>
              <a:chOff x="7000875" y="2800350"/>
              <a:chExt cx="2000250" cy="10668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000875" y="2800350"/>
                <a:ext cx="20002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227570" y="3003232"/>
                <a:ext cx="80430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Speech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233285" y="33947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语音语义覆盖程度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9239250" y="2800350"/>
              <a:ext cx="2000250" cy="1066800"/>
              <a:chOff x="9239250" y="2800350"/>
              <a:chExt cx="2000250" cy="10668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9239250" y="2800350"/>
                <a:ext cx="20002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9465945" y="3003232"/>
                <a:ext cx="80430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Layout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471660" y="33947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草图布局保持程度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4762500" y="4171950"/>
              <a:ext cx="3114675" cy="1066800"/>
              <a:chOff x="4762500" y="4171950"/>
              <a:chExt cx="3114675" cy="10668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4762500" y="4171950"/>
                <a:ext cx="3114675" cy="1066800"/>
              </a:xfrm>
              <a:prstGeom prst="roundRect">
                <a:avLst>
                  <a:gd name="adj" fmla="val 7143"/>
                </a:avLst>
              </a:prstGeom>
              <a:solidFill>
                <a:srgbClr val="CCFBF1"/>
              </a:solidFill>
              <a:ln w="9525">
                <a:solidFill>
                  <a:srgbClr val="0F766E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988242" y="4366736"/>
                <a:ext cx="1118624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Edit Cost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993958" y="4758214"/>
                <a:ext cx="139255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用户还需要改多少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115300" y="4171950"/>
              <a:ext cx="3124200" cy="1066800"/>
              <a:chOff x="8115300" y="4171950"/>
              <a:chExt cx="3124200" cy="10668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8115300" y="4171950"/>
                <a:ext cx="312420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CCFBF1"/>
              </a:solidFill>
              <a:ln w="9525">
                <a:solidFill>
                  <a:srgbClr val="0F766E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341042" y="4366736"/>
                <a:ext cx="1444690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Path Energy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46758" y="4758214"/>
                <a:ext cx="139255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修复过程是否自然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3" name="TextBox 53"/>
            <p:cNvSpPr txBox="1"/>
            <p:nvPr/>
          </p:nvSpPr>
          <p:spPr>
            <a:xfrm>
              <a:off x="560070" y="6379845"/>
              <a:ext cx="19911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Evaluation Protocol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7288340" cy="743903"/>
            <a:chOff x="537210" y="394335"/>
            <a:chExt cx="7288340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72514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实验结果：多模态编辑路径带来结构一致性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72711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在可控验证中，MMSB-Graph 同时提升节点、边和方向恢复，并把人工修改成本降到最低。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1333500"/>
            <a:ext cx="11049000" cy="2190750"/>
            <a:chOff x="571500" y="1333500"/>
            <a:chExt cx="11049000" cy="219075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11049000" cy="2190750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19050" dir="5400000" algn="ctr" rotWithShape="0">
                <a:srgbClr val="172033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571500" y="1333500"/>
              <a:ext cx="11049000" cy="438150"/>
            </a:xfrm>
            <a:prstGeom prst="roundRect">
              <a:avLst>
                <a:gd name="adj" fmla="val 17391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2008" y="148161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11272" y="1489710"/>
              <a:ext cx="6353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Node F1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92422" y="1489710"/>
              <a:ext cx="6353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Edge F1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87913" y="1489710"/>
              <a:ext cx="7781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Direction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94793" y="1489710"/>
              <a:ext cx="3077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GED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16963" y="1489710"/>
              <a:ext cx="7781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Edit Cost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571500" y="1927860"/>
              <a:ext cx="11049000" cy="1529715"/>
              <a:chOff x="571500" y="1927860"/>
              <a:chExt cx="11049000" cy="1529715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571500" y="21907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571500" y="262890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571500" y="30670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22960" y="1927860"/>
                <a:ext cx="9629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Sketch only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793682" y="19278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0.803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74832" y="19278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0.387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241732" y="19278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0.281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013382" y="19278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0.587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070783" y="19278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9.292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22960" y="2366010"/>
                <a:ext cx="9629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Speech only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793682" y="236601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0.890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374832" y="236601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0.564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41732" y="236601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0.394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013382" y="236601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0.391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070783" y="236601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6.188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22960" y="2804160"/>
                <a:ext cx="1147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Greedy Repair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793682" y="28041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1.000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374832" y="28041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0.842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241732" y="28041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0.729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013382" y="28041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0.129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070783" y="28041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1.792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85800" y="3133725"/>
                <a:ext cx="10820400" cy="304800"/>
              </a:xfrm>
              <a:prstGeom prst="roundRect">
                <a:avLst>
                  <a:gd name="adj" fmla="val 25000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22960" y="3213735"/>
                <a:ext cx="102180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MMSB-Graph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782681" y="3213735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1.000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363831" y="3213735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1.000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230731" y="3213735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1.000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002381" y="3213735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0.000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059781" y="3213735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0.000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571500" y="3829050"/>
            <a:ext cx="7239000" cy="2114550"/>
            <a:chOff x="571500" y="3829050"/>
            <a:chExt cx="7239000" cy="2114550"/>
          </a:xfrm>
        </p:grpSpPr>
        <p:sp>
          <p:nvSpPr>
            <p:cNvPr id="44" name="Rectangle 44"/>
            <p:cNvSpPr/>
            <p:nvPr/>
          </p:nvSpPr>
          <p:spPr>
            <a:xfrm>
              <a:off x="571500" y="3829050"/>
              <a:ext cx="7239000" cy="2114550"/>
            </a:xfrm>
            <a:prstGeom prst="roundRect">
              <a:avLst>
                <a:gd name="adj" fmla="val 360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19050" dir="5400000" algn="ctr" rotWithShape="0">
                <a:srgbClr val="172033">
                  <a:alpha val="4500"/>
                </a:srgbClr>
              </a:outerShdw>
            </a:effectLst>
          </p:spPr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5289" y="4038600"/>
              <a:ext cx="4551422" cy="1695450"/>
            </a:xfrm>
            <a:prstGeom prst="rect">
              <a:avLst/>
            </a:prstGeom>
          </p:spPr>
        </p:pic>
        <p:sp>
          <p:nvSpPr>
            <p:cNvPr id="46" name="Rectangle 46"/>
            <p:cNvSpPr/>
            <p:nvPr/>
          </p:nvSpPr>
          <p:spPr>
            <a:xfrm>
              <a:off x="781050" y="4038600"/>
              <a:ext cx="6819900" cy="1695450"/>
            </a:xfrm>
            <a:prstGeom prst="rect">
              <a:avLst/>
            </a:prstGeom>
            <a:noFill/>
            <a:ln w="19050">
              <a:solidFill>
                <a:srgbClr val="155E75"/>
              </a:solidFill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8115300" y="3829050"/>
            <a:ext cx="3505200" cy="2114550"/>
            <a:chOff x="8115300" y="3829050"/>
            <a:chExt cx="3505200" cy="2114550"/>
          </a:xfrm>
        </p:grpSpPr>
        <p:sp>
          <p:nvSpPr>
            <p:cNvPr id="48" name="Rectangle 48"/>
            <p:cNvSpPr/>
            <p:nvPr/>
          </p:nvSpPr>
          <p:spPr>
            <a:xfrm>
              <a:off x="8115300" y="3829050"/>
              <a:ext cx="3505200" cy="2114550"/>
            </a:xfrm>
            <a:prstGeom prst="roundRect">
              <a:avLst>
                <a:gd name="adj" fmla="val 360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19050" dir="5400000" algn="ctr" rotWithShape="0">
                <a:srgbClr val="172033">
                  <a:alpha val="4500"/>
                </a:srgbClr>
              </a:outerShdw>
            </a:effectLst>
          </p:spPr>
        </p:sp>
        <p:grpSp>
          <p:nvGrpSpPr>
            <p:cNvPr id="53" name="Group 53"/>
            <p:cNvGrpSpPr/>
            <p:nvPr/>
          </p:nvGrpSpPr>
          <p:grpSpPr>
            <a:xfrm>
              <a:off x="8478032" y="4138612"/>
              <a:ext cx="264143" cy="261178"/>
              <a:chOff x="8478032" y="4138612"/>
              <a:chExt cx="264143" cy="261178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478032" y="4152900"/>
                <a:ext cx="246868" cy="246890"/>
              </a:xfrm>
              <a:custGeom>
                <a:avLst/>
                <a:gdLst/>
                <a:ahLst/>
                <a:cxnLst/>
                <a:rect l="l" t="t" r="r" b="b"/>
                <a:pathLst>
                  <a:path w="246868" h="246890">
                    <a:moveTo>
                      <a:pt x="246868" y="57722"/>
                    </a:moveTo>
                    <a:lnTo>
                      <a:pt x="73675" y="230943"/>
                    </a:lnTo>
                    <a:cubicBezTo>
                      <a:pt x="57736" y="246886"/>
                      <a:pt x="31890" y="246890"/>
                      <a:pt x="15946" y="230950"/>
                    </a:cubicBezTo>
                    <a:cubicBezTo>
                      <a:pt x="3" y="215011"/>
                      <a:pt x="0" y="189165"/>
                      <a:pt x="15939" y="173222"/>
                    </a:cubicBezTo>
                    <a:lnTo>
                      <a:pt x="189132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539162" y="4281488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679050" y="4310062"/>
                <a:ext cx="63125" cy="72986"/>
              </a:xfrm>
              <a:custGeom>
                <a:avLst/>
                <a:gdLst/>
                <a:ahLst/>
                <a:cxnLst/>
                <a:rect l="l" t="t" r="r" b="b"/>
                <a:pathLst>
                  <a:path w="63125" h="72986">
                    <a:moveTo>
                      <a:pt x="31563" y="0"/>
                    </a:moveTo>
                    <a:lnTo>
                      <a:pt x="52994" y="22860"/>
                    </a:lnTo>
                    <a:cubicBezTo>
                      <a:pt x="63125" y="34348"/>
                      <a:pt x="62397" y="51781"/>
                      <a:pt x="51342" y="62384"/>
                    </a:cubicBezTo>
                    <a:cubicBezTo>
                      <a:pt x="40287" y="72986"/>
                      <a:pt x="22838" y="72986"/>
                      <a:pt x="11784" y="62384"/>
                    </a:cubicBezTo>
                    <a:cubicBezTo>
                      <a:pt x="729" y="51781"/>
                      <a:pt x="0" y="34348"/>
                      <a:pt x="10131" y="22860"/>
                    </a:cubicBezTo>
                    <a:lnTo>
                      <a:pt x="31563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653462" y="413861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8932545" y="41652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怎么解释结果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22005" y="467391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草图单模态：边恢复弱。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22005" y="499776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语音单模态：语义强但布局不足。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422005" y="53216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编辑桥：把补全和修正显式化。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9" name="TextBox 59"/>
            <p:cNvSpPr txBox="1"/>
            <p:nvPr/>
          </p:nvSpPr>
          <p:spPr>
            <a:xfrm>
              <a:off x="560070" y="6379845"/>
              <a:ext cx="12890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Results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7" grpId="0"/>
      <p:bldP spid="5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75285"/>
            <a:ext cx="7629525" cy="762953"/>
            <a:chOff x="537210" y="375285"/>
            <a:chExt cx="7629525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75285"/>
              <a:ext cx="762952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可解释性：让生成结果能被追问、定位和改进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59750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科研价值来自可诊断的结构恢复过程，而不是只输出一张看起来正确的图。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569863" y="1143000"/>
            <a:ext cx="4689824" cy="4610100"/>
            <a:chOff x="1569863" y="1143000"/>
            <a:chExt cx="4689824" cy="4610100"/>
          </a:xfrm>
        </p:grpSpPr>
        <p:sp>
          <p:nvSpPr>
            <p:cNvPr id="6" name="Ellipse 6"/>
            <p:cNvSpPr/>
            <p:nvPr/>
          </p:nvSpPr>
          <p:spPr>
            <a:xfrm>
              <a:off x="2171700" y="2019300"/>
              <a:ext cx="3314700" cy="3314700"/>
            </a:xfrm>
            <a:prstGeom prst="ellipse">
              <a:avLst/>
            </a:prstGeom>
            <a:noFill/>
            <a:ln w="28575">
              <a:solidFill>
                <a:srgbClr val="CBD5E1"/>
              </a:solidFill>
              <a:custDash>
                <a:ds d="266666" sp="200000"/>
              </a:custDash>
            </a:ln>
          </p:spPr>
        </p:sp>
        <p:sp>
          <p:nvSpPr>
            <p:cNvPr id="7" name="Ellipse 7"/>
            <p:cNvSpPr/>
            <p:nvPr/>
          </p:nvSpPr>
          <p:spPr>
            <a:xfrm>
              <a:off x="2952750" y="2800350"/>
              <a:ext cx="1752600" cy="17526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8" name="TextBox 8"/>
            <p:cNvSpPr txBox="1"/>
            <p:nvPr/>
          </p:nvSpPr>
          <p:spPr>
            <a:xfrm>
              <a:off x="3302127" y="33680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诊断闭环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40528" y="3745706"/>
              <a:ext cx="1777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traceable graph repair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3829050" y="1581150"/>
              <a:ext cx="1790700" cy="2095500"/>
            </a:xfrm>
            <a:custGeom>
              <a:avLst/>
              <a:gdLst/>
              <a:ahLst/>
              <a:cxnLst/>
              <a:rect l="l" t="t" r="r" b="b"/>
              <a:pathLst>
                <a:path w="1790700" h="2095500">
                  <a:moveTo>
                    <a:pt x="0" y="0"/>
                  </a:moveTo>
                  <a:cubicBezTo>
                    <a:pt x="1143000" y="171450"/>
                    <a:pt x="1790700" y="990600"/>
                    <a:pt x="1676400" y="2095500"/>
                  </a:cubicBezTo>
                </a:path>
              </a:pathLst>
            </a:custGeom>
            <a:noFill/>
            <a:ln w="38100">
              <a:solidFill>
                <a:srgbClr val="0F766E"/>
              </a:solidFill>
              <a:tailEnd type="triangle" w="lg" len="lg"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24100" y="476250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2895600" y="114300"/>
                  </a:moveTo>
                  <a:cubicBezTo>
                    <a:pt x="2000250" y="990600"/>
                    <a:pt x="647700" y="895350"/>
                    <a:pt x="0" y="0"/>
                  </a:cubicBezTo>
                </a:path>
              </a:pathLst>
            </a:custGeom>
            <a:noFill/>
            <a:ln w="38100">
              <a:solidFill>
                <a:srgbClr val="0F766E"/>
              </a:solidFill>
              <a:tailEnd type="triangle" w="lg" len="lg"/>
            </a:ln>
          </p:spPr>
        </p:sp>
        <p:sp>
          <p:nvSpPr>
            <p:cNvPr id="12" name="Freeform 12"/>
            <p:cNvSpPr/>
            <p:nvPr/>
          </p:nvSpPr>
          <p:spPr>
            <a:xfrm>
              <a:off x="2171700" y="1581150"/>
              <a:ext cx="1657350" cy="1123950"/>
            </a:xfrm>
            <a:custGeom>
              <a:avLst/>
              <a:gdLst/>
              <a:ahLst/>
              <a:cxnLst/>
              <a:rect l="l" t="t" r="r" b="b"/>
              <a:pathLst>
                <a:path w="1657350" h="1123950">
                  <a:moveTo>
                    <a:pt x="0" y="1123950"/>
                  </a:moveTo>
                  <a:cubicBezTo>
                    <a:pt x="419100" y="266700"/>
                    <a:pt x="933450" y="19050"/>
                    <a:pt x="1657350" y="0"/>
                  </a:cubicBezTo>
                </a:path>
              </a:pathLst>
            </a:custGeom>
            <a:noFill/>
            <a:ln w="38100">
              <a:solidFill>
                <a:srgbClr val="0F766E"/>
              </a:solidFill>
              <a:tailEnd type="triangle" w="lg" len="lg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366552" y="1143000"/>
              <a:ext cx="924997" cy="1226344"/>
              <a:chOff x="3366552" y="1143000"/>
              <a:chExt cx="924997" cy="1226344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3390900" y="1143000"/>
                <a:ext cx="876300" cy="876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3695688" y="1447800"/>
                <a:ext cx="266712" cy="266700"/>
                <a:chOff x="3695688" y="1447800"/>
                <a:chExt cx="266712" cy="26670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3762375" y="1514475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183356" y="4467"/>
                      </a:moveTo>
                      <a:cubicBezTo>
                        <a:pt x="193671" y="10422"/>
                        <a:pt x="200025" y="21427"/>
                        <a:pt x="200025" y="33338"/>
                      </a:cubicBezTo>
                      <a:lnTo>
                        <a:pt x="200025" y="166688"/>
                      </a:lnTo>
                      <a:cubicBezTo>
                        <a:pt x="200025" y="185099"/>
                        <a:pt x="185099" y="200025"/>
                        <a:pt x="166688" y="200025"/>
                      </a:cubicBezTo>
                      <a:lnTo>
                        <a:pt x="33338" y="200025"/>
                      </a:lnTo>
                      <a:cubicBezTo>
                        <a:pt x="14926" y="200025"/>
                        <a:pt x="0" y="185099"/>
                        <a:pt x="0" y="166688"/>
                      </a:cubicBezTo>
                      <a:lnTo>
                        <a:pt x="0" y="33338"/>
                      </a:ln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83344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3695688" y="1447800"/>
                  <a:ext cx="200037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37" h="200025">
                      <a:moveTo>
                        <a:pt x="16680" y="195591"/>
                      </a:moveTo>
                      <a:cubicBezTo>
                        <a:pt x="6356" y="189630"/>
                        <a:pt x="0" y="178609"/>
                        <a:pt x="12" y="166688"/>
                      </a:cubicBezTo>
                      <a:lnTo>
                        <a:pt x="12" y="33338"/>
                      </a:lnTo>
                      <a:cubicBezTo>
                        <a:pt x="12" y="14926"/>
                        <a:pt x="14937" y="0"/>
                        <a:pt x="33349" y="0"/>
                      </a:cubicBezTo>
                      <a:lnTo>
                        <a:pt x="166699" y="0"/>
                      </a:lnTo>
                      <a:cubicBezTo>
                        <a:pt x="185111" y="0"/>
                        <a:pt x="200037" y="14926"/>
                        <a:pt x="200037" y="33338"/>
                      </a:cubicBezTo>
                      <a:lnTo>
                        <a:pt x="200037" y="166688"/>
                      </a:lnTo>
                      <a:cubicBezTo>
                        <a:pt x="200037" y="185099"/>
                        <a:pt x="185111" y="200025"/>
                        <a:pt x="166699" y="200025"/>
                      </a:cubicBezTo>
                      <a:lnTo>
                        <a:pt x="116693" y="2000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3366552" y="21102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中间图对照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067300" y="3238500"/>
              <a:ext cx="1192387" cy="1264444"/>
              <a:chOff x="5067300" y="3238500"/>
              <a:chExt cx="1192387" cy="1264444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5067300" y="3238500"/>
                <a:ext cx="876300" cy="876300"/>
              </a:xfrm>
              <a:prstGeom prst="ellipse">
                <a:avLst/>
              </a:prstGeom>
              <a:solidFill>
                <a:srgbClr val="155E75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5388769" y="3543300"/>
                <a:ext cx="250031" cy="266700"/>
                <a:chOff x="5388769" y="3543300"/>
                <a:chExt cx="250031" cy="26670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5388769" y="3743325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5388769" y="3543300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5555456" y="3543300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5422106" y="3609975"/>
                  <a:ext cx="95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3350">
                      <a:moveTo>
                        <a:pt x="0" y="0"/>
                      </a:moveTo>
                      <a:lnTo>
                        <a:pt x="0" y="1333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5455444" y="3659981"/>
                  <a:ext cx="133350" cy="116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16681">
                      <a:moveTo>
                        <a:pt x="0" y="116681"/>
                      </a:moveTo>
                      <a:lnTo>
                        <a:pt x="100012" y="116681"/>
                      </a:lnTo>
                      <a:cubicBezTo>
                        <a:pt x="118424" y="116681"/>
                        <a:pt x="133350" y="101756"/>
                        <a:pt x="133350" y="83344"/>
                      </a:cubicBezTo>
                      <a:lnTo>
                        <a:pt x="1333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5538788" y="3659981"/>
                  <a:ext cx="100012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50006">
                      <a:moveTo>
                        <a:pt x="0" y="50006"/>
                      </a:moveTo>
                      <a:lnTo>
                        <a:pt x="50006" y="0"/>
                      </a:lnTo>
                      <a:lnTo>
                        <a:pt x="100012" y="50006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5513213" y="42438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编辑路径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1722263" y="4324350"/>
              <a:ext cx="1039987" cy="1245394"/>
              <a:chOff x="1722263" y="4324350"/>
              <a:chExt cx="1039987" cy="1245394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1885950" y="4324350"/>
                <a:ext cx="876300" cy="8763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2174081" y="4612481"/>
                <a:ext cx="300038" cy="300038"/>
                <a:chOff x="2174081" y="4612481"/>
                <a:chExt cx="300038" cy="300038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2174081" y="4612481"/>
                  <a:ext cx="300038" cy="300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300038">
                      <a:moveTo>
                        <a:pt x="0" y="0"/>
                      </a:moveTo>
                      <a:lnTo>
                        <a:pt x="0" y="300038"/>
                      </a:lnTo>
                      <a:lnTo>
                        <a:pt x="300038" y="300038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2240756" y="4679156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2407444" y="4645819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2324100" y="4779169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2293430" y="4739497"/>
                  <a:ext cx="39005" cy="48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05" h="48006">
                      <a:moveTo>
                        <a:pt x="0" y="0"/>
                      </a:moveTo>
                      <a:lnTo>
                        <a:pt x="39005" y="48006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2375573" y="4708193"/>
                  <a:ext cx="47289" cy="76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9" h="76443">
                      <a:moveTo>
                        <a:pt x="0" y="76443"/>
                      </a:moveTo>
                      <a:lnTo>
                        <a:pt x="47289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1722263" y="53106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指标回看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1569863" y="2266950"/>
              <a:ext cx="1039987" cy="1245394"/>
              <a:chOff x="1569863" y="2266950"/>
              <a:chExt cx="1039987" cy="1245394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1733550" y="2266950"/>
                <a:ext cx="876300" cy="8763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2021681" y="2571750"/>
                <a:ext cx="300038" cy="276225"/>
                <a:chOff x="2021681" y="2571750"/>
                <a:chExt cx="300038" cy="276225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2021681" y="2571750"/>
                  <a:ext cx="300038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200025">
                      <a:moveTo>
                        <a:pt x="0" y="16669"/>
                      </a:moveTo>
                      <a:cubicBezTo>
                        <a:pt x="0" y="7463"/>
                        <a:pt x="7463" y="0"/>
                        <a:pt x="16669" y="0"/>
                      </a:cubicBezTo>
                      <a:lnTo>
                        <a:pt x="283369" y="0"/>
                      </a:lnTo>
                      <a:cubicBezTo>
                        <a:pt x="292575" y="0"/>
                        <a:pt x="300038" y="7463"/>
                        <a:pt x="300038" y="16669"/>
                      </a:cubicBezTo>
                      <a:lnTo>
                        <a:pt x="300038" y="183356"/>
                      </a:lnTo>
                      <a:cubicBezTo>
                        <a:pt x="300038" y="192562"/>
                        <a:pt x="292575" y="200025"/>
                        <a:pt x="283369" y="200025"/>
                      </a:cubicBezTo>
                      <a:lnTo>
                        <a:pt x="16669" y="200025"/>
                      </a:lnTo>
                      <a:cubicBezTo>
                        <a:pt x="7463" y="200025"/>
                        <a:pt x="0" y="192562"/>
                        <a:pt x="0" y="183356"/>
                      </a:cubicBezTo>
                      <a:lnTo>
                        <a:pt x="0" y="1666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2088356" y="2838450"/>
                  <a:ext cx="1666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9525">
                      <a:moveTo>
                        <a:pt x="0" y="0"/>
                      </a:moveTo>
                      <a:lnTo>
                        <a:pt x="166688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2121694" y="2771775"/>
                  <a:ext cx="952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6675">
                      <a:moveTo>
                        <a:pt x="0" y="0"/>
                      </a:move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2221706" y="2771775"/>
                  <a:ext cx="952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6675">
                      <a:moveTo>
                        <a:pt x="0" y="0"/>
                      </a:move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1569863" y="32532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用户修改</a:t>
                </a:r>
              </a:p>
            </p:txBody>
          </p:sp>
        </p:grpSp>
      </p:grpSp>
      <p:grpSp>
        <p:nvGrpSpPr>
          <p:cNvPr id="71" name="Group 71"/>
          <p:cNvGrpSpPr/>
          <p:nvPr/>
        </p:nvGrpSpPr>
        <p:grpSpPr>
          <a:xfrm>
            <a:off x="6858000" y="1466850"/>
            <a:ext cx="4958000" cy="4076700"/>
            <a:chOff x="6858000" y="1466850"/>
            <a:chExt cx="4958000" cy="4076700"/>
          </a:xfrm>
        </p:grpSpPr>
        <p:sp>
          <p:nvSpPr>
            <p:cNvPr id="48" name="Rectangle 48"/>
            <p:cNvSpPr/>
            <p:nvPr/>
          </p:nvSpPr>
          <p:spPr>
            <a:xfrm>
              <a:off x="6858000" y="1466850"/>
              <a:ext cx="4762500" cy="4076700"/>
            </a:xfrm>
            <a:prstGeom prst="roundRect">
              <a:avLst>
                <a:gd name="adj" fmla="val 186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49" name="TextBox 49"/>
            <p:cNvSpPr txBox="1"/>
            <p:nvPr/>
          </p:nvSpPr>
          <p:spPr>
            <a:xfrm>
              <a:off x="7197090" y="169164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四类解释证据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7219950" y="21145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219950" y="2400300"/>
              <a:ext cx="3890962" cy="592931"/>
              <a:chOff x="7219950" y="2400300"/>
              <a:chExt cx="3890962" cy="592931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7219950" y="2400300"/>
                <a:ext cx="6858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331973" y="2497931"/>
                <a:ext cx="4617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Gs/Gu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080058" y="2481739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定位错误来源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081962" y="2764631"/>
                <a:ext cx="30289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视觉缺语义、语音缺布局、融合图残余冲突。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7219950" y="3143250"/>
              <a:ext cx="4040981" cy="592931"/>
              <a:chOff x="7219950" y="3143250"/>
              <a:chExt cx="4040981" cy="592931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7219950" y="3143250"/>
                <a:ext cx="6858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375291" y="3240881"/>
                <a:ext cx="37511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G0:T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080058" y="3224689"/>
                <a:ext cx="12820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解释每一步修复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081962" y="3507581"/>
                <a:ext cx="31789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新增节点、补边、删错边、纠正方向都可回放。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7219950" y="3886200"/>
              <a:ext cx="4596050" cy="592931"/>
              <a:chOff x="7219950" y="3886200"/>
              <a:chExt cx="4596050" cy="592931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7219950" y="3886200"/>
                <a:ext cx="6858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FEF3C7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375291" y="3983831"/>
                <a:ext cx="37511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59E0B"/>
                    </a:solidFill>
                    <a:latin typeface="Consolas"/>
                    <a:ea typeface="Microsoft YaHei"/>
                    <a:cs typeface="Consolas"/>
                  </a:rPr>
                  <a:t>GED↓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080058" y="3967639"/>
                <a:ext cx="12820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把解释落到指标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081962" y="4250531"/>
                <a:ext cx="37340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Normalized GED、Edit Cost、Path Energy 都能量化。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7219950" y="4629150"/>
              <a:ext cx="4341018" cy="592931"/>
              <a:chOff x="7219950" y="4629150"/>
              <a:chExt cx="4341018" cy="592931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7219950" y="4629150"/>
                <a:ext cx="6858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331973" y="4726781"/>
                <a:ext cx="4617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6A34A"/>
                    </a:solidFill>
                    <a:latin typeface="Consolas"/>
                    <a:ea typeface="Microsoft YaHei"/>
                    <a:cs typeface="Consolas"/>
                  </a:rPr>
                  <a:t>trace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8080058" y="4710589"/>
                <a:ext cx="163908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把用户反馈变成数据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081962" y="4993481"/>
                <a:ext cx="34790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真实修改轨迹可用于训练权重、排序器和交互策略。</a:t>
                </a:r>
              </a:p>
            </p:txBody>
          </p:sp>
        </p:grpSp>
      </p:grpSp>
      <p:grpSp>
        <p:nvGrpSpPr>
          <p:cNvPr id="74" name="Group 74"/>
          <p:cNvGrpSpPr/>
          <p:nvPr/>
        </p:nvGrpSpPr>
        <p:grpSpPr>
          <a:xfrm>
            <a:off x="1676400" y="5829300"/>
            <a:ext cx="8839200" cy="419100"/>
            <a:chOff x="1676400" y="5829300"/>
            <a:chExt cx="8839200" cy="419100"/>
          </a:xfrm>
        </p:grpSpPr>
        <p:sp>
          <p:nvSpPr>
            <p:cNvPr id="72" name="Rectangle 72"/>
            <p:cNvSpPr/>
            <p:nvPr/>
          </p:nvSpPr>
          <p:spPr>
            <a:xfrm>
              <a:off x="1676400" y="5829300"/>
              <a:ext cx="8839200" cy="419100"/>
            </a:xfrm>
            <a:prstGeom prst="roundRect">
              <a:avLst>
                <a:gd name="adj" fmla="val 18182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2846551" y="5959792"/>
              <a:ext cx="64988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这让系统从“能生成”提升为“能解释、能评测、能被真实使用数据持续改进”。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75" name="TextBox 75"/>
            <p:cNvSpPr txBox="1"/>
            <p:nvPr/>
          </p:nvSpPr>
          <p:spPr>
            <a:xfrm>
              <a:off x="560070" y="6379845"/>
              <a:ext cx="19310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Explainability Loop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71" grpId="0"/>
      <p:bldP spid="7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75285"/>
            <a:ext cx="6873430" cy="762953"/>
            <a:chOff x="537210" y="375285"/>
            <a:chExt cx="6873430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75285"/>
              <a:ext cx="68734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项目知识图谱：我们实际完成了哪些节点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57950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把应用侧、科研侧和工程侧放到同一张图里，展示成果之间的依赖关系。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76400" y="1104900"/>
            <a:ext cx="8839200" cy="4705350"/>
            <a:chOff x="1676400" y="1104900"/>
            <a:chExt cx="8839200" cy="4705350"/>
          </a:xfrm>
        </p:grpSpPr>
        <p:sp>
          <p:nvSpPr>
            <p:cNvPr id="6" name="Line 6"/>
            <p:cNvSpPr/>
            <p:nvPr/>
          </p:nvSpPr>
          <p:spPr>
            <a:xfrm flipH="1" flipV="1">
              <a:off x="2286000" y="1809750"/>
              <a:ext cx="3810000" cy="150495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 flipH="1" flipV="1">
              <a:off x="1676400" y="3200400"/>
              <a:ext cx="4419600" cy="11430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 flipH="1">
              <a:off x="2324100" y="3314700"/>
              <a:ext cx="3771900" cy="148590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 flipH="1" flipV="1">
              <a:off x="4857750" y="1581150"/>
              <a:ext cx="1238250" cy="173355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 flipV="1">
              <a:off x="6096000" y="1581150"/>
              <a:ext cx="1238250" cy="173355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 flipV="1">
              <a:off x="6096000" y="1809750"/>
              <a:ext cx="3771900" cy="150495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 flipV="1">
              <a:off x="6096000" y="3200400"/>
              <a:ext cx="4419600" cy="11430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3314700"/>
              <a:ext cx="3752850" cy="150495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>
              <a:off x="6096000" y="3314700"/>
              <a:ext cx="1" cy="182880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5" name="Freeform 15"/>
            <p:cNvSpPr/>
            <p:nvPr/>
          </p:nvSpPr>
          <p:spPr>
            <a:xfrm>
              <a:off x="3028950" y="1104900"/>
              <a:ext cx="2171700" cy="704850"/>
            </a:xfrm>
            <a:custGeom>
              <a:avLst/>
              <a:gdLst/>
              <a:ahLst/>
              <a:cxnLst/>
              <a:rect l="l" t="t" r="r" b="b"/>
              <a:pathLst>
                <a:path w="2171700" h="704850">
                  <a:moveTo>
                    <a:pt x="0" y="704850"/>
                  </a:moveTo>
                  <a:cubicBezTo>
                    <a:pt x="704850" y="0"/>
                    <a:pt x="1581150" y="19050"/>
                    <a:pt x="2171700" y="457200"/>
                  </a:cubicBezTo>
                </a:path>
              </a:pathLst>
            </a:custGeom>
            <a:noFill/>
            <a:ln w="15240">
              <a:solidFill>
                <a:srgbClr val="94A3B8"/>
              </a:solidFill>
              <a:custDash>
                <a:ds d="375000" sp="3125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7696200" y="1123950"/>
              <a:ext cx="2419350" cy="628650"/>
            </a:xfrm>
            <a:custGeom>
              <a:avLst/>
              <a:gdLst/>
              <a:ahLst/>
              <a:cxnLst/>
              <a:rect l="l" t="t" r="r" b="b"/>
              <a:pathLst>
                <a:path w="2419350" h="628650">
                  <a:moveTo>
                    <a:pt x="0" y="457200"/>
                  </a:moveTo>
                  <a:cubicBezTo>
                    <a:pt x="838200" y="0"/>
                    <a:pt x="1790700" y="19050"/>
                    <a:pt x="2419350" y="628650"/>
                  </a:cubicBezTo>
                </a:path>
              </a:pathLst>
            </a:custGeom>
            <a:noFill/>
            <a:ln w="15240">
              <a:solidFill>
                <a:srgbClr val="94A3B8"/>
              </a:solidFill>
              <a:custDash>
                <a:ds d="375000" sp="312500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2895600" y="4838700"/>
              <a:ext cx="6381750" cy="971550"/>
            </a:xfrm>
            <a:custGeom>
              <a:avLst/>
              <a:gdLst/>
              <a:ahLst/>
              <a:cxnLst/>
              <a:rect l="l" t="t" r="r" b="b"/>
              <a:pathLst>
                <a:path w="6381750" h="971550">
                  <a:moveTo>
                    <a:pt x="0" y="0"/>
                  </a:moveTo>
                  <a:cubicBezTo>
                    <a:pt x="1200150" y="971550"/>
                    <a:pt x="4914900" y="971550"/>
                    <a:pt x="6381750" y="19050"/>
                  </a:cubicBezTo>
                </a:path>
              </a:pathLst>
            </a:custGeom>
            <a:noFill/>
            <a:ln w="15240">
              <a:solidFill>
                <a:srgbClr val="94A3B8"/>
              </a:solidFill>
              <a:custDash>
                <a:ds d="375000" sp="312500"/>
              </a:custDash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105400" y="2781300"/>
            <a:ext cx="1981200" cy="1083469"/>
            <a:chOff x="5105400" y="2781300"/>
            <a:chExt cx="1981200" cy="1083469"/>
          </a:xfrm>
        </p:grpSpPr>
        <p:sp>
          <p:nvSpPr>
            <p:cNvPr id="19" name="Rectangle 19"/>
            <p:cNvSpPr/>
            <p:nvPr/>
          </p:nvSpPr>
          <p:spPr>
            <a:xfrm>
              <a:off x="5105400" y="2781300"/>
              <a:ext cx="1981200" cy="1066800"/>
            </a:xfrm>
            <a:prstGeom prst="roundRect">
              <a:avLst>
                <a:gd name="adj" fmla="val 7143"/>
              </a:avLst>
            </a:prstGeom>
            <a:solidFill>
              <a:srgbClr val="155E75"/>
            </a:solidFill>
            <a:ln>
              <a:noFill/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28" name="Group 28"/>
            <p:cNvGrpSpPr/>
            <p:nvPr/>
          </p:nvGrpSpPr>
          <p:grpSpPr>
            <a:xfrm>
              <a:off x="5857875" y="3038475"/>
              <a:ext cx="285750" cy="301625"/>
              <a:chOff x="5857875" y="3038475"/>
              <a:chExt cx="285750" cy="3016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905500" y="30384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147855"/>
                      <a:pt x="42645" y="190500"/>
                      <a:pt x="95250" y="190500"/>
                    </a:cubicBezTo>
                    <a:cubicBezTo>
                      <a:pt x="147855" y="190500"/>
                      <a:pt x="190500" y="147855"/>
                      <a:pt x="190500" y="95250"/>
                    </a:cubicBez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000750" y="3038475"/>
                <a:ext cx="31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190500">
                    <a:moveTo>
                      <a:pt x="0" y="0"/>
                    </a:moveTo>
                    <a:cubicBezTo>
                      <a:pt x="21161" y="5286"/>
                      <a:pt x="31750" y="37036"/>
                      <a:pt x="31750" y="95250"/>
                    </a:cubicBezTo>
                    <a:cubicBezTo>
                      <a:pt x="31750" y="153464"/>
                      <a:pt x="21161" y="185214"/>
                      <a:pt x="0" y="1905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969000" y="3038475"/>
                <a:ext cx="31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190500">
                    <a:moveTo>
                      <a:pt x="31750" y="0"/>
                    </a:moveTo>
                    <a:cubicBezTo>
                      <a:pt x="10589" y="5286"/>
                      <a:pt x="0" y="37036"/>
                      <a:pt x="0" y="95250"/>
                    </a:cubicBezTo>
                    <a:cubicBezTo>
                      <a:pt x="0" y="153464"/>
                      <a:pt x="10589" y="185214"/>
                      <a:pt x="31750" y="1905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905500" y="313372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857875" y="3308350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032500" y="3308350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969000" y="32766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000750" y="322897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5279436" y="3351848"/>
              <a:ext cx="163312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SketchVoice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63490" y="3666649"/>
              <a:ext cx="14650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CFBF1"/>
                  </a:solidFill>
                  <a:latin typeface="Consolas"/>
                  <a:ea typeface="Microsoft YaHei"/>
                  <a:cs typeface="Consolas"/>
                </a:rPr>
                <a:t>speech + sketch to KG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9150" y="1390650"/>
            <a:ext cx="2642283" cy="876300"/>
            <a:chOff x="819150" y="1390650"/>
            <a:chExt cx="2642283" cy="876300"/>
          </a:xfrm>
        </p:grpSpPr>
        <p:sp>
          <p:nvSpPr>
            <p:cNvPr id="32" name="Rectangle 32"/>
            <p:cNvSpPr/>
            <p:nvPr/>
          </p:nvSpPr>
          <p:spPr>
            <a:xfrm>
              <a:off x="819150" y="1390650"/>
              <a:ext cx="23241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37" name="Group 37"/>
            <p:cNvGrpSpPr/>
            <p:nvPr/>
          </p:nvGrpSpPr>
          <p:grpSpPr>
            <a:xfrm>
              <a:off x="1066800" y="1708150"/>
              <a:ext cx="228600" cy="212725"/>
              <a:chOff x="1066800" y="1708150"/>
              <a:chExt cx="228600" cy="2127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66800" y="1708150"/>
                <a:ext cx="2286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215900" y="0"/>
                    </a:lnTo>
                    <a:cubicBezTo>
                      <a:pt x="222914" y="0"/>
                      <a:pt x="228600" y="5686"/>
                      <a:pt x="228600" y="12700"/>
                    </a:cubicBezTo>
                    <a:lnTo>
                      <a:pt x="228600" y="139700"/>
                    </a:lnTo>
                    <a:cubicBezTo>
                      <a:pt x="228600" y="146714"/>
                      <a:pt x="222914" y="152400"/>
                      <a:pt x="215900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17600" y="1911350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43000" y="186055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219200" y="186055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449705" y="15782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产品原型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53515" y="1877378"/>
              <a:ext cx="20079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Web 工作台、画布、录音、上传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2450" y="2857500"/>
            <a:ext cx="2530269" cy="876300"/>
            <a:chOff x="552450" y="2857500"/>
            <a:chExt cx="2530269" cy="876300"/>
          </a:xfrm>
        </p:grpSpPr>
        <p:sp>
          <p:nvSpPr>
            <p:cNvPr id="41" name="Rectangle 41"/>
            <p:cNvSpPr/>
            <p:nvPr/>
          </p:nvSpPr>
          <p:spPr>
            <a:xfrm>
              <a:off x="552450" y="2857500"/>
              <a:ext cx="22479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46" name="Group 46"/>
            <p:cNvGrpSpPr/>
            <p:nvPr/>
          </p:nvGrpSpPr>
          <p:grpSpPr>
            <a:xfrm>
              <a:off x="774700" y="3225800"/>
              <a:ext cx="279400" cy="101600"/>
              <a:chOff x="774700" y="3225800"/>
              <a:chExt cx="279400" cy="101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016000" y="3225800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101600"/>
                    </a:moveTo>
                    <a:lnTo>
                      <a:pt x="0" y="0"/>
                    </a:lnTo>
                    <a:lnTo>
                      <a:pt x="38100" y="101600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27100" y="3225800"/>
                <a:ext cx="50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1600">
                    <a:moveTo>
                      <a:pt x="25400" y="0"/>
                    </a:moveTo>
                    <a:cubicBezTo>
                      <a:pt x="39428" y="0"/>
                      <a:pt x="50800" y="11372"/>
                      <a:pt x="50800" y="25400"/>
                    </a:cubicBezTo>
                    <a:lnTo>
                      <a:pt x="50800" y="76200"/>
                    </a:lnTo>
                    <a:cubicBezTo>
                      <a:pt x="50800" y="90228"/>
                      <a:pt x="39428" y="101600"/>
                      <a:pt x="25400" y="101600"/>
                    </a:cubicBez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4700" y="3225800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82550"/>
                    </a:lnTo>
                    <a:cubicBezTo>
                      <a:pt x="38100" y="93071"/>
                      <a:pt x="29571" y="101600"/>
                      <a:pt x="19050" y="101600"/>
                    </a:cubicBezTo>
                    <a:cubicBezTo>
                      <a:pt x="8529" y="101600"/>
                      <a:pt x="0" y="93071"/>
                      <a:pt x="0" y="82550"/>
                    </a:cubicBez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50900" y="3225800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88900"/>
                    </a:moveTo>
                    <a:cubicBezTo>
                      <a:pt x="0" y="95914"/>
                      <a:pt x="5686" y="101600"/>
                      <a:pt x="12700" y="101600"/>
                    </a:cubicBezTo>
                    <a:lnTo>
                      <a:pt x="25400" y="101600"/>
                    </a:lnTo>
                    <a:cubicBezTo>
                      <a:pt x="32414" y="101600"/>
                      <a:pt x="38100" y="95914"/>
                      <a:pt x="38100" y="88900"/>
                    </a:cubicBezTo>
                    <a:lnTo>
                      <a:pt x="38100" y="63500"/>
                    </a:lnTo>
                    <a:cubicBezTo>
                      <a:pt x="38100" y="56486"/>
                      <a:pt x="32414" y="50800"/>
                      <a:pt x="25400" y="50800"/>
                    </a:cubicBezTo>
                    <a:lnTo>
                      <a:pt x="12700" y="50800"/>
                    </a:lnTo>
                    <a:cubicBezTo>
                      <a:pt x="5686" y="50800"/>
                      <a:pt x="0" y="45114"/>
                      <a:pt x="0" y="381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lnTo>
                      <a:pt x="25400" y="0"/>
                    </a:lnTo>
                    <a:cubicBezTo>
                      <a:pt x="32414" y="0"/>
                      <a:pt x="38100" y="5686"/>
                      <a:pt x="38100" y="127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183005" y="3045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结构输出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86815" y="3344228"/>
              <a:ext cx="1895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Mermaid、SVG、JSON 可下载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38200" y="4476750"/>
            <a:ext cx="2698290" cy="876300"/>
            <a:chOff x="838200" y="4476750"/>
            <a:chExt cx="2698290" cy="876300"/>
          </a:xfrm>
        </p:grpSpPr>
        <p:sp>
          <p:nvSpPr>
            <p:cNvPr id="50" name="Rectangle 50"/>
            <p:cNvSpPr/>
            <p:nvPr/>
          </p:nvSpPr>
          <p:spPr>
            <a:xfrm>
              <a:off x="838200" y="4476750"/>
              <a:ext cx="24003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53" name="Group 53"/>
            <p:cNvGrpSpPr/>
            <p:nvPr/>
          </p:nvGrpSpPr>
          <p:grpSpPr>
            <a:xfrm>
              <a:off x="1085850" y="4819650"/>
              <a:ext cx="228600" cy="152400"/>
              <a:chOff x="1085850" y="4819650"/>
              <a:chExt cx="228600" cy="1524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1238250" y="4839578"/>
                <a:ext cx="76200" cy="112544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2544">
                    <a:moveTo>
                      <a:pt x="0" y="30872"/>
                    </a:moveTo>
                    <a:lnTo>
                      <a:pt x="57823" y="1967"/>
                    </a:lnTo>
                    <a:cubicBezTo>
                      <a:pt x="61759" y="0"/>
                      <a:pt x="66432" y="210"/>
                      <a:pt x="70175" y="2523"/>
                    </a:cubicBezTo>
                    <a:cubicBezTo>
                      <a:pt x="73918" y="4836"/>
                      <a:pt x="76198" y="8921"/>
                      <a:pt x="76200" y="13321"/>
                    </a:cubicBezTo>
                    <a:lnTo>
                      <a:pt x="76200" y="99223"/>
                    </a:lnTo>
                    <a:cubicBezTo>
                      <a:pt x="76198" y="103623"/>
                      <a:pt x="73918" y="107708"/>
                      <a:pt x="70175" y="110021"/>
                    </a:cubicBezTo>
                    <a:cubicBezTo>
                      <a:pt x="66432" y="112333"/>
                      <a:pt x="61759" y="112544"/>
                      <a:pt x="57823" y="110577"/>
                    </a:cubicBezTo>
                    <a:lnTo>
                      <a:pt x="0" y="81672"/>
                    </a:lnTo>
                    <a:lnTo>
                      <a:pt x="0" y="30872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085850" y="48196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468755" y="466439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终稿与讲解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472565" y="4963478"/>
              <a:ext cx="20639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图像生成、TTS、光标讲解 WebM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905250" y="1219200"/>
            <a:ext cx="2190750" cy="800100"/>
            <a:chOff x="3905250" y="1219200"/>
            <a:chExt cx="2190750" cy="800100"/>
          </a:xfrm>
        </p:grpSpPr>
        <p:sp>
          <p:nvSpPr>
            <p:cNvPr id="57" name="Rectangle 57"/>
            <p:cNvSpPr/>
            <p:nvPr/>
          </p:nvSpPr>
          <p:spPr>
            <a:xfrm>
              <a:off x="3905250" y="1219200"/>
              <a:ext cx="2190750" cy="800100"/>
            </a:xfrm>
            <a:prstGeom prst="roundRect">
              <a:avLst>
                <a:gd name="adj" fmla="val 9524"/>
              </a:avLst>
            </a:prstGeom>
            <a:solidFill>
              <a:srgbClr val="E0F2FE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61" name="Group 61"/>
            <p:cNvGrpSpPr/>
            <p:nvPr/>
          </p:nvGrpSpPr>
          <p:grpSpPr>
            <a:xfrm>
              <a:off x="4150519" y="1502569"/>
              <a:ext cx="214312" cy="214312"/>
              <a:chOff x="4150519" y="1502569"/>
              <a:chExt cx="214312" cy="21431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4245769" y="159781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4198144" y="1550194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0" y="59531"/>
                    </a:moveTo>
                    <a:cubicBezTo>
                      <a:pt x="0" y="92409"/>
                      <a:pt x="26653" y="119062"/>
                      <a:pt x="59531" y="119062"/>
                    </a:cubicBezTo>
                    <a:cubicBezTo>
                      <a:pt x="92409" y="119062"/>
                      <a:pt x="119062" y="92409"/>
                      <a:pt x="119062" y="59531"/>
                    </a:cubicBezTo>
                    <a:cubicBezTo>
                      <a:pt x="119062" y="26653"/>
                      <a:pt x="92409" y="0"/>
                      <a:pt x="59531" y="0"/>
                    </a:cubicBezTo>
                    <a:cubicBezTo>
                      <a:pt x="26653" y="0"/>
                      <a:pt x="0" y="26653"/>
                      <a:pt x="0" y="59531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4150519" y="15025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4517708" y="13863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科研任务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521518" y="1675924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语音引导知识草图结构化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096000" y="1219200"/>
            <a:ext cx="2708291" cy="800100"/>
            <a:chOff x="6096000" y="1219200"/>
            <a:chExt cx="2708291" cy="800100"/>
          </a:xfrm>
        </p:grpSpPr>
        <p:sp>
          <p:nvSpPr>
            <p:cNvPr id="65" name="Rectangle 65"/>
            <p:cNvSpPr/>
            <p:nvPr/>
          </p:nvSpPr>
          <p:spPr>
            <a:xfrm>
              <a:off x="6096000" y="1219200"/>
              <a:ext cx="2190750" cy="800100"/>
            </a:xfrm>
            <a:prstGeom prst="roundRect">
              <a:avLst>
                <a:gd name="adj" fmla="val 9524"/>
              </a:avLst>
            </a:prstGeom>
            <a:solidFill>
              <a:srgbClr val="CCFBF1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72" name="Group 72"/>
            <p:cNvGrpSpPr/>
            <p:nvPr/>
          </p:nvGrpSpPr>
          <p:grpSpPr>
            <a:xfrm>
              <a:off x="6365081" y="1514475"/>
              <a:ext cx="178595" cy="190500"/>
              <a:chOff x="6365081" y="1514475"/>
              <a:chExt cx="178595" cy="1905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365081" y="16573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365081" y="15144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484144" y="15144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388894" y="156210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412706" y="1597819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472238" y="1597819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708458" y="13863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方法模型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712268" y="1675924"/>
              <a:ext cx="20920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MMSB-Graph、图编辑桥、路径能量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048750" y="1390650"/>
            <a:ext cx="2782300" cy="876300"/>
            <a:chOff x="9048750" y="1390650"/>
            <a:chExt cx="2782300" cy="876300"/>
          </a:xfrm>
        </p:grpSpPr>
        <p:sp>
          <p:nvSpPr>
            <p:cNvPr id="76" name="Rectangle 76"/>
            <p:cNvSpPr/>
            <p:nvPr/>
          </p:nvSpPr>
          <p:spPr>
            <a:xfrm>
              <a:off x="9048750" y="1390650"/>
              <a:ext cx="23241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80" name="Group 80"/>
            <p:cNvGrpSpPr/>
            <p:nvPr/>
          </p:nvGrpSpPr>
          <p:grpSpPr>
            <a:xfrm>
              <a:off x="9309100" y="1695450"/>
              <a:ext cx="203200" cy="228600"/>
              <a:chOff x="9309100" y="1695450"/>
              <a:chExt cx="203200" cy="2286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9309100" y="1695450"/>
                <a:ext cx="203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200" y="59142"/>
                      <a:pt x="203200" y="38100"/>
                    </a:cubicBezTo>
                    <a:cubicBezTo>
                      <a:pt x="203200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9309100" y="173355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9309100" y="180975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9679305" y="15782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数据资产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683115" y="1877378"/>
              <a:ext cx="21479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24 cases、gold graph、语音锚点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391650" y="2857500"/>
            <a:ext cx="2684288" cy="876300"/>
            <a:chOff x="9391650" y="2857500"/>
            <a:chExt cx="2684288" cy="876300"/>
          </a:xfrm>
        </p:grpSpPr>
        <p:sp>
          <p:nvSpPr>
            <p:cNvPr id="84" name="Rectangle 84"/>
            <p:cNvSpPr/>
            <p:nvPr/>
          </p:nvSpPr>
          <p:spPr>
            <a:xfrm>
              <a:off x="9391650" y="2857500"/>
              <a:ext cx="22479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91" name="Group 91"/>
            <p:cNvGrpSpPr/>
            <p:nvPr/>
          </p:nvGrpSpPr>
          <p:grpSpPr>
            <a:xfrm>
              <a:off x="9639300" y="3162300"/>
              <a:ext cx="228600" cy="228600"/>
              <a:chOff x="9639300" y="3162300"/>
              <a:chExt cx="228600" cy="22860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9639300" y="31623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0" y="228600"/>
                    </a:lnTo>
                    <a:lnTo>
                      <a:pt x="228600" y="228600"/>
                    </a:ln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9690100" y="32131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9817100" y="31877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9753600" y="32893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9730232" y="3259074"/>
                <a:ext cx="2971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36576">
                    <a:moveTo>
                      <a:pt x="0" y="0"/>
                    </a:moveTo>
                    <a:lnTo>
                      <a:pt x="29718" y="36576"/>
                    </a:ln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9792818" y="3235223"/>
                <a:ext cx="36030" cy="58242"/>
              </a:xfrm>
              <a:custGeom>
                <a:avLst/>
                <a:gdLst/>
                <a:ahLst/>
                <a:cxnLst/>
                <a:rect l="l" t="t" r="r" b="b"/>
                <a:pathLst>
                  <a:path w="36030" h="58242">
                    <a:moveTo>
                      <a:pt x="0" y="58242"/>
                    </a:moveTo>
                    <a:lnTo>
                      <a:pt x="36030" y="0"/>
                    </a:ln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10022205" y="3045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评测结果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026015" y="3344228"/>
              <a:ext cx="2049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Node/Edge F1、GED、Edit Cost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8953500" y="4476750"/>
            <a:ext cx="2929319" cy="876300"/>
            <a:chOff x="8953500" y="4476750"/>
            <a:chExt cx="2929319" cy="876300"/>
          </a:xfrm>
        </p:grpSpPr>
        <p:sp>
          <p:nvSpPr>
            <p:cNvPr id="95" name="Rectangle 95"/>
            <p:cNvSpPr/>
            <p:nvPr/>
          </p:nvSpPr>
          <p:spPr>
            <a:xfrm>
              <a:off x="8953500" y="4476750"/>
              <a:ext cx="24003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100" name="Group 100"/>
            <p:cNvGrpSpPr/>
            <p:nvPr/>
          </p:nvGrpSpPr>
          <p:grpSpPr>
            <a:xfrm>
              <a:off x="9201150" y="4794250"/>
              <a:ext cx="228600" cy="203200"/>
              <a:chOff x="9201150" y="4794250"/>
              <a:chExt cx="228600" cy="203200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9201150" y="4794250"/>
                <a:ext cx="228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16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63500"/>
                    </a:lnTo>
                    <a:cubicBezTo>
                      <a:pt x="228600" y="84542"/>
                      <a:pt x="211542" y="101600"/>
                      <a:pt x="190500" y="101600"/>
                    </a:cubicBez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9201150" y="4895850"/>
                <a:ext cx="228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16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63500"/>
                    </a:lnTo>
                    <a:cubicBezTo>
                      <a:pt x="228600" y="84542"/>
                      <a:pt x="211542" y="101600"/>
                      <a:pt x="190500" y="101600"/>
                    </a:cubicBez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9251950" y="4845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9251950" y="4946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101" name="TextBox 101"/>
            <p:cNvSpPr txBox="1"/>
            <p:nvPr/>
          </p:nvSpPr>
          <p:spPr>
            <a:xfrm>
              <a:off x="9584055" y="46643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工程保障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587865" y="4963478"/>
              <a:ext cx="22949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FastAPI、mock fallback、分层服务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4857750" y="4953000"/>
            <a:ext cx="2761297" cy="876300"/>
            <a:chOff x="4857750" y="4953000"/>
            <a:chExt cx="2761297" cy="876300"/>
          </a:xfrm>
        </p:grpSpPr>
        <p:sp>
          <p:nvSpPr>
            <p:cNvPr id="104" name="Rectangle 104"/>
            <p:cNvSpPr/>
            <p:nvPr/>
          </p:nvSpPr>
          <p:spPr>
            <a:xfrm>
              <a:off x="4857750" y="4953000"/>
              <a:ext cx="24765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110" name="Group 110"/>
            <p:cNvGrpSpPr/>
            <p:nvPr/>
          </p:nvGrpSpPr>
          <p:grpSpPr>
            <a:xfrm>
              <a:off x="5105400" y="5308600"/>
              <a:ext cx="228600" cy="127000"/>
              <a:chOff x="5105400" y="5308600"/>
              <a:chExt cx="228600" cy="127000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5118100" y="5321300"/>
                <a:ext cx="203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01600">
                    <a:moveTo>
                      <a:pt x="0" y="101600"/>
                    </a:moveTo>
                    <a:lnTo>
                      <a:pt x="76200" y="12700"/>
                    </a:lnTo>
                    <a:lnTo>
                      <a:pt x="139700" y="76200"/>
                    </a:ln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5245100" y="53848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5181600" y="53213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5105400" y="54102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5308600" y="53086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111" name="TextBox 111"/>
            <p:cNvSpPr txBox="1"/>
            <p:nvPr/>
          </p:nvSpPr>
          <p:spPr>
            <a:xfrm>
              <a:off x="5488305" y="514064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可解释轨迹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5492115" y="5439728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中间图、编辑序列、路径能量诊断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114" name="TextBox 114"/>
            <p:cNvSpPr txBox="1"/>
            <p:nvPr/>
          </p:nvSpPr>
          <p:spPr>
            <a:xfrm>
              <a:off x="560070" y="6379845"/>
              <a:ext cx="22791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Project Knowledge Graph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1" grpId="0"/>
      <p:bldP spid="40" grpId="0"/>
      <p:bldP spid="49" grpId="0"/>
      <p:bldP spid="56" grpId="0"/>
      <p:bldP spid="64" grpId="0"/>
      <p:bldP spid="75" grpId="0"/>
      <p:bldP spid="83" grpId="0"/>
      <p:bldP spid="94" grpId="0"/>
      <p:bldP spid="103" grpId="0"/>
      <p:bldP spid="1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71450"/>
            </a:xfrm>
            <a:prstGeom prst="rect">
              <a:avLst/>
            </a:prstGeom>
            <a:solidFill>
              <a:srgbClr val="155E75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437322" y="495300"/>
            <a:ext cx="9317355" cy="821531"/>
            <a:chOff x="1437322" y="495300"/>
            <a:chExt cx="9317355" cy="821531"/>
          </a:xfrm>
        </p:grpSpPr>
        <p:sp>
          <p:nvSpPr>
            <p:cNvPr id="5" name="TextBox 5"/>
            <p:cNvSpPr txBox="1"/>
            <p:nvPr/>
          </p:nvSpPr>
          <p:spPr>
            <a:xfrm>
              <a:off x="1437322" y="495300"/>
              <a:ext cx="931735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总结：把自然表达升级为可研究的知识结构生产线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959138" y="1027271"/>
              <a:ext cx="827372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SketchVoice 不是单点 demo，而是“应用闭环 + 科研模型 + 评测协议 + 可解释诊断”的完整链路。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28750" y="1485900"/>
            <a:ext cx="9334500" cy="781050"/>
            <a:chOff x="1428750" y="1485900"/>
            <a:chExt cx="9334500" cy="781050"/>
          </a:xfrm>
        </p:grpSpPr>
        <p:sp>
          <p:nvSpPr>
            <p:cNvPr id="8" name="Rectangle 8"/>
            <p:cNvSpPr/>
            <p:nvPr/>
          </p:nvSpPr>
          <p:spPr>
            <a:xfrm>
              <a:off x="1428750" y="1485900"/>
              <a:ext cx="9334500" cy="781050"/>
            </a:xfrm>
            <a:prstGeom prst="roundRect">
              <a:avLst>
                <a:gd name="adj" fmla="val 9756"/>
              </a:avLst>
            </a:prstGeom>
            <a:solidFill>
              <a:srgbClr val="155E75"/>
            </a:solidFill>
            <a:ln>
              <a:noFill/>
            </a:ln>
            <a:effectLst>
              <a:outerShdw blurRad="114300" dist="38100" dir="5400000" algn="ctr" rotWithShape="0">
                <a:srgbClr val="172033">
                  <a:alpha val="6750"/>
                </a:srgbClr>
              </a:outerShdw>
            </a:effectLst>
          </p:spPr>
        </p:sp>
        <p:grpSp>
          <p:nvGrpSpPr>
            <p:cNvPr id="12" name="Group 12"/>
            <p:cNvGrpSpPr/>
            <p:nvPr/>
          </p:nvGrpSpPr>
          <p:grpSpPr>
            <a:xfrm>
              <a:off x="1857375" y="1733550"/>
              <a:ext cx="285750" cy="285750"/>
              <a:chOff x="1857375" y="1733550"/>
              <a:chExt cx="285750" cy="2857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857375" y="1733550"/>
                <a:ext cx="2857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5" y="142875"/>
                    </a:moveTo>
                    <a:lnTo>
                      <a:pt x="285750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2" y="5238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914144" y="1797050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4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3" y="21862"/>
                      <a:pt x="161408" y="54274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0" y="155318"/>
                      <a:pt x="115265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8"/>
                      <a:pt x="38481" y="14287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963738" y="1955800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2358390" y="1624965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一句话结论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64105" y="1940242"/>
              <a:ext cx="83333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我们把“边说边画”的低结构表达，转化为可编辑、可导出、可评测、可诊断的多模态科研表达基础设施。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66750" y="2781300"/>
            <a:ext cx="10858500" cy="1695450"/>
            <a:chOff x="666750" y="2781300"/>
            <a:chExt cx="10858500" cy="1695450"/>
          </a:xfrm>
        </p:grpSpPr>
        <p:grpSp>
          <p:nvGrpSpPr>
            <p:cNvPr id="25" name="Group 25"/>
            <p:cNvGrpSpPr/>
            <p:nvPr/>
          </p:nvGrpSpPr>
          <p:grpSpPr>
            <a:xfrm>
              <a:off x="666750" y="2781300"/>
              <a:ext cx="2343150" cy="1695450"/>
              <a:chOff x="666750" y="2781300"/>
              <a:chExt cx="2343150" cy="16954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666750" y="2781300"/>
                <a:ext cx="201930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38100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938212" y="3067050"/>
                <a:ext cx="257175" cy="238125"/>
                <a:chOff x="938212" y="3067050"/>
                <a:chExt cx="257175" cy="238125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938212" y="3067050"/>
                  <a:ext cx="2571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71450">
                      <a:moveTo>
                        <a:pt x="0" y="14288"/>
                      </a:moveTo>
                      <a:cubicBezTo>
                        <a:pt x="0" y="6397"/>
                        <a:pt x="6397" y="0"/>
                        <a:pt x="14288" y="0"/>
                      </a:cubicBezTo>
                      <a:lnTo>
                        <a:pt x="242888" y="0"/>
                      </a:lnTo>
                      <a:cubicBezTo>
                        <a:pt x="250778" y="0"/>
                        <a:pt x="257175" y="6397"/>
                        <a:pt x="257175" y="14288"/>
                      </a:cubicBezTo>
                      <a:lnTo>
                        <a:pt x="257175" y="157162"/>
                      </a:lnTo>
                      <a:cubicBezTo>
                        <a:pt x="257175" y="165053"/>
                        <a:pt x="250778" y="171450"/>
                        <a:pt x="242888" y="171450"/>
                      </a:cubicBezTo>
                      <a:lnTo>
                        <a:pt x="14288" y="171450"/>
                      </a:lnTo>
                      <a:cubicBezTo>
                        <a:pt x="6397" y="171450"/>
                        <a:pt x="0" y="165053"/>
                        <a:pt x="0" y="157162"/>
                      </a:cubicBezTo>
                      <a:lnTo>
                        <a:pt x="0" y="14288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995362" y="3295650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023938" y="323850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109662" y="323850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875348" y="3468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产品价值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81062" y="386000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完成可操作工作台，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81062" y="4107656"/>
                <a:ext cx="21288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覆盖输入、预览、下载、讲解。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914650" y="2781300"/>
              <a:ext cx="2019300" cy="1695450"/>
              <a:chOff x="2914650" y="2781300"/>
              <a:chExt cx="2019300" cy="16954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2914650" y="2781300"/>
                <a:ext cx="201930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38100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3214688" y="3067050"/>
                <a:ext cx="214312" cy="228600"/>
                <a:chOff x="3214688" y="3067050"/>
                <a:chExt cx="214312" cy="22860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3214688" y="32385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3214688" y="306705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3357562" y="306705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3243262" y="312420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271838" y="3167062"/>
                  <a:ext cx="1143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00012">
                      <a:moveTo>
                        <a:pt x="0" y="100012"/>
                      </a:moveTo>
                      <a:lnTo>
                        <a:pt x="85725" y="100012"/>
                      </a:lnTo>
                      <a:cubicBezTo>
                        <a:pt x="101507" y="100012"/>
                        <a:pt x="114300" y="87219"/>
                        <a:pt x="114300" y="71438"/>
                      </a:cubicBezTo>
                      <a:lnTo>
                        <a:pt x="1143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3343275" y="3167062"/>
                  <a:ext cx="85725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42862">
                      <a:moveTo>
                        <a:pt x="0" y="42862"/>
                      </a:moveTo>
                      <a:lnTo>
                        <a:pt x="42862" y="0"/>
                      </a:lnTo>
                      <a:lnTo>
                        <a:pt x="85725" y="42862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3123248" y="3468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科研价值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128962" y="386000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定义语音引导知识草图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128962" y="4107656"/>
                <a:ext cx="17087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结构化与 MMSB-Graph。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162550" y="2781300"/>
              <a:ext cx="2019300" cy="1695450"/>
              <a:chOff x="5162550" y="2781300"/>
              <a:chExt cx="2019300" cy="16954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162550" y="2781300"/>
                <a:ext cx="201930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38100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5434012" y="3052762"/>
                <a:ext cx="257176" cy="257175"/>
                <a:chOff x="5434012" y="3052762"/>
                <a:chExt cx="257176" cy="257175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5434012" y="3052762"/>
                  <a:ext cx="25717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257175">
                      <a:moveTo>
                        <a:pt x="0" y="0"/>
                      </a:moveTo>
                      <a:lnTo>
                        <a:pt x="0" y="257175"/>
                      </a:lnTo>
                      <a:lnTo>
                        <a:pt x="257175" y="257175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5491162" y="3109912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5634038" y="308133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5562600" y="319563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5536311" y="3161633"/>
                  <a:ext cx="33433" cy="41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33" h="41148">
                      <a:moveTo>
                        <a:pt x="0" y="0"/>
                      </a:moveTo>
                      <a:lnTo>
                        <a:pt x="33433" y="41148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5606720" y="3134801"/>
                  <a:ext cx="40534" cy="65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34" h="65522">
                      <a:moveTo>
                        <a:pt x="0" y="65522"/>
                      </a:moveTo>
                      <a:lnTo>
                        <a:pt x="40534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5371148" y="3468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评测价值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376862" y="3860006"/>
                <a:ext cx="158877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24 个样例、对照基线、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376862" y="4107656"/>
                <a:ext cx="179129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GED、F1、路径能量指标。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7410450" y="2781300"/>
              <a:ext cx="2019300" cy="1695450"/>
              <a:chOff x="7410450" y="2781300"/>
              <a:chExt cx="2019300" cy="16954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7410450" y="2781300"/>
                <a:ext cx="201930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38100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55" name="Group 55"/>
              <p:cNvGrpSpPr/>
              <p:nvPr/>
            </p:nvGrpSpPr>
            <p:grpSpPr>
              <a:xfrm>
                <a:off x="7681912" y="3067050"/>
                <a:ext cx="257175" cy="228600"/>
                <a:chOff x="7681912" y="3067050"/>
                <a:chExt cx="257175" cy="228600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7681912" y="3067050"/>
                  <a:ext cx="25717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14300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214312" y="0"/>
                      </a:lnTo>
                      <a:cubicBezTo>
                        <a:pt x="237985" y="0"/>
                        <a:pt x="257175" y="19190"/>
                        <a:pt x="257175" y="42862"/>
                      </a:cubicBezTo>
                      <a:lnTo>
                        <a:pt x="257175" y="71438"/>
                      </a:lnTo>
                      <a:cubicBezTo>
                        <a:pt x="257175" y="95110"/>
                        <a:pt x="237985" y="114300"/>
                        <a:pt x="214312" y="114300"/>
                      </a:cubicBezTo>
                      <a:lnTo>
                        <a:pt x="42862" y="114300"/>
                      </a:lnTo>
                      <a:cubicBezTo>
                        <a:pt x="19190" y="114300"/>
                        <a:pt x="0" y="95110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7681912" y="3181350"/>
                  <a:ext cx="25717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14300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214312" y="0"/>
                      </a:lnTo>
                      <a:cubicBezTo>
                        <a:pt x="237985" y="0"/>
                        <a:pt x="257175" y="19190"/>
                        <a:pt x="257175" y="42862"/>
                      </a:cubicBezTo>
                      <a:lnTo>
                        <a:pt x="257175" y="71438"/>
                      </a:lnTo>
                      <a:cubicBezTo>
                        <a:pt x="257175" y="95110"/>
                        <a:pt x="237985" y="114300"/>
                        <a:pt x="214312" y="114300"/>
                      </a:cubicBezTo>
                      <a:lnTo>
                        <a:pt x="42862" y="114300"/>
                      </a:lnTo>
                      <a:cubicBezTo>
                        <a:pt x="19190" y="114300"/>
                        <a:pt x="0" y="95110"/>
                        <a:pt x="0" y="71438"/>
                      </a:cubicBezTo>
                      <a:lnTo>
                        <a:pt x="0" y="42862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7739062" y="31242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739062" y="3238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7619048" y="3468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工程价值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624762" y="3860006"/>
                <a:ext cx="158877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模型服务可替换，mock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624762" y="410765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保障展示和复现实验。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9658350" y="2781300"/>
              <a:ext cx="1866900" cy="1695450"/>
              <a:chOff x="9658350" y="2781300"/>
              <a:chExt cx="1866900" cy="169545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9658350" y="2781300"/>
                <a:ext cx="186690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38100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66" name="Group 66"/>
              <p:cNvGrpSpPr/>
              <p:nvPr/>
            </p:nvGrpSpPr>
            <p:grpSpPr>
              <a:xfrm>
                <a:off x="9929812" y="3067050"/>
                <a:ext cx="257175" cy="238125"/>
                <a:chOff x="9929812" y="3067050"/>
                <a:chExt cx="257175" cy="238125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9929812" y="3067050"/>
                  <a:ext cx="2571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9525">
                      <a:moveTo>
                        <a:pt x="0" y="0"/>
                      </a:moveTo>
                      <a:lnTo>
                        <a:pt x="257175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9944100" y="3067050"/>
                  <a:ext cx="2286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71450">
                      <a:moveTo>
                        <a:pt x="0" y="0"/>
                      </a:moveTo>
                      <a:lnTo>
                        <a:pt x="0" y="142875"/>
                      </a:lnTo>
                      <a:cubicBezTo>
                        <a:pt x="0" y="158657"/>
                        <a:pt x="12793" y="171450"/>
                        <a:pt x="28575" y="171450"/>
                      </a:cubicBezTo>
                      <a:lnTo>
                        <a:pt x="200025" y="171450"/>
                      </a:lnTo>
                      <a:cubicBezTo>
                        <a:pt x="215807" y="171450"/>
                        <a:pt x="228600" y="158657"/>
                        <a:pt x="228600" y="142875"/>
                      </a:cubicBezTo>
                      <a:lnTo>
                        <a:pt x="228600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10058400" y="323850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10015538" y="3295650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10001250" y="3124200"/>
                  <a:ext cx="1143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7150">
                      <a:moveTo>
                        <a:pt x="0" y="57150"/>
                      </a:moveTo>
                      <a:lnTo>
                        <a:pt x="42862" y="14288"/>
                      </a:lnTo>
                      <a:lnTo>
                        <a:pt x="71438" y="42862"/>
                      </a:lnTo>
                      <a:lnTo>
                        <a:pt x="114300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67" name="TextBox 67"/>
              <p:cNvSpPr txBox="1"/>
              <p:nvPr/>
            </p:nvSpPr>
            <p:spPr>
              <a:xfrm>
                <a:off x="9866948" y="3468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表达价值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9872662" y="3860006"/>
                <a:ext cx="116121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把课堂/科研讲解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9872662" y="41076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沉淀为结构化资产。</a:t>
                </a: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1885950" y="4657725"/>
            <a:ext cx="8305800" cy="509587"/>
            <a:chOff x="1885950" y="4657725"/>
            <a:chExt cx="8305800" cy="509587"/>
          </a:xfrm>
        </p:grpSpPr>
        <p:sp>
          <p:nvSpPr>
            <p:cNvPr id="72" name="Line 72"/>
            <p:cNvSpPr/>
            <p:nvPr/>
          </p:nvSpPr>
          <p:spPr>
            <a:xfrm>
              <a:off x="1885950" y="4762500"/>
              <a:ext cx="8305800" cy="1"/>
            </a:xfrm>
            <a:prstGeom prst="line">
              <a:avLst/>
            </a:pr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1926860" y="4657725"/>
              <a:ext cx="908780" cy="509587"/>
              <a:chOff x="1926860" y="4657725"/>
              <a:chExt cx="908780" cy="509587"/>
            </a:xfrm>
          </p:grpSpPr>
          <p:sp>
            <p:nvSpPr>
              <p:cNvPr id="73" name="Ellipse 73"/>
              <p:cNvSpPr/>
              <p:nvPr/>
            </p:nvSpPr>
            <p:spPr>
              <a:xfrm>
                <a:off x="2276475" y="4657725"/>
                <a:ext cx="209550" cy="209550"/>
              </a:xfrm>
              <a:prstGeom prst="ellipse">
                <a:avLst/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1926860" y="49539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真实用户数据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4041410" y="4657725"/>
              <a:ext cx="908780" cy="509587"/>
              <a:chOff x="4041410" y="4657725"/>
              <a:chExt cx="908780" cy="509587"/>
            </a:xfrm>
          </p:grpSpPr>
          <p:sp>
            <p:nvSpPr>
              <p:cNvPr id="76" name="Ellipse 76"/>
              <p:cNvSpPr/>
              <p:nvPr/>
            </p:nvSpPr>
            <p:spPr>
              <a:xfrm>
                <a:off x="4391025" y="4657725"/>
                <a:ext cx="209550" cy="209550"/>
              </a:xfrm>
              <a:prstGeom prst="ellipse">
                <a:avLst/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4041410" y="49539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草图解析增强</a:t>
                </a: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6155960" y="4657725"/>
              <a:ext cx="908780" cy="509587"/>
              <a:chOff x="6155960" y="4657725"/>
              <a:chExt cx="908780" cy="509587"/>
            </a:xfrm>
          </p:grpSpPr>
          <p:sp>
            <p:nvSpPr>
              <p:cNvPr id="79" name="Ellipse 79"/>
              <p:cNvSpPr/>
              <p:nvPr/>
            </p:nvSpPr>
            <p:spPr>
              <a:xfrm>
                <a:off x="6505575" y="4657725"/>
                <a:ext cx="209550" cy="209550"/>
              </a:xfrm>
              <a:prstGeom prst="ellipse">
                <a:avLst/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6155960" y="49539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编辑策略训练</a:t>
                </a: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8270510" y="4657725"/>
              <a:ext cx="908780" cy="509587"/>
              <a:chOff x="8270510" y="4657725"/>
              <a:chExt cx="908780" cy="509587"/>
            </a:xfrm>
          </p:grpSpPr>
          <p:sp>
            <p:nvSpPr>
              <p:cNvPr id="82" name="Ellipse 82"/>
              <p:cNvSpPr/>
              <p:nvPr/>
            </p:nvSpPr>
            <p:spPr>
              <a:xfrm>
                <a:off x="8620125" y="4657725"/>
                <a:ext cx="209550" cy="209550"/>
              </a:xfrm>
              <a:prstGeom prst="ellipse">
                <a:avLst/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8270510" y="49539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前端诊断反馈</a:t>
                </a:r>
              </a:p>
            </p:txBody>
          </p:sp>
        </p:grpSp>
      </p:grpSp>
      <p:grpSp>
        <p:nvGrpSpPr>
          <p:cNvPr id="88" name="Group 88"/>
          <p:cNvGrpSpPr/>
          <p:nvPr/>
        </p:nvGrpSpPr>
        <p:grpSpPr>
          <a:xfrm>
            <a:off x="2038350" y="5524500"/>
            <a:ext cx="8115300" cy="495300"/>
            <a:chOff x="2038350" y="5524500"/>
            <a:chExt cx="8115300" cy="495300"/>
          </a:xfrm>
        </p:grpSpPr>
        <p:sp>
          <p:nvSpPr>
            <p:cNvPr id="86" name="Rectangle 86"/>
            <p:cNvSpPr/>
            <p:nvPr/>
          </p:nvSpPr>
          <p:spPr>
            <a:xfrm>
              <a:off x="2038350" y="5524500"/>
              <a:ext cx="811530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2486454" y="5684996"/>
              <a:ext cx="721909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所以，这个项目既有能演示的应用成果，也有可继续深化的科研问题和实验框架。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89" name="TextBox 89"/>
            <p:cNvSpPr txBox="1"/>
            <p:nvPr/>
          </p:nvSpPr>
          <p:spPr>
            <a:xfrm>
              <a:off x="560070" y="6379845"/>
              <a:ext cx="14570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Conclusion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71" grpId="0"/>
      <p:bldP spid="85" grpId="0"/>
      <p:bldP spid="8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2026-06-14T07:16:34Z</dcterms:created>
  <dcterms:modified xsi:type="dcterms:W3CDTF">2026-06-14T07:16:34Z</dcterms:modified>
  <cp:category/>
  <cp:contentStatus/>
</cp:coreProperties>
</file>