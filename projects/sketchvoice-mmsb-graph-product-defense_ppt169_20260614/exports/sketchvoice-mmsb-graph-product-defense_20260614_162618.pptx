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5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5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大家好，我汇报的项目是 SketchVoice，核心目标是把“边说边画”的自然表达转成可编辑知识图。这里既有一个可演示的产品闭环，也有背后的结构恢复方法 MMSB-Graph。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真实讨论里，很多有效信息不是写在规范文档里，而是散落在白板草图、口头解释和临时补充中。问题是这些内容会很快消失，后续复盘、整理和复用都需要大量人工成本。</a:t>
            </a:r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所以产品侧先从用户旅程出发：用户在画布上画草图，同时录入语音说明，系统把这些输入整理成结构化图。最后输出的不只是图片，而是 Mermaid、JSON、SVG 和可继续编辑的终稿。</a:t>
            </a:r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这个原型的重点是把课堂展示需要的主链路跑通。它支持草图输入、语音转写、图结构生成、图片渲染、语音讲解和导出，让“记录想法”变成“交付结构化结果”。</a:t>
            </a:r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这一页对应现场演示流程。我们会先画一个很简单的科研流程草图，比如输入数据、模型和评测指标，然后用语音补充中间的真实含义和关系方向。系统生成后，我会展示 Mermaid、SVG 和 JSON，再生成论文风格终稿图和带光标讲解的 WebM，说明这个项目不是静态 demo，而是一条从输入到交付的完整链路。</a:t>
            </a:r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工程实现上，前端承担交互画布、语音录入和结果展示，后端组织转写、结构生成、渲染和讲解服务。这样的分层设计让 mock fallback、外部模型服务和评测模块都可以替换。</a:t>
            </a:r>
            <a:endParaRPr lang="zh-CN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从这里进入科研侧。产品上看，我们做的是边说边画生成知识图；科研上更准确的定义，是语音引导的知识草图结构化。输入不是干净文本，而是手绘草图 $S$ 和同步语音 $U$；输出也不是一张好看的图片，而是可编辑、可评测、可渲染的知识图 $\hat{G}$。这里的关键假设是：草图给空间先验，语音给语义锚点和关系顺序，两者合起来才能恢复节点、边和方向。</a:t>
            </a:r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相关工作可以分成三路。第一路是草图到结构图，比如 SketchAgent 或 Sketch2Diagram，它们能利用视觉结构，但通常没有同步语音。第二路是静态图到可编辑代码，比如 Flowchart2Mermaid，场景相对封闭。第三路是 Schrödinger Bridge 或 DDSBM 这类图结构迁移方法，它们给了我们理论支点，但不是直接解决这个语音草图任务。所以我们的切入点，是 Sketch + Speech 到 Structured Knowledge Graph，再进一步做 Graph Editing Diagnosis。</a:t>
            </a:r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这一页给出任务定义。输入 $S$ 包括框、箭头、布局和手写文字，输入 $U$ 包括节点名称、关系顺序和设计意图。系统先恢复候选节点和候选边，再输出 $\hat{G}=(\hat{V},\hat{E})$。评测时我们不只看视觉效果，而是看 $\mathrm{Node}\ F_1$、$\mathrm{Edge}\ F_1$、$\mathrm{Direction\ Accuracy}$、$\mathrm{Speech\ Coverage}$、$\mathrm{Layout\ Preservation}$、$\mathrm{Normalized\ GED}$ 和 $\mathrm{Edit\ Cost}$。这样任务从一个 demo 变成了可以比较、可以复现实验的结构恢复问题。</a:t>
            </a:r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方法上，我们不把它说成一次性生成，而是拆成四步：先从草图得到 $G_s$，从语音得到 $G_u$，再融合成 $G_f$，最后通过 Graph Editing Bridge 得到 $\hat{G}$。这个桥允许删除多余节点、插入缺失节点、删除错误边、补目标边和修正方向。单步代价 $c(G_t,G_{t+1})$ 由图编辑距离、标签相似度、方向惩罚、布局保持和语音覆盖奖励组成；路径能量 $E(G_{0:T})=\frac{1}{T}\sum_{t=0}^{T-1}c(G_t,G_{t+1})^2$ 可以解释这条修复路径是不是过于费力，从而把模型错误转化为可诊断证据。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实验部分我们做了 24 个可控知识草图样例，覆盖线性流程、多分支融合、反馈闭环、模型架构和实验流程。每个样例都有草图、语音转写、目标节点边、语音锚点、草图区、布局坐标和难度标签。对照方法包括 Sketch-only、Speech-only、Early Fusion、Greedy Repair 和 MMSB-Graph。这里要强调，当前实验验证的是条件图和图编辑桥行为，不是宣称真实世界端到端性能。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结果上，草图单模态的 $\mathrm{Edge}\ F_1=0.387$，说明缺语义；语音单模态达到 $\mathrm{Edge}\ F_1=0.564$，说明它能补关系但缺布局；Early Fusion 能把 $\mathrm{Node}\ F_1$ 提到 $0.929$，但边结构仍不稳；Greedy Repair 达到 $\mathrm{Edge}\ F_1=0.842$，证明局部修复有效。MMSB-Graph 在可控条件下做到 $N/E/D=1$，$\mathrm{GED}=0$，$\mathrm{Edit\ Cost}=0$。这个结果的价值不是夸大成 SOTA，而是证明我们已经把语音草图恢复变成了可定义、可评测、可诊断，并且未来可以接入真实 ASR/VLM、用户修改轨迹和可训练 edit policy 的科研问题。</a:t>
            </a:r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这一页把项目已经完成的内容放到一张知识图谱里。左侧是应用成果，包括 Web 工作台、结构输出和终稿讲解；右侧是科研成果，包括任务定义、MMSB-Graph、数据资产、评测结果和可解释轨迹。这样可以看出我们不是只讲一个故事，而是确实做出了一组互相支撑的成果。</a:t>
            </a:r>
            <a:endParaRPr lang="zh-CN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最后从更高层面总结：SketchVoice 把自然表达升级成一条可研究的知识结构生产线。产品上它能演示和交付，科研上它提出任务和模型，评测上它有样例与指标，工程上它可替换可复现，应用上它能把课堂和科研讲解沉淀为结构化资产。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9" Type="http://schemas.openxmlformats.org/officeDocument/2006/relationships/notesSlide" Target="../notesSlides/notesSlide4.xml"/><Relationship Id="rId58" Type="http://schemas.openxmlformats.org/officeDocument/2006/relationships/slideLayout" Target="../slideLayouts/slideLayout1.xml"/><Relationship Id="rId57" Type="http://schemas.openxmlformats.org/officeDocument/2006/relationships/tags" Target="../tags/tag57.xml"/><Relationship Id="rId56" Type="http://schemas.openxmlformats.org/officeDocument/2006/relationships/tags" Target="../tags/tag56.xml"/><Relationship Id="rId55" Type="http://schemas.openxmlformats.org/officeDocument/2006/relationships/tags" Target="../tags/tag55.xml"/><Relationship Id="rId54" Type="http://schemas.openxmlformats.org/officeDocument/2006/relationships/tags" Target="../tags/tag54.xml"/><Relationship Id="rId53" Type="http://schemas.openxmlformats.org/officeDocument/2006/relationships/tags" Target="../tags/tag53.xml"/><Relationship Id="rId52" Type="http://schemas.openxmlformats.org/officeDocument/2006/relationships/tags" Target="../tags/tag52.xml"/><Relationship Id="rId51" Type="http://schemas.openxmlformats.org/officeDocument/2006/relationships/tags" Target="../tags/tag51.xml"/><Relationship Id="rId50" Type="http://schemas.openxmlformats.org/officeDocument/2006/relationships/tags" Target="../tags/tag50.xml"/><Relationship Id="rId5" Type="http://schemas.openxmlformats.org/officeDocument/2006/relationships/tags" Target="../tags/tag5.xml"/><Relationship Id="rId49" Type="http://schemas.openxmlformats.org/officeDocument/2006/relationships/tags" Target="../tags/tag49.xml"/><Relationship Id="rId48" Type="http://schemas.openxmlformats.org/officeDocument/2006/relationships/tags" Target="../tags/tag48.xml"/><Relationship Id="rId47" Type="http://schemas.openxmlformats.org/officeDocument/2006/relationships/tags" Target="../tags/tag47.xml"/><Relationship Id="rId46" Type="http://schemas.openxmlformats.org/officeDocument/2006/relationships/tags" Target="../tags/tag46.xml"/><Relationship Id="rId45" Type="http://schemas.openxmlformats.org/officeDocument/2006/relationships/tags" Target="../tags/tag45.xml"/><Relationship Id="rId44" Type="http://schemas.openxmlformats.org/officeDocument/2006/relationships/tags" Target="../tags/tag44.xml"/><Relationship Id="rId43" Type="http://schemas.openxmlformats.org/officeDocument/2006/relationships/tags" Target="../tags/tag43.xml"/><Relationship Id="rId42" Type="http://schemas.openxmlformats.org/officeDocument/2006/relationships/tags" Target="../tags/tag42.xml"/><Relationship Id="rId41" Type="http://schemas.openxmlformats.org/officeDocument/2006/relationships/tags" Target="../tags/tag41.xml"/><Relationship Id="rId40" Type="http://schemas.openxmlformats.org/officeDocument/2006/relationships/tags" Target="../tags/tag40.xml"/><Relationship Id="rId4" Type="http://schemas.openxmlformats.org/officeDocument/2006/relationships/tags" Target="../tags/tag4.xml"/><Relationship Id="rId39" Type="http://schemas.openxmlformats.org/officeDocument/2006/relationships/tags" Target="../tags/tag39.xml"/><Relationship Id="rId38" Type="http://schemas.openxmlformats.org/officeDocument/2006/relationships/tags" Target="../tags/tag38.xml"/><Relationship Id="rId37" Type="http://schemas.openxmlformats.org/officeDocument/2006/relationships/tags" Target="../tags/tag37.xml"/><Relationship Id="rId36" Type="http://schemas.openxmlformats.org/officeDocument/2006/relationships/tags" Target="../tags/tag36.xml"/><Relationship Id="rId35" Type="http://schemas.openxmlformats.org/officeDocument/2006/relationships/tags" Target="../tags/tag35.xml"/><Relationship Id="rId34" Type="http://schemas.openxmlformats.org/officeDocument/2006/relationships/tags" Target="../tags/tag34.xml"/><Relationship Id="rId33" Type="http://schemas.openxmlformats.org/officeDocument/2006/relationships/tags" Target="../tags/tag33.xml"/><Relationship Id="rId32" Type="http://schemas.openxmlformats.org/officeDocument/2006/relationships/tags" Target="../tags/tag32.xml"/><Relationship Id="rId31" Type="http://schemas.openxmlformats.org/officeDocument/2006/relationships/tags" Target="../tags/tag31.xml"/><Relationship Id="rId30" Type="http://schemas.openxmlformats.org/officeDocument/2006/relationships/tags" Target="../tags/tag30.xml"/><Relationship Id="rId3" Type="http://schemas.openxmlformats.org/officeDocument/2006/relationships/tags" Target="../tags/tag3.xml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65.xml"/><Relationship Id="rId8" Type="http://schemas.openxmlformats.org/officeDocument/2006/relationships/tags" Target="../tags/tag64.xml"/><Relationship Id="rId7" Type="http://schemas.openxmlformats.org/officeDocument/2006/relationships/tags" Target="../tags/tag63.xml"/><Relationship Id="rId6" Type="http://schemas.openxmlformats.org/officeDocument/2006/relationships/tags" Target="../tags/tag62.xml"/><Relationship Id="rId5" Type="http://schemas.openxmlformats.org/officeDocument/2006/relationships/tags" Target="../tags/tag61.xml"/><Relationship Id="rId4" Type="http://schemas.openxmlformats.org/officeDocument/2006/relationships/tags" Target="../tags/tag60.xml"/><Relationship Id="rId33" Type="http://schemas.openxmlformats.org/officeDocument/2006/relationships/notesSlide" Target="../notesSlides/notesSlide7.xml"/><Relationship Id="rId32" Type="http://schemas.openxmlformats.org/officeDocument/2006/relationships/slideLayout" Target="../slideLayouts/slideLayout1.xml"/><Relationship Id="rId31" Type="http://schemas.openxmlformats.org/officeDocument/2006/relationships/tags" Target="../tags/tag87.xml"/><Relationship Id="rId30" Type="http://schemas.openxmlformats.org/officeDocument/2006/relationships/tags" Target="../tags/tag86.xml"/><Relationship Id="rId3" Type="http://schemas.openxmlformats.org/officeDocument/2006/relationships/tags" Target="../tags/tag59.xml"/><Relationship Id="rId29" Type="http://schemas.openxmlformats.org/officeDocument/2006/relationships/tags" Target="../tags/tag85.xml"/><Relationship Id="rId28" Type="http://schemas.openxmlformats.org/officeDocument/2006/relationships/tags" Target="../tags/tag84.xml"/><Relationship Id="rId27" Type="http://schemas.openxmlformats.org/officeDocument/2006/relationships/tags" Target="../tags/tag83.xml"/><Relationship Id="rId26" Type="http://schemas.openxmlformats.org/officeDocument/2006/relationships/tags" Target="../tags/tag82.xml"/><Relationship Id="rId25" Type="http://schemas.openxmlformats.org/officeDocument/2006/relationships/tags" Target="../tags/tag81.xml"/><Relationship Id="rId24" Type="http://schemas.openxmlformats.org/officeDocument/2006/relationships/tags" Target="../tags/tag80.xml"/><Relationship Id="rId23" Type="http://schemas.openxmlformats.org/officeDocument/2006/relationships/tags" Target="../tags/tag79.xml"/><Relationship Id="rId22" Type="http://schemas.openxmlformats.org/officeDocument/2006/relationships/tags" Target="../tags/tag78.xml"/><Relationship Id="rId21" Type="http://schemas.openxmlformats.org/officeDocument/2006/relationships/tags" Target="../tags/tag77.xml"/><Relationship Id="rId20" Type="http://schemas.openxmlformats.org/officeDocument/2006/relationships/tags" Target="../tags/tag76.xml"/><Relationship Id="rId2" Type="http://schemas.openxmlformats.org/officeDocument/2006/relationships/tags" Target="../tags/tag58.xml"/><Relationship Id="rId19" Type="http://schemas.openxmlformats.org/officeDocument/2006/relationships/tags" Target="../tags/tag75.xml"/><Relationship Id="rId18" Type="http://schemas.openxmlformats.org/officeDocument/2006/relationships/tags" Target="../tags/tag74.xml"/><Relationship Id="rId17" Type="http://schemas.openxmlformats.org/officeDocument/2006/relationships/tags" Target="../tags/tag73.xml"/><Relationship Id="rId16" Type="http://schemas.openxmlformats.org/officeDocument/2006/relationships/tags" Target="../tags/tag72.xml"/><Relationship Id="rId15" Type="http://schemas.openxmlformats.org/officeDocument/2006/relationships/tags" Target="../tags/tag71.xml"/><Relationship Id="rId14" Type="http://schemas.openxmlformats.org/officeDocument/2006/relationships/tags" Target="../tags/tag70.xml"/><Relationship Id="rId13" Type="http://schemas.openxmlformats.org/officeDocument/2006/relationships/tags" Target="../tags/tag69.xml"/><Relationship Id="rId12" Type="http://schemas.openxmlformats.org/officeDocument/2006/relationships/tags" Target="../tags/tag68.xml"/><Relationship Id="rId11" Type="http://schemas.openxmlformats.org/officeDocument/2006/relationships/tags" Target="../tags/tag67.xml"/><Relationship Id="rId10" Type="http://schemas.openxmlformats.org/officeDocument/2006/relationships/tags" Target="../tags/tag66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0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2.png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-342900"/>
            <a:ext cx="12230100" cy="7200900"/>
            <a:chOff x="0" y="-342900"/>
            <a:chExt cx="12230100" cy="72009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  <p:txBody>
            <a:bodyPr/>
            <a:p>
              <a:endParaRPr lang="zh-CN" altLang="en-US"/>
            </a:p>
          </p:txBody>
        </p:sp>
        <p:sp>
          <p:nvSpPr>
            <p:cNvPr id="3" name="Ellipse 3"/>
            <p:cNvSpPr/>
            <p:nvPr/>
          </p:nvSpPr>
          <p:spPr>
            <a:xfrm>
              <a:off x="9029700" y="-342900"/>
              <a:ext cx="3200400" cy="3200400"/>
            </a:xfrm>
            <a:prstGeom prst="ellipse">
              <a:avLst/>
            </a:prstGeom>
            <a:solidFill>
              <a:srgbClr val="E0F2FE"/>
            </a:solidFill>
            <a:ln>
              <a:noFill/>
            </a:ln>
          </p:spPr>
        </p:sp>
        <p:sp>
          <p:nvSpPr>
            <p:cNvPr id="4" name="Ellipse 4"/>
            <p:cNvSpPr/>
            <p:nvPr/>
          </p:nvSpPr>
          <p:spPr>
            <a:xfrm>
              <a:off x="9639300" y="266700"/>
              <a:ext cx="1981200" cy="1981200"/>
            </a:xfrm>
            <a:prstGeom prst="ellipse">
              <a:avLst/>
            </a:prstGeom>
            <a:solidFill>
              <a:srgbClr val="CCFBF1">
                <a:alpha val="85000"/>
              </a:srgbClr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571500" y="514350"/>
              <a:ext cx="819150" cy="762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155E75"/>
                </a:gs>
                <a:gs pos="100000">
                  <a:srgbClr val="0F766E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815340" y="1272540"/>
            <a:ext cx="7430834" cy="2575560"/>
            <a:chOff x="815340" y="1272540"/>
            <a:chExt cx="7430834" cy="2575560"/>
          </a:xfrm>
        </p:grpSpPr>
        <p:sp>
          <p:nvSpPr>
            <p:cNvPr id="7" name="TextBox 7"/>
            <p:cNvSpPr txBox="1"/>
            <p:nvPr/>
          </p:nvSpPr>
          <p:spPr>
            <a:xfrm>
              <a:off x="815340" y="1272540"/>
              <a:ext cx="4020007" cy="975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8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</a:t>
              </a:r>
              <a:endParaRPr lang="zh-CN" sz="48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6295" y="2079308"/>
              <a:ext cx="5063933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150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语音 + 草图 → 科研方法图</a:t>
              </a:r>
              <a:endParaRPr lang="zh-CN" sz="3150" b="1" dirty="0">
                <a:solidFill>
                  <a:srgbClr val="155E7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91540" y="2796540"/>
              <a:ext cx="735463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一个可演示的 AI 产品原型，也是一个可继续研究的多模态结构化任务</a:t>
              </a:r>
              <a:endParaRPr lang="zh-CN" sz="180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14400" y="3371850"/>
              <a:ext cx="6858000" cy="47625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152400" dist="38100" dir="5400000" algn="ctr" rotWithShape="0">
                <a:srgbClr val="172033">
                  <a:alpha val="7500"/>
                </a:srgbClr>
              </a:outerShdw>
            </a:effectLst>
          </p:spPr>
        </p:sp>
        <p:sp>
          <p:nvSpPr>
            <p:cNvPr id="11" name="TextBox 11"/>
            <p:cNvSpPr txBox="1"/>
            <p:nvPr/>
          </p:nvSpPr>
          <p:spPr>
            <a:xfrm>
              <a:off x="1144905" y="3530918"/>
              <a:ext cx="669512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把课堂、科研讨论和白板草稿，一键转化为可编辑、可展示、可讲解的结构化方法图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7524750" y="2089150"/>
            <a:ext cx="3790950" cy="2959100"/>
            <a:chOff x="7524750" y="2089150"/>
            <a:chExt cx="3790950" cy="2959100"/>
          </a:xfrm>
        </p:grpSpPr>
        <p:sp>
          <p:nvSpPr>
            <p:cNvPr id="13" name="Rectangle 13"/>
            <p:cNvSpPr/>
            <p:nvPr/>
          </p:nvSpPr>
          <p:spPr>
            <a:xfrm>
              <a:off x="7524750" y="2089150"/>
              <a:ext cx="3219450" cy="666750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152400" dist="38100" dir="5400000" algn="ctr" rotWithShape="0">
                <a:srgbClr val="172033">
                  <a:alpha val="7500"/>
                </a:srgbClr>
              </a:outerShdw>
            </a:effectLst>
          </p:spPr>
        </p:sp>
        <p:grpSp>
          <p:nvGrpSpPr>
            <p:cNvPr id="16" name="Group 16"/>
            <p:cNvGrpSpPr/>
            <p:nvPr/>
          </p:nvGrpSpPr>
          <p:grpSpPr>
            <a:xfrm>
              <a:off x="7840345" y="2373709"/>
              <a:ext cx="210564" cy="213281"/>
              <a:chOff x="7840345" y="2373709"/>
              <a:chExt cx="210564" cy="21328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840345" y="2376426"/>
                <a:ext cx="210564" cy="210564"/>
              </a:xfrm>
              <a:custGeom>
                <a:avLst/>
                <a:gdLst/>
                <a:ahLst/>
                <a:cxnLst/>
                <a:rect l="l" t="t" r="r" b="b"/>
                <a:pathLst>
                  <a:path w="210564" h="210564">
                    <a:moveTo>
                      <a:pt x="0" y="210564"/>
                    </a:moveTo>
                    <a:lnTo>
                      <a:pt x="53975" y="210564"/>
                    </a:lnTo>
                    <a:lnTo>
                      <a:pt x="195659" y="68880"/>
                    </a:lnTo>
                    <a:cubicBezTo>
                      <a:pt x="210564" y="53975"/>
                      <a:pt x="210564" y="29810"/>
                      <a:pt x="195659" y="14905"/>
                    </a:cubicBezTo>
                    <a:cubicBezTo>
                      <a:pt x="180755" y="0"/>
                      <a:pt x="156589" y="0"/>
                      <a:pt x="141684" y="14905"/>
                    </a:cubicBezTo>
                    <a:lnTo>
                      <a:pt x="0" y="156589"/>
                    </a:lnTo>
                    <a:lnTo>
                      <a:pt x="0" y="210564"/>
                    </a:ln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891701" y="2373709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0"/>
                    </a:moveTo>
                    <a:lnTo>
                      <a:pt x="53975" y="53975"/>
                    </a:ln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8180705" y="2282190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手绘草图：空间结构</a:t>
              </a:r>
              <a:endParaRPr lang="zh-CN" sz="15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8096250" y="3219450"/>
              <a:ext cx="3219450" cy="666750"/>
            </a:xfrm>
            <a:prstGeom prst="roundRect">
              <a:avLst>
                <a:gd name="adj" fmla="val 11429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152400" dist="38100" dir="5400000" algn="ctr" rotWithShape="0">
                <a:srgbClr val="172033">
                  <a:alpha val="7500"/>
                </a:srgbClr>
              </a:outerShdw>
            </a:effectLst>
          </p:spPr>
        </p:sp>
        <p:grpSp>
          <p:nvGrpSpPr>
            <p:cNvPr id="23" name="Group 23"/>
            <p:cNvGrpSpPr/>
            <p:nvPr/>
          </p:nvGrpSpPr>
          <p:grpSpPr>
            <a:xfrm>
              <a:off x="8449469" y="3417888"/>
              <a:ext cx="188912" cy="265906"/>
              <a:chOff x="8449469" y="3417888"/>
              <a:chExt cx="188912" cy="265906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8503444" y="3417888"/>
                <a:ext cx="80962" cy="148431"/>
              </a:xfrm>
              <a:custGeom>
                <a:avLst/>
                <a:gdLst/>
                <a:ahLst/>
                <a:cxnLst/>
                <a:rect l="l" t="t" r="r" b="b"/>
                <a:pathLst>
                  <a:path w="80962" h="148431">
                    <a:moveTo>
                      <a:pt x="0" y="40481"/>
                    </a:moveTo>
                    <a:cubicBezTo>
                      <a:pt x="0" y="18124"/>
                      <a:pt x="18124" y="0"/>
                      <a:pt x="40481" y="0"/>
                    </a:cubicBezTo>
                    <a:cubicBezTo>
                      <a:pt x="62838" y="0"/>
                      <a:pt x="80962" y="18124"/>
                      <a:pt x="80962" y="40481"/>
                    </a:cubicBezTo>
                    <a:lnTo>
                      <a:pt x="80962" y="107950"/>
                    </a:lnTo>
                    <a:cubicBezTo>
                      <a:pt x="80962" y="130307"/>
                      <a:pt x="62838" y="148431"/>
                      <a:pt x="40481" y="148431"/>
                    </a:cubicBezTo>
                    <a:cubicBezTo>
                      <a:pt x="18124" y="148431"/>
                      <a:pt x="0" y="130307"/>
                      <a:pt x="0" y="107950"/>
                    </a:cubicBezTo>
                    <a:lnTo>
                      <a:pt x="0" y="40481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449469" y="3525838"/>
                <a:ext cx="188912" cy="94456"/>
              </a:xfrm>
              <a:custGeom>
                <a:avLst/>
                <a:gdLst/>
                <a:ahLst/>
                <a:cxnLst/>
                <a:rect l="l" t="t" r="r" b="b"/>
                <a:pathLst>
                  <a:path w="188912" h="94456">
                    <a:moveTo>
                      <a:pt x="0" y="0"/>
                    </a:moveTo>
                    <a:cubicBezTo>
                      <a:pt x="0" y="52167"/>
                      <a:pt x="42290" y="94456"/>
                      <a:pt x="94456" y="94456"/>
                    </a:cubicBezTo>
                    <a:cubicBezTo>
                      <a:pt x="146623" y="94456"/>
                      <a:pt x="188912" y="52167"/>
                      <a:pt x="188912" y="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489950" y="3674269"/>
                <a:ext cx="1079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9525">
                    <a:moveTo>
                      <a:pt x="0" y="0"/>
                    </a:moveTo>
                    <a:lnTo>
                      <a:pt x="10795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543925" y="3620294"/>
                <a:ext cx="952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3975">
                    <a:moveTo>
                      <a:pt x="0" y="0"/>
                    </a:moveTo>
                    <a:lnTo>
                      <a:pt x="0" y="53975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8877300" y="3486150"/>
              <a:ext cx="19283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同步语音：语义锚点</a:t>
              </a:r>
              <a:endParaRPr lang="zh-CN" sz="15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524750" y="4305300"/>
              <a:ext cx="3219450" cy="742950"/>
            </a:xfrm>
            <a:prstGeom prst="roundRect">
              <a:avLst>
                <a:gd name="adj" fmla="val 10256"/>
              </a:avLst>
            </a:prstGeom>
            <a:solidFill>
              <a:srgbClr val="155E75"/>
            </a:solidFill>
            <a:ln>
              <a:noFill/>
            </a:ln>
            <a:effectLst>
              <a:outerShdw blurRad="152400" dist="38100" dir="5400000" algn="ctr" rotWithShape="0">
                <a:srgbClr val="172033">
                  <a:alpha val="7500"/>
                </a:srgbClr>
              </a:outerShdw>
            </a:effectLst>
          </p:spPr>
        </p:sp>
        <p:grpSp>
          <p:nvGrpSpPr>
            <p:cNvPr id="34" name="Group 34"/>
            <p:cNvGrpSpPr/>
            <p:nvPr/>
          </p:nvGrpSpPr>
          <p:grpSpPr>
            <a:xfrm>
              <a:off x="7850981" y="4555331"/>
              <a:ext cx="242887" cy="256382"/>
              <a:chOff x="7850981" y="4555331"/>
              <a:chExt cx="242887" cy="256382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891462" y="4555331"/>
                <a:ext cx="161925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61925" h="161925">
                    <a:moveTo>
                      <a:pt x="0" y="80962"/>
                    </a:moveTo>
                    <a:cubicBezTo>
                      <a:pt x="0" y="125677"/>
                      <a:pt x="36248" y="161925"/>
                      <a:pt x="80962" y="161925"/>
                    </a:cubicBezTo>
                    <a:cubicBezTo>
                      <a:pt x="125677" y="161925"/>
                      <a:pt x="161925" y="125677"/>
                      <a:pt x="161925" y="80962"/>
                    </a:cubicBezTo>
                    <a:cubicBezTo>
                      <a:pt x="161925" y="36248"/>
                      <a:pt x="125677" y="0"/>
                      <a:pt x="80962" y="0"/>
                    </a:cubicBezTo>
                    <a:cubicBezTo>
                      <a:pt x="36248" y="0"/>
                      <a:pt x="0" y="36248"/>
                      <a:pt x="0" y="80962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972425" y="4555331"/>
                <a:ext cx="26988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26988" h="161925">
                    <a:moveTo>
                      <a:pt x="0" y="0"/>
                    </a:moveTo>
                    <a:cubicBezTo>
                      <a:pt x="17987" y="4493"/>
                      <a:pt x="26988" y="31481"/>
                      <a:pt x="26988" y="80962"/>
                    </a:cubicBezTo>
                    <a:cubicBezTo>
                      <a:pt x="26988" y="130444"/>
                      <a:pt x="17987" y="157432"/>
                      <a:pt x="0" y="161925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7945438" y="4555331"/>
                <a:ext cx="26988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26988" h="161925">
                    <a:moveTo>
                      <a:pt x="26988" y="0"/>
                    </a:moveTo>
                    <a:cubicBezTo>
                      <a:pt x="9000" y="4493"/>
                      <a:pt x="0" y="31481"/>
                      <a:pt x="0" y="80962"/>
                    </a:cubicBezTo>
                    <a:cubicBezTo>
                      <a:pt x="0" y="130444"/>
                      <a:pt x="9000" y="157432"/>
                      <a:pt x="26988" y="161925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891462" y="4636294"/>
                <a:ext cx="1619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1925" h="9525">
                    <a:moveTo>
                      <a:pt x="0" y="0"/>
                    </a:moveTo>
                    <a:lnTo>
                      <a:pt x="161925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850981" y="4784725"/>
                <a:ext cx="9445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4456" h="9525">
                    <a:moveTo>
                      <a:pt x="0" y="0"/>
                    </a:moveTo>
                    <a:lnTo>
                      <a:pt x="94456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999412" y="4784725"/>
                <a:ext cx="9445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4456" h="9525">
                    <a:moveTo>
                      <a:pt x="0" y="0"/>
                    </a:moveTo>
                    <a:lnTo>
                      <a:pt x="94456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7945438" y="4757738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7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7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7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7972425" y="4717256"/>
                <a:ext cx="9525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0481">
                    <a:moveTo>
                      <a:pt x="0" y="0"/>
                    </a:moveTo>
                    <a:lnTo>
                      <a:pt x="0" y="40481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8304848" y="4602004"/>
              <a:ext cx="1804226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结构化知识图资产</a:t>
              </a:r>
              <a:endParaRPr lang="zh-CN" sz="157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9124950" y="2876550"/>
              <a:ext cx="9525" cy="295275"/>
            </a:xfrm>
            <a:custGeom>
              <a:avLst/>
              <a:gdLst/>
              <a:ahLst/>
              <a:cxnLst/>
              <a:rect l="l" t="t" r="r" b="b"/>
              <a:pathLst>
                <a:path w="9525" h="295275">
                  <a:moveTo>
                    <a:pt x="0" y="0"/>
                  </a:moveTo>
                  <a:lnTo>
                    <a:pt x="0" y="295275"/>
                  </a:lnTo>
                </a:path>
              </a:pathLst>
            </a:custGeom>
            <a:noFill/>
            <a:ln w="28575">
              <a:solidFill>
                <a:srgbClr val="0F766E"/>
              </a:solidFill>
              <a:custDash>
                <a:ds d="233333" sp="200000"/>
              </a:custDash>
              <a:tailEnd type="triangle" w="lg" len="lg"/>
            </a:ln>
          </p:spPr>
        </p:sp>
        <p:sp>
          <p:nvSpPr>
            <p:cNvPr id="37" name="Freeform 37"/>
            <p:cNvSpPr/>
            <p:nvPr/>
          </p:nvSpPr>
          <p:spPr>
            <a:xfrm>
              <a:off x="9124950" y="3924300"/>
              <a:ext cx="9525" cy="333375"/>
            </a:xfrm>
            <a:custGeom>
              <a:avLst/>
              <a:gdLst/>
              <a:ahLst/>
              <a:cxnLst/>
              <a:rect l="l" t="t" r="r" b="b"/>
              <a:pathLst>
                <a:path w="9525" h="333375">
                  <a:moveTo>
                    <a:pt x="0" y="0"/>
                  </a:moveTo>
                  <a:lnTo>
                    <a:pt x="0" y="333375"/>
                  </a:lnTo>
                </a:path>
              </a:pathLst>
            </a:custGeom>
            <a:noFill/>
            <a:ln w="28575">
              <a:solidFill>
                <a:srgbClr val="0F766E"/>
              </a:solidFill>
              <a:custDash>
                <a:ds d="233333" sp="200000"/>
              </a:custDash>
              <a:tailEnd type="triangle" w="lg" len="lg"/>
            </a:ln>
          </p:spPr>
        </p:sp>
      </p:grpSp>
      <p:grpSp>
        <p:nvGrpSpPr>
          <p:cNvPr id="41" name="Group 41"/>
          <p:cNvGrpSpPr/>
          <p:nvPr/>
        </p:nvGrpSpPr>
        <p:grpSpPr>
          <a:xfrm>
            <a:off x="862012" y="6069806"/>
            <a:ext cx="10465118" cy="228600"/>
            <a:chOff x="862012" y="6069806"/>
            <a:chExt cx="10465118" cy="228600"/>
          </a:xfrm>
        </p:grpSpPr>
        <p:sp>
          <p:nvSpPr>
            <p:cNvPr id="39" name="TextBox 39"/>
            <p:cNvSpPr txBox="1"/>
            <p:nvPr/>
          </p:nvSpPr>
          <p:spPr>
            <a:xfrm>
              <a:off x="862012" y="6069806"/>
              <a:ext cx="233136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语音信息处理课程结项答辩 · 2026</a:t>
              </a:r>
              <a:endParaRPr lang="zh-CN" sz="1125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902220" y="609409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01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3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451485"/>
            <a:ext cx="8007572" cy="762953"/>
            <a:chOff x="537210" y="451485"/>
            <a:chExt cx="8007572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451485"/>
              <a:ext cx="800757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应用出发点：真实工作流是边说、边画、边补充</a:t>
              </a:r>
              <a:endParaRPr lang="zh-CN" sz="27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940118"/>
              <a:ext cx="70371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普通“文本生成图”工具不完全匹配科研学习场景，因为原始思考过程不是完整 prompt。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876300" y="1581150"/>
            <a:ext cx="10439400" cy="1143000"/>
            <a:chOff x="876300" y="1581150"/>
            <a:chExt cx="10439400" cy="1143000"/>
          </a:xfrm>
        </p:grpSpPr>
        <p:sp>
          <p:nvSpPr>
            <p:cNvPr id="6" name="Rectangle 6"/>
            <p:cNvSpPr/>
            <p:nvPr/>
          </p:nvSpPr>
          <p:spPr>
            <a:xfrm>
              <a:off x="876300" y="1581150"/>
              <a:ext cx="10439400" cy="1143000"/>
            </a:xfrm>
            <a:prstGeom prst="roundRect">
              <a:avLst>
                <a:gd name="adj" fmla="val 6667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10" name="Group 10"/>
            <p:cNvGrpSpPr/>
            <p:nvPr/>
          </p:nvGrpSpPr>
          <p:grpSpPr>
            <a:xfrm>
              <a:off x="1257300" y="1943100"/>
              <a:ext cx="342900" cy="342900"/>
              <a:chOff x="1257300" y="1943100"/>
              <a:chExt cx="342900" cy="3429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257300" y="22098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524000" y="19431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38100" y="76200"/>
                    </a:move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  <a:cubicBezTo>
                      <a:pt x="0" y="59142"/>
                      <a:pt x="17058" y="76200"/>
                      <a:pt x="38100" y="76200"/>
                    </a:cubicBez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390650" y="1981200"/>
                <a:ext cx="7620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66700">
                    <a:moveTo>
                      <a:pt x="76200" y="0"/>
                    </a:moveTo>
                    <a:cubicBezTo>
                      <a:pt x="55158" y="0"/>
                      <a:pt x="38100" y="17058"/>
                      <a:pt x="38100" y="38100"/>
                    </a:cubicBezTo>
                    <a:lnTo>
                      <a:pt x="38100" y="228600"/>
                    </a:lnTo>
                    <a:cubicBezTo>
                      <a:pt x="38100" y="249642"/>
                      <a:pt x="21042" y="266700"/>
                      <a:pt x="0" y="266700"/>
                    </a:cubicBez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920240" y="1844040"/>
              <a:ext cx="6623742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痛点不是“不会画图”，而是讨论过程很难沉淀为结构化资产</a:t>
              </a:r>
              <a:endParaRPr lang="zh-CN" sz="1800" b="1" dirty="0">
                <a:solidFill>
                  <a:srgbClr val="155E7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925955" y="2254568"/>
              <a:ext cx="741521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草图留下布局和箭头，语音留下节点名称、关系方向和设计意图；但会后往往还要重新整理。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466850" y="3068479"/>
            <a:ext cx="8845868" cy="1472565"/>
            <a:chOff x="1466850" y="3068479"/>
            <a:chExt cx="8845868" cy="1472565"/>
          </a:xfrm>
        </p:grpSpPr>
        <p:grpSp>
          <p:nvGrpSpPr>
            <p:cNvPr id="19" name="Group 19"/>
            <p:cNvGrpSpPr/>
            <p:nvPr/>
          </p:nvGrpSpPr>
          <p:grpSpPr>
            <a:xfrm>
              <a:off x="1466850" y="3068479"/>
              <a:ext cx="2967990" cy="615315"/>
              <a:chOff x="1466850" y="3068479"/>
              <a:chExt cx="2967990" cy="615315"/>
            </a:xfrm>
          </p:grpSpPr>
          <p:sp>
            <p:nvSpPr>
              <p:cNvPr id="15" name="Ellipse 15"/>
              <p:cNvSpPr/>
              <p:nvPr/>
            </p:nvSpPr>
            <p:spPr>
              <a:xfrm>
                <a:off x="1466850" y="3143250"/>
                <a:ext cx="342900" cy="342900"/>
              </a:xfrm>
              <a:prstGeom prst="ellipse">
                <a:avLst/>
              </a:prstGeom>
              <a:solidFill>
                <a:srgbClr val="155E75"/>
              </a:solidFill>
              <a:ln>
                <a:noFill/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1580695" y="3250406"/>
                <a:ext cx="11521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1</a:t>
                </a:r>
                <a:endParaRPr lang="zh-CN" sz="1125" b="1" dirty="0">
                  <a:solidFill>
                    <a:srgbClr val="FFFFFF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2018348" y="3068479"/>
                <a:ext cx="1230854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AI/科研学生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2022158" y="3424714"/>
                <a:ext cx="241268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读论文、做组会、快速画方法图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466850" y="3925729"/>
              <a:ext cx="3648076" cy="615315"/>
              <a:chOff x="1466850" y="3925729"/>
              <a:chExt cx="3648076" cy="615315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1466850" y="4000500"/>
                <a:ext cx="342900" cy="342900"/>
              </a:xfrm>
              <a:prstGeom prst="ellipse">
                <a:avLst/>
              </a:pr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1580695" y="4107656"/>
                <a:ext cx="11521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2</a:t>
                </a:r>
                <a:endParaRPr lang="zh-CN" sz="1125" b="1" dirty="0">
                  <a:solidFill>
                    <a:srgbClr val="FFFFFF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2018348" y="3925729"/>
                <a:ext cx="104340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教师/助教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022158" y="4281964"/>
                <a:ext cx="309276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课堂讲解和知识路线需要留下结构化材料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6324600" y="3068479"/>
              <a:ext cx="3894606" cy="615315"/>
              <a:chOff x="6324600" y="3068479"/>
              <a:chExt cx="3894606" cy="615315"/>
            </a:xfrm>
          </p:grpSpPr>
          <p:sp>
            <p:nvSpPr>
              <p:cNvPr id="25" name="Ellipse 25"/>
              <p:cNvSpPr/>
              <p:nvPr/>
            </p:nvSpPr>
            <p:spPr>
              <a:xfrm>
                <a:off x="6324600" y="3143250"/>
                <a:ext cx="342900" cy="3429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6438445" y="3250406"/>
                <a:ext cx="11521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3</a:t>
                </a:r>
                <a:endParaRPr lang="zh-CN" sz="1125" b="1" dirty="0">
                  <a:solidFill>
                    <a:srgbClr val="FFFFFF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876098" y="306847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科研团队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879908" y="3424714"/>
                <a:ext cx="333929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白板 brainstorming 容易丢失，复盘成本高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6324600" y="3925729"/>
              <a:ext cx="3988118" cy="615315"/>
              <a:chOff x="6324600" y="3925729"/>
              <a:chExt cx="3988118" cy="615315"/>
            </a:xfrm>
          </p:grpSpPr>
          <p:sp>
            <p:nvSpPr>
              <p:cNvPr id="30" name="Ellipse 30"/>
              <p:cNvSpPr/>
              <p:nvPr/>
            </p:nvSpPr>
            <p:spPr>
              <a:xfrm>
                <a:off x="6324600" y="4000500"/>
                <a:ext cx="342900" cy="3429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6438445" y="4107656"/>
                <a:ext cx="11521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FFFFFF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4</a:t>
                </a:r>
                <a:endParaRPr lang="zh-CN" sz="1125" b="1" dirty="0">
                  <a:solidFill>
                    <a:srgbClr val="FFFFFF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6876098" y="3925729"/>
                <a:ext cx="1484461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双创/产品团队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879908" y="4281964"/>
                <a:ext cx="3432810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想法表达很快，但图形产物和讲解材料生成慢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38" name="Group 38"/>
          <p:cNvGrpSpPr/>
          <p:nvPr/>
        </p:nvGrpSpPr>
        <p:grpSpPr>
          <a:xfrm>
            <a:off x="1581150" y="5334000"/>
            <a:ext cx="9029700" cy="457200"/>
            <a:chOff x="1581150" y="5334000"/>
            <a:chExt cx="9029700" cy="457200"/>
          </a:xfrm>
        </p:grpSpPr>
        <p:sp>
          <p:nvSpPr>
            <p:cNvPr id="36" name="Rectangle 36"/>
            <p:cNvSpPr/>
            <p:nvPr/>
          </p:nvSpPr>
          <p:spPr>
            <a:xfrm>
              <a:off x="1581150" y="5334000"/>
              <a:ext cx="9029700" cy="457200"/>
            </a:xfrm>
            <a:prstGeom prst="roundRect">
              <a:avLst>
                <a:gd name="adj" fmla="val 16667"/>
              </a:avLst>
            </a:prstGeom>
            <a:solidFill>
              <a:srgbClr val="155E75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1877903" y="5475446"/>
              <a:ext cx="843619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的切入点：保留自然表达方式，同时输出可编辑、可复用、可展示的结构化结果。</a:t>
              </a:r>
              <a:endParaRPr lang="zh-CN" sz="142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39" name="TextBox 39"/>
            <p:cNvSpPr txBox="1"/>
            <p:nvPr/>
          </p:nvSpPr>
          <p:spPr>
            <a:xfrm>
              <a:off x="560070" y="6379845"/>
              <a:ext cx="20271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Application Scenario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02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5" grpId="0"/>
      <p:bldP spid="3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94335"/>
            <a:ext cx="8423424" cy="743903"/>
            <a:chOff x="537210" y="394335"/>
            <a:chExt cx="8423424" cy="74390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94335"/>
              <a:ext cx="8423424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竞品定位：我们解决的是“自然表达过程到科研图”</a:t>
              </a:r>
              <a:endParaRPr lang="zh-CN" sz="27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730719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现有工具大多做文本到图或画布协作，SketchVoice 聚焦草图 + 语音 + 结构化科研方法图。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1352550"/>
            <a:ext cx="11049000" cy="3429000"/>
            <a:chOff x="571500" y="1352550"/>
            <a:chExt cx="11049000" cy="3429000"/>
          </a:xfrm>
        </p:grpSpPr>
        <p:sp>
          <p:nvSpPr>
            <p:cNvPr id="6" name="Rectangle 6"/>
            <p:cNvSpPr/>
            <p:nvPr/>
          </p:nvSpPr>
          <p:spPr>
            <a:xfrm>
              <a:off x="571500" y="1352550"/>
              <a:ext cx="11049000" cy="34290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19050" dir="5400000" algn="ctr" rotWithShape="0">
                <a:srgbClr val="172033">
                  <a:alpha val="4500"/>
                </a:srgbClr>
              </a:outerShdw>
            </a:effectLst>
          </p:spPr>
        </p:sp>
        <p:sp>
          <p:nvSpPr>
            <p:cNvPr id="7" name="Rectangle 7"/>
            <p:cNvSpPr/>
            <p:nvPr/>
          </p:nvSpPr>
          <p:spPr>
            <a:xfrm>
              <a:off x="571500" y="1352550"/>
              <a:ext cx="11049000" cy="495300"/>
            </a:xfrm>
            <a:prstGeom prst="roundRect">
              <a:avLst>
                <a:gd name="adj" fmla="val 15385"/>
              </a:avLst>
            </a:prstGeom>
            <a:solidFill>
              <a:srgbClr val="155E75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42010" y="1546860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类型</a:t>
              </a:r>
              <a:endParaRPr lang="zh-CN" sz="12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255139" y="1546860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代表</a:t>
              </a:r>
              <a:endParaRPr lang="zh-CN" sz="12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579239" y="1546860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优势</a:t>
              </a:r>
              <a:endParaRPr lang="zh-CN" sz="12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12889" y="1546860"/>
              <a:ext cx="36652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不足</a:t>
              </a:r>
              <a:endParaRPr lang="zh-CN" sz="12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443847" y="1546860"/>
              <a:ext cx="1038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我们的切入点</a:t>
              </a:r>
              <a:endParaRPr lang="zh-CN" sz="12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Line 13"/>
            <p:cNvSpPr/>
            <p:nvPr/>
          </p:nvSpPr>
          <p:spPr>
            <a:xfrm>
              <a:off x="1657350" y="184785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3238500" y="184785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5" name="Line 15"/>
            <p:cNvSpPr/>
            <p:nvPr/>
          </p:nvSpPr>
          <p:spPr>
            <a:xfrm>
              <a:off x="6191250" y="184785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6" name="Line 16"/>
            <p:cNvSpPr/>
            <p:nvPr/>
          </p:nvSpPr>
          <p:spPr>
            <a:xfrm>
              <a:off x="8382000" y="1847850"/>
              <a:ext cx="9525" cy="2933700"/>
            </a:xfrm>
            <a:custGeom>
              <a:avLst/>
              <a:gdLst/>
              <a:ahLst/>
              <a:cxnLst/>
              <a:rect l="l" t="t" r="r" b="b"/>
              <a:pathLst>
                <a:path w="9525" h="2933700">
                  <a:moveTo>
                    <a:pt x="0" y="0"/>
                  </a:moveTo>
                  <a:lnTo>
                    <a:pt x="0" y="293370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7" name="Line 17"/>
            <p:cNvSpPr/>
            <p:nvPr/>
          </p:nvSpPr>
          <p:spPr>
            <a:xfrm>
              <a:off x="571500" y="25717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571500" y="32956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571500" y="40195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842010" y="1993106"/>
              <a:ext cx="9276754" cy="476250"/>
              <a:chOff x="842010" y="1993106"/>
              <a:chExt cx="9276754" cy="476250"/>
            </a:xfrm>
          </p:grpSpPr>
          <p:sp>
            <p:nvSpPr>
              <p:cNvPr id="20" name="TextBox 20"/>
              <p:cNvSpPr txBox="1"/>
              <p:nvPr/>
            </p:nvSpPr>
            <p:spPr>
              <a:xfrm>
                <a:off x="842010" y="2108835"/>
                <a:ext cx="70256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在线白板</a:t>
                </a:r>
                <a:endParaRPr lang="zh-CN" sz="12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871996" y="2125028"/>
                <a:ext cx="113280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475569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Miro / Whimsical</a:t>
                </a:r>
                <a:endParaRPr lang="zh-CN" sz="1050" dirty="0">
                  <a:solidFill>
                    <a:srgbClr val="47556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509962" y="1993106"/>
                <a:ext cx="167878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协作、画布、流程图成熟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3509962" y="2240756"/>
                <a:ext cx="140124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AI 可利用画布上下文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6462712" y="199310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偏通用协作资产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6462712" y="2240756"/>
                <a:ext cx="122872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不专注科研方法图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8672512" y="2116931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F766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科研知识草图结构化</a:t>
                </a:r>
                <a:endParaRPr lang="zh-CN" sz="1125" b="1" dirty="0">
                  <a:solidFill>
                    <a:srgbClr val="0F76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770890" y="2717006"/>
              <a:ext cx="9190354" cy="476250"/>
              <a:chOff x="770890" y="2717006"/>
              <a:chExt cx="9190354" cy="476250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770890" y="2832735"/>
                <a:ext cx="895788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AI 图示生成</a:t>
                </a:r>
                <a:endParaRPr lang="zh-CN" sz="12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2131028" y="28489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475569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Napkin AI</a:t>
                </a:r>
                <a:endParaRPr lang="zh-CN" sz="1050" dirty="0">
                  <a:solidFill>
                    <a:srgbClr val="47556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3509962" y="2717006"/>
                <a:ext cx="92868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文本转图方便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3509962" y="2964656"/>
                <a:ext cx="181379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支持 PPT、PNG、PDF、SVG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6462712" y="2717006"/>
                <a:ext cx="92868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输入多为文本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462712" y="29646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弱化草图和语音过程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672512" y="2840831"/>
                <a:ext cx="128873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F766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保留原始思考过程</a:t>
                </a:r>
                <a:endParaRPr lang="zh-CN" sz="1125" b="1" dirty="0">
                  <a:solidFill>
                    <a:srgbClr val="0F76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770890" y="3440906"/>
              <a:ext cx="9615658" cy="476250"/>
              <a:chOff x="770890" y="3440906"/>
              <a:chExt cx="9615658" cy="476250"/>
            </a:xfrm>
          </p:grpSpPr>
          <p:sp>
            <p:nvSpPr>
              <p:cNvPr id="36" name="TextBox 36"/>
              <p:cNvSpPr txBox="1"/>
              <p:nvPr/>
            </p:nvSpPr>
            <p:spPr>
              <a:xfrm>
                <a:off x="770890" y="3556635"/>
                <a:ext cx="87058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代码图工具</a:t>
                </a:r>
                <a:endParaRPr lang="zh-CN" sz="12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773984" y="3572828"/>
                <a:ext cx="1328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475569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Mermaid / Graphviz</a:t>
                </a:r>
                <a:endParaRPr lang="zh-CN" sz="1050" dirty="0">
                  <a:solidFill>
                    <a:srgbClr val="47556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3509962" y="344090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可编辑、可版本管理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3509962" y="368855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适合工程化复用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462712" y="3440906"/>
                <a:ext cx="122872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非技术用户门槛高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462712" y="368855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需要手写图代码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672512" y="3564731"/>
                <a:ext cx="171403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F766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自动生成图代码和 JSON</a:t>
                </a:r>
                <a:endParaRPr lang="zh-CN" sz="1125" b="1" dirty="0">
                  <a:solidFill>
                    <a:srgbClr val="0F76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694690" y="4164806"/>
              <a:ext cx="10054153" cy="476250"/>
              <a:chOff x="694690" y="4164806"/>
              <a:chExt cx="10054153" cy="476250"/>
            </a:xfrm>
          </p:grpSpPr>
          <p:sp>
            <p:nvSpPr>
              <p:cNvPr id="44" name="TextBox 44"/>
              <p:cNvSpPr txBox="1"/>
              <p:nvPr/>
            </p:nvSpPr>
            <p:spPr>
              <a:xfrm>
                <a:off x="694690" y="4273550"/>
                <a:ext cx="103860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草图转图研究</a:t>
                </a:r>
                <a:endParaRPr lang="zh-CN" sz="12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910501" y="4296728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475569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SketchAgent 等</a:t>
                </a:r>
                <a:endParaRPr lang="zh-CN" sz="1050" dirty="0">
                  <a:solidFill>
                    <a:srgbClr val="47556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3509962" y="4164806"/>
                <a:ext cx="122872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关注结构化图恢复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509962" y="4412456"/>
                <a:ext cx="161877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可转 Mermaid 或图代码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6462712" y="416480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多聚焦静态图像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462712" y="4412456"/>
                <a:ext cx="122872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同步语音反馈较少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8672512" y="4288631"/>
                <a:ext cx="207633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0F766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语音作为语义锚点和方向约束</a:t>
                </a:r>
                <a:endParaRPr lang="zh-CN" sz="1125" b="1" dirty="0">
                  <a:solidFill>
                    <a:srgbClr val="0F76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59" name="Group 59"/>
          <p:cNvGrpSpPr/>
          <p:nvPr/>
        </p:nvGrpSpPr>
        <p:grpSpPr>
          <a:xfrm>
            <a:off x="1428750" y="5219700"/>
            <a:ext cx="9587498" cy="533400"/>
            <a:chOff x="1428750" y="5219700"/>
            <a:chExt cx="9587498" cy="533400"/>
          </a:xfrm>
        </p:grpSpPr>
        <p:sp>
          <p:nvSpPr>
            <p:cNvPr id="53" name="Rectangle 53"/>
            <p:cNvSpPr/>
            <p:nvPr/>
          </p:nvSpPr>
          <p:spPr>
            <a:xfrm>
              <a:off x="1428750" y="5219700"/>
              <a:ext cx="9334500" cy="533400"/>
            </a:xfrm>
            <a:prstGeom prst="roundRect">
              <a:avLst>
                <a:gd name="adj" fmla="val 14286"/>
              </a:avLst>
            </a:prstGeom>
            <a:solidFill>
              <a:srgbClr val="CCFBF1"/>
            </a:solidFill>
            <a:ln w="9525">
              <a:solidFill>
                <a:srgbClr val="0F766E"/>
              </a:solidFill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1733550" y="5372100"/>
              <a:ext cx="228600" cy="228600"/>
              <a:chOff x="1733550" y="5372100"/>
              <a:chExt cx="228600" cy="22860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1835150" y="547370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1784350" y="5422900"/>
                <a:ext cx="1270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127000">
                    <a:moveTo>
                      <a:pt x="0" y="63500"/>
                    </a:moveTo>
                    <a:cubicBezTo>
                      <a:pt x="0" y="98570"/>
                      <a:pt x="28430" y="127000"/>
                      <a:pt x="63500" y="127000"/>
                    </a:cubicBezTo>
                    <a:cubicBezTo>
                      <a:pt x="98570" y="127000"/>
                      <a:pt x="127000" y="98570"/>
                      <a:pt x="127000" y="63500"/>
                    </a:cubicBezTo>
                    <a:cubicBezTo>
                      <a:pt x="127000" y="28430"/>
                      <a:pt x="98570" y="0"/>
                      <a:pt x="63500" y="0"/>
                    </a:cubicBezTo>
                    <a:cubicBezTo>
                      <a:pt x="28430" y="0"/>
                      <a:pt x="0" y="28430"/>
                      <a:pt x="0" y="635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1733550" y="537210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0" y="114300"/>
                    </a:moveTo>
                    <a:cubicBezTo>
                      <a:pt x="0" y="177426"/>
                      <a:pt x="51174" y="228600"/>
                      <a:pt x="114300" y="228600"/>
                    </a:cubicBezTo>
                    <a:cubicBezTo>
                      <a:pt x="177426" y="228600"/>
                      <a:pt x="228600" y="177426"/>
                      <a:pt x="228600" y="114300"/>
                    </a:cubicBezTo>
                    <a:cubicBezTo>
                      <a:pt x="228600" y="51174"/>
                      <a:pt x="177426" y="0"/>
                      <a:pt x="114300" y="0"/>
                    </a:cubicBezTo>
                    <a:cubicBezTo>
                      <a:pt x="51174" y="0"/>
                      <a:pt x="0" y="51174"/>
                      <a:pt x="0" y="1143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2154555" y="5416868"/>
              <a:ext cx="88616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差异化：草图保留空间结构，语音补全语义和方向，输出 Mermaid / SVG / JSON / WebM 等结构化资产。</a:t>
              </a:r>
              <a:endParaRPr lang="zh-CN" sz="1350" b="1" dirty="0">
                <a:solidFill>
                  <a:srgbClr val="155E7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60" name="TextBox 60"/>
            <p:cNvSpPr txBox="1"/>
            <p:nvPr/>
          </p:nvSpPr>
          <p:spPr>
            <a:xfrm>
              <a:off x="560070" y="6379845"/>
              <a:ext cx="205111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Competitive Position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03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  <p:bldP spid="5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94335"/>
            <a:ext cx="7667330" cy="743903"/>
            <a:chOff x="537210" y="394335"/>
            <a:chExt cx="7667330" cy="74390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94335"/>
              <a:ext cx="766733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产品能力：不只是生成图，而是生成“工作台”</a:t>
              </a:r>
              <a:endParaRPr lang="zh-CN" sz="27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36347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价值来自完整操作面，而不是一次模型调用。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9" name="Group 79"/>
          <p:cNvGrpSpPr/>
          <p:nvPr>
            <p:custDataLst>
              <p:tags r:id="rId1"/>
            </p:custDataLst>
          </p:nvPr>
        </p:nvGrpSpPr>
        <p:grpSpPr>
          <a:xfrm>
            <a:off x="571500" y="1428750"/>
            <a:ext cx="11060303" cy="4000500"/>
            <a:chOff x="571500" y="1428750"/>
            <a:chExt cx="11060303" cy="4000500"/>
          </a:xfrm>
        </p:grpSpPr>
        <p:grpSp>
          <p:nvGrpSpPr>
            <p:cNvPr id="17" name="Group 17"/>
            <p:cNvGrpSpPr/>
            <p:nvPr/>
          </p:nvGrpSpPr>
          <p:grpSpPr>
            <a:xfrm>
              <a:off x="571500" y="1428750"/>
              <a:ext cx="3688080" cy="1809750"/>
              <a:chOff x="571500" y="1428750"/>
              <a:chExt cx="3688080" cy="1809750"/>
            </a:xfrm>
          </p:grpSpPr>
          <p:sp>
            <p:nvSpPr>
              <p:cNvPr id="6" name="Rectangle 6"/>
              <p:cNvSpPr/>
              <p:nvPr>
                <p:custDataLst>
                  <p:tags r:id="rId2"/>
                </p:custDataLst>
              </p:nvPr>
            </p:nvSpPr>
            <p:spPr>
              <a:xfrm>
                <a:off x="571500" y="1428750"/>
                <a:ext cx="342900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7" name="Rectangle 7"/>
              <p:cNvSpPr/>
              <p:nvPr>
                <p:custDataLst>
                  <p:tags r:id="rId3"/>
                </p:custDataLst>
              </p:nvPr>
            </p:nvSpPr>
            <p:spPr>
              <a:xfrm>
                <a:off x="838200" y="1676400"/>
                <a:ext cx="4953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E0F2FE"/>
              </a:solidFill>
              <a:ln>
                <a:noFill/>
              </a:ln>
            </p:spPr>
          </p:sp>
          <p:grpSp>
            <p:nvGrpSpPr>
              <p:cNvPr id="12" name="Group 12"/>
              <p:cNvGrpSpPr/>
              <p:nvPr/>
            </p:nvGrpSpPr>
            <p:grpSpPr>
              <a:xfrm>
                <a:off x="985838" y="1835150"/>
                <a:ext cx="200025" cy="187325"/>
                <a:chOff x="985838" y="1835150"/>
                <a:chExt cx="200025" cy="187325"/>
              </a:xfrm>
            </p:grpSpPr>
            <p:sp>
              <p:nvSpPr>
                <p:cNvPr id="8" name="Freeform 8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985838" y="1835150"/>
                  <a:ext cx="200025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133350">
                      <a:moveTo>
                        <a:pt x="0" y="11113"/>
                      </a:moveTo>
                      <a:cubicBezTo>
                        <a:pt x="0" y="4975"/>
                        <a:pt x="4975" y="0"/>
                        <a:pt x="11113" y="0"/>
                      </a:cubicBezTo>
                      <a:lnTo>
                        <a:pt x="188913" y="0"/>
                      </a:lnTo>
                      <a:cubicBezTo>
                        <a:pt x="195050" y="0"/>
                        <a:pt x="200025" y="4975"/>
                        <a:pt x="200025" y="11113"/>
                      </a:cubicBezTo>
                      <a:lnTo>
                        <a:pt x="200025" y="122238"/>
                      </a:lnTo>
                      <a:cubicBezTo>
                        <a:pt x="200025" y="128375"/>
                        <a:pt x="195050" y="133350"/>
                        <a:pt x="188913" y="133350"/>
                      </a:cubicBezTo>
                      <a:lnTo>
                        <a:pt x="11113" y="133350"/>
                      </a:lnTo>
                      <a:cubicBezTo>
                        <a:pt x="4975" y="133350"/>
                        <a:pt x="0" y="128375"/>
                        <a:pt x="0" y="122238"/>
                      </a:cubicBezTo>
                      <a:lnTo>
                        <a:pt x="0" y="11113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9" name="Freeform 9"/>
                <p:cNvSpPr/>
                <p:nvPr>
                  <p:custDataLst>
                    <p:tags r:id="rId5"/>
                  </p:custDataLst>
                </p:nvPr>
              </p:nvSpPr>
              <p:spPr>
                <a:xfrm>
                  <a:off x="1030288" y="20129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0" name="Freeform 10"/>
                <p:cNvSpPr/>
                <p:nvPr>
                  <p:custDataLst>
                    <p:tags r:id="rId6"/>
                  </p:custDataLst>
                </p:nvPr>
              </p:nvSpPr>
              <p:spPr>
                <a:xfrm>
                  <a:off x="1052512" y="1968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1" name="Freeform 11"/>
                <p:cNvSpPr/>
                <p:nvPr>
                  <p:custDataLst>
                    <p:tags r:id="rId7"/>
                  </p:custDataLst>
                </p:nvPr>
              </p:nvSpPr>
              <p:spPr>
                <a:xfrm>
                  <a:off x="1119188" y="1968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13" name="TextBox 13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1503045" y="170783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输入工作台</a:t>
                </a:r>
                <a:endParaRPr lang="zh-CN" sz="16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1508760" y="2042160"/>
                <a:ext cx="27508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画布、录音、上传音频、转写文本补充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Line 15"/>
              <p:cNvSpPr/>
              <p:nvPr>
                <p:custDataLst>
                  <p:tags r:id="rId10"/>
                </p:custDataLst>
              </p:nvPr>
            </p:nvSpPr>
            <p:spPr>
              <a:xfrm>
                <a:off x="838200" y="2457450"/>
                <a:ext cx="289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95600" h="9525">
                    <a:moveTo>
                      <a:pt x="0" y="0"/>
                    </a:moveTo>
                    <a:lnTo>
                      <a:pt x="28956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16" name="TextBox 16"/>
              <p:cNvSpPr txBox="1"/>
              <p:nvPr>
                <p:custDataLst>
                  <p:tags r:id="rId11"/>
                </p:custDataLst>
              </p:nvPr>
            </p:nvSpPr>
            <p:spPr>
              <a:xfrm>
                <a:off x="822325" y="2643505"/>
                <a:ext cx="3058795" cy="3638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noAutofit/>
              </a:bodyPr>
              <a:lstStyle/>
              <a:p>
                <a:pPr algn="l"/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4381500" y="1428750"/>
              <a:ext cx="3429000" cy="1809750"/>
              <a:chOff x="4381500" y="1428750"/>
              <a:chExt cx="3429000" cy="1809750"/>
            </a:xfrm>
          </p:grpSpPr>
          <p:sp>
            <p:nvSpPr>
              <p:cNvPr id="18" name="Rectangle 18"/>
              <p:cNvSpPr/>
              <p:nvPr>
                <p:custDataLst>
                  <p:tags r:id="rId12"/>
                </p:custDataLst>
              </p:nvPr>
            </p:nvSpPr>
            <p:spPr>
              <a:xfrm>
                <a:off x="4381500" y="1428750"/>
                <a:ext cx="342900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19" name="Rectangle 19"/>
              <p:cNvSpPr/>
              <p:nvPr>
                <p:custDataLst>
                  <p:tags r:id="rId13"/>
                </p:custDataLst>
              </p:nvPr>
            </p:nvSpPr>
            <p:spPr>
              <a:xfrm>
                <a:off x="4648200" y="1676400"/>
                <a:ext cx="4953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CCFBF1"/>
              </a:solidFill>
              <a:ln>
                <a:noFill/>
              </a:ln>
            </p:spPr>
          </p:sp>
          <p:grpSp>
            <p:nvGrpSpPr>
              <p:cNvPr id="28" name="Group 28"/>
              <p:cNvGrpSpPr/>
              <p:nvPr/>
            </p:nvGrpSpPr>
            <p:grpSpPr>
              <a:xfrm>
                <a:off x="4795838" y="1824038"/>
                <a:ext cx="200024" cy="211137"/>
                <a:chOff x="4795838" y="1824038"/>
                <a:chExt cx="200024" cy="211137"/>
              </a:xfrm>
            </p:grpSpPr>
            <p:sp>
              <p:nvSpPr>
                <p:cNvPr id="20" name="Freeform 20"/>
                <p:cNvSpPr/>
                <p:nvPr>
                  <p:custDataLst>
                    <p:tags r:id="rId14"/>
                  </p:custDataLst>
                </p:nvPr>
              </p:nvSpPr>
              <p:spPr>
                <a:xfrm>
                  <a:off x="4829175" y="1824038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66675"/>
                      </a:moveTo>
                      <a:cubicBezTo>
                        <a:pt x="0" y="103499"/>
                        <a:pt x="29851" y="133350"/>
                        <a:pt x="66675" y="133350"/>
                      </a:cubicBezTo>
                      <a:cubicBezTo>
                        <a:pt x="103499" y="133350"/>
                        <a:pt x="133350" y="103499"/>
                        <a:pt x="133350" y="66675"/>
                      </a:cubicBezTo>
                      <a:cubicBezTo>
                        <a:pt x="133350" y="29851"/>
                        <a:pt x="103499" y="0"/>
                        <a:pt x="66675" y="0"/>
                      </a:cubicBezTo>
                      <a:cubicBezTo>
                        <a:pt x="29851" y="0"/>
                        <a:pt x="0" y="29851"/>
                        <a:pt x="0" y="6667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1" name="Freeform 21"/>
                <p:cNvSpPr/>
                <p:nvPr>
                  <p:custDataLst>
                    <p:tags r:id="rId15"/>
                  </p:custDataLst>
                </p:nvPr>
              </p:nvSpPr>
              <p:spPr>
                <a:xfrm>
                  <a:off x="4895850" y="1824038"/>
                  <a:ext cx="22225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133350">
                      <a:moveTo>
                        <a:pt x="0" y="0"/>
                      </a:moveTo>
                      <a:cubicBezTo>
                        <a:pt x="14813" y="3700"/>
                        <a:pt x="22225" y="25925"/>
                        <a:pt x="22225" y="66675"/>
                      </a:cubicBezTo>
                      <a:cubicBezTo>
                        <a:pt x="22225" y="107425"/>
                        <a:pt x="14813" y="129650"/>
                        <a:pt x="0" y="133350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2" name="Freeform 22"/>
                <p:cNvSpPr/>
                <p:nvPr>
                  <p:custDataLst>
                    <p:tags r:id="rId16"/>
                  </p:custDataLst>
                </p:nvPr>
              </p:nvSpPr>
              <p:spPr>
                <a:xfrm>
                  <a:off x="4873625" y="1824038"/>
                  <a:ext cx="22225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133350">
                      <a:moveTo>
                        <a:pt x="22225" y="0"/>
                      </a:moveTo>
                      <a:cubicBezTo>
                        <a:pt x="7412" y="3700"/>
                        <a:pt x="0" y="25925"/>
                        <a:pt x="0" y="66675"/>
                      </a:cubicBezTo>
                      <a:cubicBezTo>
                        <a:pt x="0" y="107425"/>
                        <a:pt x="7412" y="129650"/>
                        <a:pt x="22225" y="133350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3" name="Freeform 23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4829175" y="1890712"/>
                  <a:ext cx="1333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">
                      <a:moveTo>
                        <a:pt x="0" y="0"/>
                      </a:moveTo>
                      <a:lnTo>
                        <a:pt x="13335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4" name="Freeform 24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4795838" y="2012950"/>
                  <a:ext cx="77788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788" h="9525">
                      <a:moveTo>
                        <a:pt x="0" y="0"/>
                      </a:moveTo>
                      <a:lnTo>
                        <a:pt x="77788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5" name="Freeform 25"/>
                <p:cNvSpPr/>
                <p:nvPr>
                  <p:custDataLst>
                    <p:tags r:id="rId19"/>
                  </p:custDataLst>
                </p:nvPr>
              </p:nvSpPr>
              <p:spPr>
                <a:xfrm>
                  <a:off x="4918075" y="2012950"/>
                  <a:ext cx="77787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787" h="9525">
                      <a:moveTo>
                        <a:pt x="0" y="0"/>
                      </a:moveTo>
                      <a:lnTo>
                        <a:pt x="77787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6" name="Freeform 26"/>
                <p:cNvSpPr/>
                <p:nvPr>
                  <p:custDataLst>
                    <p:tags r:id="rId20"/>
                  </p:custDataLst>
                </p:nvPr>
              </p:nvSpPr>
              <p:spPr>
                <a:xfrm>
                  <a:off x="4873625" y="1990725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0" y="22225"/>
                      </a:moveTo>
                      <a:cubicBezTo>
                        <a:pt x="0" y="34500"/>
                        <a:pt x="9950" y="44450"/>
                        <a:pt x="22225" y="44450"/>
                      </a:cubicBezTo>
                      <a:cubicBezTo>
                        <a:pt x="34500" y="44450"/>
                        <a:pt x="44450" y="34500"/>
                        <a:pt x="44450" y="22225"/>
                      </a:cubicBezTo>
                      <a:cubicBezTo>
                        <a:pt x="44450" y="9950"/>
                        <a:pt x="34500" y="0"/>
                        <a:pt x="22225" y="0"/>
                      </a:cubicBezTo>
                      <a:cubicBezTo>
                        <a:pt x="9950" y="0"/>
                        <a:pt x="0" y="9950"/>
                        <a:pt x="0" y="2222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7" name="Freeform 27"/>
                <p:cNvSpPr/>
                <p:nvPr>
                  <p:custDataLst>
                    <p:tags r:id="rId21"/>
                  </p:custDataLst>
                </p:nvPr>
              </p:nvSpPr>
              <p:spPr>
                <a:xfrm>
                  <a:off x="4895850" y="1957388"/>
                  <a:ext cx="9525" cy="33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3338">
                      <a:moveTo>
                        <a:pt x="0" y="0"/>
                      </a:moveTo>
                      <a:lnTo>
                        <a:pt x="0" y="33338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29" name="TextBox 29"/>
              <p:cNvSpPr txBox="1"/>
              <p:nvPr>
                <p:custDataLst>
                  <p:tags r:id="rId22"/>
                </p:custDataLst>
              </p:nvPr>
            </p:nvSpPr>
            <p:spPr>
              <a:xfrm>
                <a:off x="5313045" y="170783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结构化建模</a:t>
                </a:r>
                <a:endParaRPr lang="zh-CN" sz="16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>
                <p:custDataLst>
                  <p:tags r:id="rId23"/>
                </p:custDataLst>
              </p:nvPr>
            </p:nvSpPr>
            <p:spPr>
              <a:xfrm>
                <a:off x="5318760" y="2042160"/>
                <a:ext cx="22707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节点、边、方向、类型、置信度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1" name="Line 31"/>
              <p:cNvSpPr/>
              <p:nvPr>
                <p:custDataLst>
                  <p:tags r:id="rId24"/>
                </p:custDataLst>
              </p:nvPr>
            </p:nvSpPr>
            <p:spPr>
              <a:xfrm>
                <a:off x="4648200" y="2457450"/>
                <a:ext cx="289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95600" h="9525">
                    <a:moveTo>
                      <a:pt x="0" y="0"/>
                    </a:moveTo>
                    <a:lnTo>
                      <a:pt x="28956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</p:grpSp>
        <p:grpSp>
          <p:nvGrpSpPr>
            <p:cNvPr id="45" name="Group 45"/>
            <p:cNvGrpSpPr/>
            <p:nvPr/>
          </p:nvGrpSpPr>
          <p:grpSpPr>
            <a:xfrm>
              <a:off x="8191500" y="1428750"/>
              <a:ext cx="3429000" cy="1809750"/>
              <a:chOff x="8191500" y="1428750"/>
              <a:chExt cx="3429000" cy="1809750"/>
            </a:xfrm>
          </p:grpSpPr>
          <p:sp>
            <p:nvSpPr>
              <p:cNvPr id="34" name="Rectangle 34"/>
              <p:cNvSpPr/>
              <p:nvPr>
                <p:custDataLst>
                  <p:tags r:id="rId25"/>
                </p:custDataLst>
              </p:nvPr>
            </p:nvSpPr>
            <p:spPr>
              <a:xfrm>
                <a:off x="8191500" y="1428750"/>
                <a:ext cx="342900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35" name="Rectangle 35"/>
              <p:cNvSpPr/>
              <p:nvPr>
                <p:custDataLst>
                  <p:tags r:id="rId26"/>
                </p:custDataLst>
              </p:nvPr>
            </p:nvSpPr>
            <p:spPr>
              <a:xfrm>
                <a:off x="8458200" y="1676400"/>
                <a:ext cx="4953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E0F2FE"/>
              </a:solidFill>
              <a:ln>
                <a:noFill/>
              </a:ln>
            </p:spPr>
          </p:sp>
          <p:grpSp>
            <p:nvGrpSpPr>
              <p:cNvPr id="40" name="Group 40"/>
              <p:cNvGrpSpPr/>
              <p:nvPr/>
            </p:nvGrpSpPr>
            <p:grpSpPr>
              <a:xfrm>
                <a:off x="8583612" y="1879600"/>
                <a:ext cx="244476" cy="88900"/>
                <a:chOff x="8583612" y="1879600"/>
                <a:chExt cx="244476" cy="88900"/>
              </a:xfrm>
            </p:grpSpPr>
            <p:sp>
              <p:nvSpPr>
                <p:cNvPr id="36" name="Freeform 36"/>
                <p:cNvSpPr/>
                <p:nvPr>
                  <p:custDataLst>
                    <p:tags r:id="rId27"/>
                  </p:custDataLst>
                </p:nvPr>
              </p:nvSpPr>
              <p:spPr>
                <a:xfrm>
                  <a:off x="8794750" y="187960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88900"/>
                      </a:moveTo>
                      <a:lnTo>
                        <a:pt x="0" y="0"/>
                      </a:lnTo>
                      <a:lnTo>
                        <a:pt x="33338" y="88900"/>
                      </a:lnTo>
                      <a:lnTo>
                        <a:pt x="33338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7" name="Freeform 37"/>
                <p:cNvSpPr/>
                <p:nvPr>
                  <p:custDataLst>
                    <p:tags r:id="rId28"/>
                  </p:custDataLst>
                </p:nvPr>
              </p:nvSpPr>
              <p:spPr>
                <a:xfrm>
                  <a:off x="8716962" y="1879600"/>
                  <a:ext cx="44450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88900">
                      <a:moveTo>
                        <a:pt x="22225" y="0"/>
                      </a:moveTo>
                      <a:cubicBezTo>
                        <a:pt x="34500" y="0"/>
                        <a:pt x="44450" y="9950"/>
                        <a:pt x="44450" y="22225"/>
                      </a:cubicBezTo>
                      <a:lnTo>
                        <a:pt x="44450" y="66675"/>
                      </a:lnTo>
                      <a:cubicBezTo>
                        <a:pt x="44450" y="78950"/>
                        <a:pt x="34500" y="88900"/>
                        <a:pt x="22225" y="88900"/>
                      </a:cubicBezTo>
                      <a:cubicBezTo>
                        <a:pt x="9950" y="88900"/>
                        <a:pt x="0" y="78950"/>
                        <a:pt x="0" y="66675"/>
                      </a:cubicBezTo>
                      <a:lnTo>
                        <a:pt x="0" y="22225"/>
                      </a:lnTo>
                      <a:cubicBezTo>
                        <a:pt x="0" y="9950"/>
                        <a:pt x="9950" y="0"/>
                        <a:pt x="22225" y="0"/>
                      </a:cubicBez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8" name="Freeform 38"/>
                <p:cNvSpPr/>
                <p:nvPr>
                  <p:custDataLst>
                    <p:tags r:id="rId29"/>
                  </p:custDataLst>
                </p:nvPr>
              </p:nvSpPr>
              <p:spPr>
                <a:xfrm>
                  <a:off x="8583612" y="187960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0"/>
                      </a:moveTo>
                      <a:lnTo>
                        <a:pt x="33338" y="0"/>
                      </a:lnTo>
                      <a:lnTo>
                        <a:pt x="33338" y="72231"/>
                      </a:lnTo>
                      <a:cubicBezTo>
                        <a:pt x="33338" y="81437"/>
                        <a:pt x="25875" y="88900"/>
                        <a:pt x="16669" y="88900"/>
                      </a:cubicBezTo>
                      <a:cubicBezTo>
                        <a:pt x="7463" y="88900"/>
                        <a:pt x="0" y="81437"/>
                        <a:pt x="0" y="72231"/>
                      </a:cubicBezTo>
                      <a:lnTo>
                        <a:pt x="0" y="66675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9" name="Freeform 39"/>
                <p:cNvSpPr/>
                <p:nvPr>
                  <p:custDataLst>
                    <p:tags r:id="rId30"/>
                  </p:custDataLst>
                </p:nvPr>
              </p:nvSpPr>
              <p:spPr>
                <a:xfrm>
                  <a:off x="8650288" y="187960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77787"/>
                      </a:moveTo>
                      <a:cubicBezTo>
                        <a:pt x="0" y="83925"/>
                        <a:pt x="4975" y="88900"/>
                        <a:pt x="11113" y="88900"/>
                      </a:cubicBezTo>
                      <a:lnTo>
                        <a:pt x="22225" y="88900"/>
                      </a:lnTo>
                      <a:cubicBezTo>
                        <a:pt x="28362" y="88900"/>
                        <a:pt x="33338" y="83925"/>
                        <a:pt x="33338" y="77787"/>
                      </a:cubicBezTo>
                      <a:lnTo>
                        <a:pt x="33338" y="55562"/>
                      </a:lnTo>
                      <a:cubicBezTo>
                        <a:pt x="33338" y="49425"/>
                        <a:pt x="28362" y="44450"/>
                        <a:pt x="22225" y="44450"/>
                      </a:cubicBezTo>
                      <a:lnTo>
                        <a:pt x="11113" y="44450"/>
                      </a:lnTo>
                      <a:cubicBezTo>
                        <a:pt x="4975" y="44450"/>
                        <a:pt x="0" y="39475"/>
                        <a:pt x="0" y="33338"/>
                      </a:cubicBezTo>
                      <a:lnTo>
                        <a:pt x="0" y="11112"/>
                      </a:lnTo>
                      <a:cubicBezTo>
                        <a:pt x="0" y="4975"/>
                        <a:pt x="4975" y="0"/>
                        <a:pt x="11113" y="0"/>
                      </a:cubicBezTo>
                      <a:lnTo>
                        <a:pt x="22225" y="0"/>
                      </a:lnTo>
                      <a:cubicBezTo>
                        <a:pt x="28362" y="0"/>
                        <a:pt x="33338" y="4975"/>
                        <a:pt x="33338" y="11112"/>
                      </a:cubicBez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41" name="TextBox 41"/>
              <p:cNvSpPr txBox="1"/>
              <p:nvPr>
                <p:custDataLst>
                  <p:tags r:id="rId31"/>
                </p:custDataLst>
              </p:nvPr>
            </p:nvSpPr>
            <p:spPr>
              <a:xfrm>
                <a:off x="9123045" y="170783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多视图预览</a:t>
                </a:r>
                <a:endParaRPr lang="zh-CN" sz="16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2" name="TextBox 42"/>
              <p:cNvSpPr txBox="1"/>
              <p:nvPr>
                <p:custDataLst>
                  <p:tags r:id="rId32"/>
                </p:custDataLst>
              </p:nvPr>
            </p:nvSpPr>
            <p:spPr>
              <a:xfrm>
                <a:off x="9128760" y="2042160"/>
                <a:ext cx="243078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Mermaid / 图形 / AI 图像 / JSON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3" name="Line 43"/>
              <p:cNvSpPr/>
              <p:nvPr>
                <p:custDataLst>
                  <p:tags r:id="rId33"/>
                </p:custDataLst>
              </p:nvPr>
            </p:nvSpPr>
            <p:spPr>
              <a:xfrm>
                <a:off x="8458200" y="2457450"/>
                <a:ext cx="289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95600" h="9525">
                    <a:moveTo>
                      <a:pt x="0" y="0"/>
                    </a:moveTo>
                    <a:lnTo>
                      <a:pt x="28956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3619500"/>
              <a:ext cx="3429000" cy="1809750"/>
              <a:chOff x="571500" y="3619500"/>
              <a:chExt cx="3429000" cy="1809750"/>
            </a:xfrm>
          </p:grpSpPr>
          <p:sp>
            <p:nvSpPr>
              <p:cNvPr id="46" name="Rectangle 46"/>
              <p:cNvSpPr/>
              <p:nvPr>
                <p:custDataLst>
                  <p:tags r:id="rId34"/>
                </p:custDataLst>
              </p:nvPr>
            </p:nvSpPr>
            <p:spPr>
              <a:xfrm>
                <a:off x="571500" y="3619500"/>
                <a:ext cx="342900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47" name="Rectangle 47"/>
              <p:cNvSpPr/>
              <p:nvPr>
                <p:custDataLst>
                  <p:tags r:id="rId35"/>
                </p:custDataLst>
              </p:nvPr>
            </p:nvSpPr>
            <p:spPr>
              <a:xfrm>
                <a:off x="838200" y="3867150"/>
                <a:ext cx="4953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DCFCE7"/>
              </a:solidFill>
              <a:ln>
                <a:noFill/>
              </a:ln>
            </p:spPr>
          </p:sp>
          <p:grpSp>
            <p:nvGrpSpPr>
              <p:cNvPr id="52" name="Group 52"/>
              <p:cNvGrpSpPr/>
              <p:nvPr/>
            </p:nvGrpSpPr>
            <p:grpSpPr>
              <a:xfrm>
                <a:off x="985838" y="4014788"/>
                <a:ext cx="200025" cy="200025"/>
                <a:chOff x="985838" y="4014788"/>
                <a:chExt cx="200025" cy="200025"/>
              </a:xfrm>
            </p:grpSpPr>
            <p:sp>
              <p:nvSpPr>
                <p:cNvPr id="48" name="Freeform 48"/>
                <p:cNvSpPr/>
                <p:nvPr>
                  <p:custDataLst>
                    <p:tags r:id="rId36"/>
                  </p:custDataLst>
                </p:nvPr>
              </p:nvSpPr>
              <p:spPr>
                <a:xfrm>
                  <a:off x="1119188" y="40703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9" name="Freeform 49"/>
                <p:cNvSpPr/>
                <p:nvPr>
                  <p:custDataLst>
                    <p:tags r:id="rId37"/>
                  </p:custDataLst>
                </p:nvPr>
              </p:nvSpPr>
              <p:spPr>
                <a:xfrm>
                  <a:off x="985838" y="40147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33338"/>
                      </a:moveTo>
                      <a:cubicBezTo>
                        <a:pt x="0" y="14926"/>
                        <a:pt x="14926" y="0"/>
                        <a:pt x="33338" y="0"/>
                      </a:cubicBezTo>
                      <a:lnTo>
                        <a:pt x="166688" y="0"/>
                      </a:lnTo>
                      <a:cubicBezTo>
                        <a:pt x="185099" y="0"/>
                        <a:pt x="200025" y="14926"/>
                        <a:pt x="200025" y="33338"/>
                      </a:cubicBezTo>
                      <a:lnTo>
                        <a:pt x="200025" y="166688"/>
                      </a:lnTo>
                      <a:cubicBezTo>
                        <a:pt x="200025" y="185099"/>
                        <a:pt x="185099" y="200025"/>
                        <a:pt x="166688" y="200025"/>
                      </a:cubicBezTo>
                      <a:lnTo>
                        <a:pt x="33338" y="200025"/>
                      </a:lnTo>
                      <a:cubicBezTo>
                        <a:pt x="14926" y="200025"/>
                        <a:pt x="0" y="185099"/>
                        <a:pt x="0" y="166688"/>
                      </a:cubicBezTo>
                      <a:lnTo>
                        <a:pt x="0" y="33338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50" name="Freeform 50"/>
                <p:cNvSpPr/>
                <p:nvPr>
                  <p:custDataLst>
                    <p:tags r:id="rId38"/>
                  </p:custDataLst>
                </p:nvPr>
              </p:nvSpPr>
              <p:spPr>
                <a:xfrm>
                  <a:off x="985838" y="4093764"/>
                  <a:ext cx="144463" cy="6548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463" h="65486">
                      <a:moveTo>
                        <a:pt x="0" y="65486"/>
                      </a:moveTo>
                      <a:lnTo>
                        <a:pt x="55562" y="9923"/>
                      </a:lnTo>
                      <a:cubicBezTo>
                        <a:pt x="65875" y="0"/>
                        <a:pt x="78588" y="0"/>
                        <a:pt x="88900" y="9923"/>
                      </a:cubicBezTo>
                      <a:lnTo>
                        <a:pt x="144463" y="65486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51" name="Freeform 51"/>
                <p:cNvSpPr/>
                <p:nvPr>
                  <p:custDataLst>
                    <p:tags r:id="rId39"/>
                  </p:custDataLst>
                </p:nvPr>
              </p:nvSpPr>
              <p:spPr>
                <a:xfrm>
                  <a:off x="1108075" y="4115989"/>
                  <a:ext cx="77787" cy="432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787" h="43261">
                      <a:moveTo>
                        <a:pt x="0" y="21036"/>
                      </a:moveTo>
                      <a:lnTo>
                        <a:pt x="11112" y="9923"/>
                      </a:lnTo>
                      <a:cubicBezTo>
                        <a:pt x="21425" y="0"/>
                        <a:pt x="34138" y="0"/>
                        <a:pt x="44450" y="9923"/>
                      </a:cubicBezTo>
                      <a:lnTo>
                        <a:pt x="77787" y="43261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</p:grpSp>
          <p:sp>
            <p:nvSpPr>
              <p:cNvPr id="53" name="TextBox 53"/>
              <p:cNvSpPr txBox="1"/>
              <p:nvPr>
                <p:custDataLst>
                  <p:tags r:id="rId40"/>
                </p:custDataLst>
              </p:nvPr>
            </p:nvSpPr>
            <p:spPr>
              <a:xfrm>
                <a:off x="1503045" y="38985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草稿图与终稿图</a:t>
                </a:r>
                <a:endParaRPr lang="zh-CN" sz="16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4" name="TextBox 54"/>
              <p:cNvSpPr txBox="1"/>
              <p:nvPr>
                <p:custDataLst>
                  <p:tags r:id="rId41"/>
                </p:custDataLst>
              </p:nvPr>
            </p:nvSpPr>
            <p:spPr>
              <a:xfrm>
                <a:off x="1508760" y="4232910"/>
                <a:ext cx="2062734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豆包草稿图 + OpenAI 终稿图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5" name="Line 55"/>
              <p:cNvSpPr/>
              <p:nvPr>
                <p:custDataLst>
                  <p:tags r:id="rId42"/>
                </p:custDataLst>
              </p:nvPr>
            </p:nvSpPr>
            <p:spPr>
              <a:xfrm>
                <a:off x="838200" y="4648200"/>
                <a:ext cx="289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95600" h="9525">
                    <a:moveTo>
                      <a:pt x="0" y="0"/>
                    </a:moveTo>
                    <a:lnTo>
                      <a:pt x="28956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</p:grpSp>
        <p:grpSp>
          <p:nvGrpSpPr>
            <p:cNvPr id="68" name="Group 68"/>
            <p:cNvGrpSpPr/>
            <p:nvPr/>
          </p:nvGrpSpPr>
          <p:grpSpPr>
            <a:xfrm>
              <a:off x="4381500" y="3619500"/>
              <a:ext cx="3429000" cy="1809750"/>
              <a:chOff x="4381500" y="3619500"/>
              <a:chExt cx="3429000" cy="1809750"/>
            </a:xfrm>
          </p:grpSpPr>
          <p:sp>
            <p:nvSpPr>
              <p:cNvPr id="58" name="Rectangle 58"/>
              <p:cNvSpPr/>
              <p:nvPr>
                <p:custDataLst>
                  <p:tags r:id="rId43"/>
                </p:custDataLst>
              </p:nvPr>
            </p:nvSpPr>
            <p:spPr>
              <a:xfrm>
                <a:off x="4381500" y="3619500"/>
                <a:ext cx="342900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59" name="Rectangle 59"/>
              <p:cNvSpPr/>
              <p:nvPr>
                <p:custDataLst>
                  <p:tags r:id="rId44"/>
                </p:custDataLst>
              </p:nvPr>
            </p:nvSpPr>
            <p:spPr>
              <a:xfrm>
                <a:off x="4648200" y="3867150"/>
                <a:ext cx="4953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FEF3C7"/>
              </a:solidFill>
              <a:ln>
                <a:noFill/>
              </a:ln>
            </p:spPr>
          </p:sp>
          <p:grpSp>
            <p:nvGrpSpPr>
              <p:cNvPr id="63" name="Group 63"/>
              <p:cNvGrpSpPr/>
              <p:nvPr/>
            </p:nvGrpSpPr>
            <p:grpSpPr>
              <a:xfrm>
                <a:off x="4795838" y="4025438"/>
                <a:ext cx="200025" cy="178262"/>
                <a:chOff x="4795838" y="4025438"/>
                <a:chExt cx="200025" cy="178262"/>
              </a:xfrm>
            </p:grpSpPr>
            <p:sp>
              <p:nvSpPr>
                <p:cNvPr id="60" name="Freeform 60"/>
                <p:cNvSpPr/>
                <p:nvPr>
                  <p:custDataLst>
                    <p:tags r:id="rId45"/>
                  </p:custDataLst>
                </p:nvPr>
              </p:nvSpPr>
              <p:spPr>
                <a:xfrm>
                  <a:off x="4962525" y="4070350"/>
                  <a:ext cx="33338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66675">
                      <a:moveTo>
                        <a:pt x="0" y="0"/>
                      </a:moveTo>
                      <a:cubicBezTo>
                        <a:pt x="18412" y="0"/>
                        <a:pt x="33338" y="14926"/>
                        <a:pt x="33338" y="33338"/>
                      </a:cubicBezTo>
                      <a:cubicBezTo>
                        <a:pt x="33338" y="51749"/>
                        <a:pt x="18412" y="66675"/>
                        <a:pt x="0" y="66675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1" name="Freeform 61"/>
                <p:cNvSpPr/>
                <p:nvPr>
                  <p:custDataLst>
                    <p:tags r:id="rId46"/>
                  </p:custDataLst>
                </p:nvPr>
              </p:nvSpPr>
              <p:spPr>
                <a:xfrm>
                  <a:off x="4840288" y="4070350"/>
                  <a:ext cx="33338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33350">
                      <a:moveTo>
                        <a:pt x="33338" y="0"/>
                      </a:moveTo>
                      <a:lnTo>
                        <a:pt x="33338" y="122238"/>
                      </a:lnTo>
                      <a:cubicBezTo>
                        <a:pt x="33338" y="128375"/>
                        <a:pt x="28362" y="133350"/>
                        <a:pt x="22225" y="133350"/>
                      </a:cubicBezTo>
                      <a:lnTo>
                        <a:pt x="11112" y="133350"/>
                      </a:lnTo>
                      <a:cubicBezTo>
                        <a:pt x="4975" y="133350"/>
                        <a:pt x="0" y="128375"/>
                        <a:pt x="0" y="122238"/>
                      </a:cubicBezTo>
                      <a:lnTo>
                        <a:pt x="0" y="66675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2" name="Freeform 62"/>
                <p:cNvSpPr/>
                <p:nvPr>
                  <p:custDataLst>
                    <p:tags r:id="rId47"/>
                  </p:custDataLst>
                </p:nvPr>
              </p:nvSpPr>
              <p:spPr>
                <a:xfrm>
                  <a:off x="4795838" y="4025438"/>
                  <a:ext cx="166689" cy="156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689" h="156500">
                      <a:moveTo>
                        <a:pt x="100012" y="44912"/>
                      </a:moveTo>
                      <a:lnTo>
                        <a:pt x="150285" y="3018"/>
                      </a:lnTo>
                      <a:cubicBezTo>
                        <a:pt x="153268" y="534"/>
                        <a:pt x="157418" y="0"/>
                        <a:pt x="160932" y="1648"/>
                      </a:cubicBezTo>
                      <a:cubicBezTo>
                        <a:pt x="164446" y="3295"/>
                        <a:pt x="166689" y="6827"/>
                        <a:pt x="166688" y="10708"/>
                      </a:cubicBezTo>
                      <a:lnTo>
                        <a:pt x="166688" y="145792"/>
                      </a:lnTo>
                      <a:cubicBezTo>
                        <a:pt x="166689" y="149673"/>
                        <a:pt x="164446" y="153205"/>
                        <a:pt x="160932" y="154852"/>
                      </a:cubicBezTo>
                      <a:cubicBezTo>
                        <a:pt x="157418" y="156500"/>
                        <a:pt x="153268" y="155965"/>
                        <a:pt x="150285" y="153482"/>
                      </a:cubicBezTo>
                      <a:lnTo>
                        <a:pt x="100012" y="111587"/>
                      </a:lnTo>
                      <a:lnTo>
                        <a:pt x="11113" y="111587"/>
                      </a:lnTo>
                      <a:cubicBezTo>
                        <a:pt x="4975" y="111587"/>
                        <a:pt x="0" y="106612"/>
                        <a:pt x="0" y="100475"/>
                      </a:cubicBezTo>
                      <a:lnTo>
                        <a:pt x="0" y="56025"/>
                      </a:lnTo>
                      <a:cubicBezTo>
                        <a:pt x="0" y="49888"/>
                        <a:pt x="4975" y="44912"/>
                        <a:pt x="11113" y="44912"/>
                      </a:cubicBezTo>
                      <a:lnTo>
                        <a:pt x="100012" y="44912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64" name="TextBox 64"/>
              <p:cNvSpPr txBox="1"/>
              <p:nvPr>
                <p:custDataLst>
                  <p:tags r:id="rId48"/>
                </p:custDataLst>
              </p:nvPr>
            </p:nvSpPr>
            <p:spPr>
              <a:xfrm>
                <a:off x="5313045" y="389858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终稿图讲解</a:t>
                </a:r>
                <a:endParaRPr lang="zh-CN" sz="16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5" name="TextBox 65"/>
              <p:cNvSpPr txBox="1"/>
              <p:nvPr>
                <p:custDataLst>
                  <p:tags r:id="rId49"/>
                </p:custDataLst>
              </p:nvPr>
            </p:nvSpPr>
            <p:spPr>
              <a:xfrm>
                <a:off x="5318760" y="4232910"/>
                <a:ext cx="247078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分段脚本、TTS、光标坐标、WebM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6" name="Line 66"/>
              <p:cNvSpPr/>
              <p:nvPr>
                <p:custDataLst>
                  <p:tags r:id="rId50"/>
                </p:custDataLst>
              </p:nvPr>
            </p:nvSpPr>
            <p:spPr>
              <a:xfrm>
                <a:off x="4648200" y="4648200"/>
                <a:ext cx="289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95600" h="9525">
                    <a:moveTo>
                      <a:pt x="0" y="0"/>
                    </a:moveTo>
                    <a:lnTo>
                      <a:pt x="28956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</p:grpSp>
        <p:grpSp>
          <p:nvGrpSpPr>
            <p:cNvPr id="78" name="Group 78"/>
            <p:cNvGrpSpPr/>
            <p:nvPr/>
          </p:nvGrpSpPr>
          <p:grpSpPr>
            <a:xfrm>
              <a:off x="8191500" y="3619500"/>
              <a:ext cx="3440303" cy="1809750"/>
              <a:chOff x="8191500" y="3619500"/>
              <a:chExt cx="3440303" cy="1809750"/>
            </a:xfrm>
          </p:grpSpPr>
          <p:sp>
            <p:nvSpPr>
              <p:cNvPr id="69" name="Rectangle 69"/>
              <p:cNvSpPr/>
              <p:nvPr>
                <p:custDataLst>
                  <p:tags r:id="rId51"/>
                </p:custDataLst>
              </p:nvPr>
            </p:nvSpPr>
            <p:spPr>
              <a:xfrm>
                <a:off x="8191500" y="3619500"/>
                <a:ext cx="342900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70" name="Rectangle 70"/>
              <p:cNvSpPr/>
              <p:nvPr>
                <p:custDataLst>
                  <p:tags r:id="rId52"/>
                </p:custDataLst>
              </p:nvPr>
            </p:nvSpPr>
            <p:spPr>
              <a:xfrm>
                <a:off x="8458200" y="3867150"/>
                <a:ext cx="495300" cy="495300"/>
              </a:xfrm>
              <a:prstGeom prst="roundRect">
                <a:avLst>
                  <a:gd name="adj" fmla="val 15385"/>
                </a:avLst>
              </a:prstGeom>
              <a:solidFill>
                <a:srgbClr val="CCFBF1"/>
              </a:solidFill>
              <a:ln>
                <a:noFill/>
              </a:ln>
            </p:spPr>
          </p:sp>
          <p:grpSp>
            <p:nvGrpSpPr>
              <p:cNvPr id="73" name="Group 73"/>
              <p:cNvGrpSpPr/>
              <p:nvPr/>
            </p:nvGrpSpPr>
            <p:grpSpPr>
              <a:xfrm>
                <a:off x="8628062" y="4014788"/>
                <a:ext cx="177800" cy="211138"/>
                <a:chOff x="8628062" y="4014788"/>
                <a:chExt cx="177800" cy="211138"/>
              </a:xfrm>
            </p:grpSpPr>
            <p:sp>
              <p:nvSpPr>
                <p:cNvPr id="71" name="Freeform 71"/>
                <p:cNvSpPr/>
                <p:nvPr>
                  <p:custDataLst>
                    <p:tags r:id="rId53"/>
                  </p:custDataLst>
                </p:nvPr>
              </p:nvSpPr>
              <p:spPr>
                <a:xfrm>
                  <a:off x="8728075" y="4014788"/>
                  <a:ext cx="55562" cy="555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562" h="55562">
                      <a:moveTo>
                        <a:pt x="0" y="0"/>
                      </a:moveTo>
                      <a:lnTo>
                        <a:pt x="0" y="44450"/>
                      </a:lnTo>
                      <a:cubicBezTo>
                        <a:pt x="0" y="50587"/>
                        <a:pt x="4975" y="55562"/>
                        <a:pt x="11112" y="55562"/>
                      </a:cubicBezTo>
                      <a:lnTo>
                        <a:pt x="55562" y="55562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72" name="Freeform 72"/>
                <p:cNvSpPr/>
                <p:nvPr>
                  <p:custDataLst>
                    <p:tags r:id="rId54"/>
                  </p:custDataLst>
                </p:nvPr>
              </p:nvSpPr>
              <p:spPr>
                <a:xfrm>
                  <a:off x="8628062" y="4014788"/>
                  <a:ext cx="177800" cy="2111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0" h="211138">
                      <a:moveTo>
                        <a:pt x="72231" y="200025"/>
                      </a:moveTo>
                      <a:lnTo>
                        <a:pt x="22225" y="200025"/>
                      </a:lnTo>
                      <a:cubicBezTo>
                        <a:pt x="9950" y="200025"/>
                        <a:pt x="0" y="190075"/>
                        <a:pt x="0" y="177800"/>
                      </a:cubicBezTo>
                      <a:lnTo>
                        <a:pt x="0" y="22225"/>
                      </a:ln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00012" y="0"/>
                      </a:lnTo>
                      <a:lnTo>
                        <a:pt x="155575" y="55562"/>
                      </a:lnTo>
                      <a:lnTo>
                        <a:pt x="155575" y="111125"/>
                      </a:lnTo>
                      <a:moveTo>
                        <a:pt x="100012" y="177800"/>
                      </a:moveTo>
                      <a:lnTo>
                        <a:pt x="177800" y="177800"/>
                      </a:lnTo>
                      <a:moveTo>
                        <a:pt x="144462" y="144463"/>
                      </a:moveTo>
                      <a:lnTo>
                        <a:pt x="177800" y="177800"/>
                      </a:lnTo>
                      <a:lnTo>
                        <a:pt x="144462" y="211138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74" name="TextBox 74"/>
              <p:cNvSpPr txBox="1"/>
              <p:nvPr>
                <p:custDataLst>
                  <p:tags r:id="rId55"/>
                </p:custDataLst>
              </p:nvPr>
            </p:nvSpPr>
            <p:spPr>
              <a:xfrm>
                <a:off x="9123045" y="389858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下载与演示</a:t>
                </a:r>
                <a:endParaRPr lang="zh-CN" sz="16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5" name="TextBox 75"/>
              <p:cNvSpPr txBox="1"/>
              <p:nvPr>
                <p:custDataLst>
                  <p:tags r:id="rId56"/>
                </p:custDataLst>
              </p:nvPr>
            </p:nvSpPr>
            <p:spPr>
              <a:xfrm>
                <a:off x="8936990" y="4233545"/>
                <a:ext cx="269481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SVG、JSON、Mermaid、图像、WebM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6" name="Line 76"/>
              <p:cNvSpPr/>
              <p:nvPr>
                <p:custDataLst>
                  <p:tags r:id="rId57"/>
                </p:custDataLst>
              </p:nvPr>
            </p:nvSpPr>
            <p:spPr>
              <a:xfrm>
                <a:off x="8458200" y="4648200"/>
                <a:ext cx="28956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95600" h="9525">
                    <a:moveTo>
                      <a:pt x="0" y="0"/>
                    </a:moveTo>
                    <a:lnTo>
                      <a:pt x="28956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</p:grpSp>
      </p:grpSp>
      <p:grpSp>
        <p:nvGrpSpPr>
          <p:cNvPr id="82" name="Group 82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80" name="TextBox 80"/>
            <p:cNvSpPr txBox="1"/>
            <p:nvPr/>
          </p:nvSpPr>
          <p:spPr>
            <a:xfrm>
              <a:off x="560070" y="6379845"/>
              <a:ext cx="16850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Capability Map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04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aphicFrame>
        <p:nvGraphicFramePr>
          <p:cNvPr id="83" name="表格 82"/>
          <p:cNvGraphicFramePr/>
          <p:nvPr/>
        </p:nvGraphicFramePr>
        <p:xfrm>
          <a:off x="1828800" y="3238500"/>
          <a:ext cx="85337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376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4" name="文本框 83"/>
          <p:cNvSpPr txBox="1"/>
          <p:nvPr/>
        </p:nvSpPr>
        <p:spPr>
          <a:xfrm>
            <a:off x="783590" y="2562225"/>
            <a:ext cx="3216910" cy="4851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zh-CN" sz="127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用户不需要先整理成规范格式，直接把讨论过程放进系统。</a:t>
            </a:r>
            <a:endParaRPr lang="zh-CN" sz="1275" dirty="0">
              <a:solidFill>
                <a:srgbClr val="475569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</p:txBody>
      </p:sp>
      <p:sp>
        <p:nvSpPr>
          <p:cNvPr id="85" name="文本框 84"/>
          <p:cNvSpPr txBox="1"/>
          <p:nvPr/>
        </p:nvSpPr>
        <p:spPr>
          <a:xfrm>
            <a:off x="4565650" y="2562225"/>
            <a:ext cx="324485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zh-CN" sz="127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核心不是“画得像”，而是恢复可编辑知识结构。</a:t>
            </a:r>
            <a:endParaRPr lang="zh-CN" sz="1275" dirty="0">
              <a:solidFill>
                <a:srgbClr val="475569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endParaRPr lang="zh-CN" altLang="en-US"/>
          </a:p>
        </p:txBody>
      </p:sp>
      <p:sp>
        <p:nvSpPr>
          <p:cNvPr id="86" name="文本框 85"/>
          <p:cNvSpPr txBox="1"/>
          <p:nvPr/>
        </p:nvSpPr>
        <p:spPr>
          <a:xfrm>
            <a:off x="8388350" y="2562225"/>
            <a:ext cx="295529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zh-CN" sz="127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同一个结构可以用不同形式检查、修改和下载。</a:t>
            </a:r>
            <a:endParaRPr lang="zh-CN" sz="1275" dirty="0">
              <a:solidFill>
                <a:srgbClr val="475569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endParaRPr lang="zh-CN" altLang="en-US"/>
          </a:p>
        </p:txBody>
      </p:sp>
      <p:sp>
        <p:nvSpPr>
          <p:cNvPr id="87" name="文本框 86"/>
          <p:cNvSpPr txBox="1"/>
          <p:nvPr/>
        </p:nvSpPr>
        <p:spPr>
          <a:xfrm>
            <a:off x="772160" y="4716145"/>
            <a:ext cx="296164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zh-CN" sz="127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把结构图进一步包装成论文或汇报可用的方法图。</a:t>
            </a:r>
            <a:endParaRPr lang="zh-CN" sz="1275" dirty="0">
              <a:solidFill>
                <a:srgbClr val="475569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endParaRPr lang="zh-CN" altLang="en-US"/>
          </a:p>
        </p:txBody>
      </p:sp>
      <p:sp>
        <p:nvSpPr>
          <p:cNvPr id="88" name="文本框 87"/>
          <p:cNvSpPr txBox="1"/>
          <p:nvPr/>
        </p:nvSpPr>
        <p:spPr>
          <a:xfrm>
            <a:off x="4535805" y="4771390"/>
            <a:ext cx="3203575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zh-CN" sz="127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输出不止是静态图，也能变成可播放讲解材料。</a:t>
            </a:r>
            <a:endParaRPr lang="zh-CN" sz="1275" dirty="0">
              <a:solidFill>
                <a:srgbClr val="475569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endParaRPr lang="zh-CN" altLang="en-US"/>
          </a:p>
        </p:txBody>
      </p:sp>
      <p:sp>
        <p:nvSpPr>
          <p:cNvPr id="89" name="文本框 88"/>
          <p:cNvSpPr txBox="1"/>
          <p:nvPr/>
        </p:nvSpPr>
        <p:spPr>
          <a:xfrm>
            <a:off x="8388350" y="4771390"/>
            <a:ext cx="2913380" cy="7620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zh-CN" sz="127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Mock 模式保证课堂演示时即使无 key 也能跑通闭环。</a:t>
            </a:r>
            <a:endParaRPr lang="zh-CN" sz="1275" dirty="0">
              <a:solidFill>
                <a:srgbClr val="475569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432435"/>
            <a:ext cx="7251478" cy="743903"/>
            <a:chOff x="537210" y="432435"/>
            <a:chExt cx="7251478" cy="74390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432435"/>
              <a:ext cx="7251478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现场演示流程：从一张草图到可讲解交付物</a:t>
              </a:r>
              <a:endParaRPr lang="zh-CN" sz="27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902018"/>
              <a:ext cx="687514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演示重点不是单次生成图片，而是展示输入、结构化、渲染、讲解和下载的完整链路。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28650" y="1581150"/>
            <a:ext cx="10934700" cy="2971800"/>
            <a:chOff x="628650" y="1581150"/>
            <a:chExt cx="10934700" cy="2971800"/>
          </a:xfrm>
        </p:grpSpPr>
        <p:sp>
          <p:nvSpPr>
            <p:cNvPr id="6" name="Rectangle 6"/>
            <p:cNvSpPr/>
            <p:nvPr/>
          </p:nvSpPr>
          <p:spPr>
            <a:xfrm>
              <a:off x="628650" y="1581150"/>
              <a:ext cx="10934700" cy="2971800"/>
            </a:xfrm>
            <a:prstGeom prst="roundRect">
              <a:avLst>
                <a:gd name="adj" fmla="val 2564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7" name="Line 7"/>
            <p:cNvSpPr/>
            <p:nvPr/>
          </p:nvSpPr>
          <p:spPr>
            <a:xfrm>
              <a:off x="1695450" y="3028950"/>
              <a:ext cx="8610600" cy="9525"/>
            </a:xfrm>
            <a:custGeom>
              <a:avLst/>
              <a:gdLst/>
              <a:ahLst/>
              <a:cxnLst/>
              <a:rect l="l" t="t" r="r" b="b"/>
              <a:pathLst>
                <a:path w="8610600" h="9525">
                  <a:moveTo>
                    <a:pt x="0" y="0"/>
                  </a:moveTo>
                  <a:lnTo>
                    <a:pt x="8610600" y="0"/>
                  </a:lnTo>
                </a:path>
              </a:pathLst>
            </a:custGeom>
            <a:noFill/>
            <a:ln w="28575">
              <a:solidFill>
                <a:srgbClr val="CBD5E1"/>
              </a:solidFill>
              <a:custDash>
                <a:ds d="266666" sp="200000"/>
              </a:custDash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964406" y="2590800"/>
              <a:ext cx="928688" cy="1650206"/>
              <a:chOff x="964406" y="2590800"/>
              <a:chExt cx="928688" cy="1650206"/>
            </a:xfrm>
          </p:grpSpPr>
          <p:sp>
            <p:nvSpPr>
              <p:cNvPr id="8" name="Ellipse 8"/>
              <p:cNvSpPr/>
              <p:nvPr/>
            </p:nvSpPr>
            <p:spPr>
              <a:xfrm>
                <a:off x="990600" y="2590800"/>
                <a:ext cx="876300" cy="876300"/>
              </a:xfrm>
              <a:prstGeom prst="ellipse">
                <a:avLst/>
              </a:prstGeom>
              <a:solidFill>
                <a:srgbClr val="E0F2FE"/>
              </a:solidFill>
              <a:ln w="19050">
                <a:solidFill>
                  <a:srgbClr val="155E75"/>
                </a:solidFill>
              </a:ln>
            </p:spPr>
          </p:sp>
          <p:grpSp>
            <p:nvGrpSpPr>
              <p:cNvPr id="11" name="Group 11"/>
              <p:cNvGrpSpPr/>
              <p:nvPr/>
            </p:nvGrpSpPr>
            <p:grpSpPr>
              <a:xfrm>
                <a:off x="1289050" y="2896155"/>
                <a:ext cx="272495" cy="272495"/>
                <a:chOff x="1289050" y="2896155"/>
                <a:chExt cx="272495" cy="272495"/>
              </a:xfrm>
            </p:grpSpPr>
            <p:sp>
              <p:nvSpPr>
                <p:cNvPr id="9" name="Freeform 9"/>
                <p:cNvSpPr/>
                <p:nvPr/>
              </p:nvSpPr>
              <p:spPr>
                <a:xfrm>
                  <a:off x="1289050" y="2896155"/>
                  <a:ext cx="272495" cy="2724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2495" h="272495">
                      <a:moveTo>
                        <a:pt x="0" y="272495"/>
                      </a:moveTo>
                      <a:lnTo>
                        <a:pt x="69850" y="272495"/>
                      </a:lnTo>
                      <a:lnTo>
                        <a:pt x="253206" y="89139"/>
                      </a:lnTo>
                      <a:cubicBezTo>
                        <a:pt x="272495" y="69850"/>
                        <a:pt x="272495" y="38577"/>
                        <a:pt x="253206" y="19289"/>
                      </a:cubicBezTo>
                      <a:cubicBezTo>
                        <a:pt x="233918" y="0"/>
                        <a:pt x="202645" y="0"/>
                        <a:pt x="183356" y="19289"/>
                      </a:cubicBezTo>
                      <a:lnTo>
                        <a:pt x="0" y="202645"/>
                      </a:lnTo>
                      <a:lnTo>
                        <a:pt x="0" y="272495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10" name="Freeform 10"/>
                <p:cNvSpPr/>
                <p:nvPr/>
              </p:nvSpPr>
              <p:spPr>
                <a:xfrm>
                  <a:off x="1454944" y="2932906"/>
                  <a:ext cx="6985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69850">
                      <a:moveTo>
                        <a:pt x="0" y="0"/>
                      </a:moveTo>
                      <a:lnTo>
                        <a:pt x="69850" y="69850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</p:grpSp>
          <p:sp>
            <p:nvSpPr>
              <p:cNvPr id="12" name="TextBox 12"/>
              <p:cNvSpPr txBox="1"/>
              <p:nvPr/>
            </p:nvSpPr>
            <p:spPr>
              <a:xfrm>
                <a:off x="1094661" y="368617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画草图</a:t>
                </a:r>
                <a:endParaRPr lang="zh-CN" sz="15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64406" y="4012406"/>
                <a:ext cx="92868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科研流程骨架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sp>
          <p:nvSpPr>
            <p:cNvPr id="15" name="Line 15"/>
            <p:cNvSpPr/>
            <p:nvPr/>
          </p:nvSpPr>
          <p:spPr>
            <a:xfrm>
              <a:off x="1952625" y="3028950"/>
              <a:ext cx="809625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2624138" y="2590800"/>
              <a:ext cx="1228725" cy="1650206"/>
              <a:chOff x="2624138" y="2590800"/>
              <a:chExt cx="1228725" cy="1650206"/>
            </a:xfrm>
          </p:grpSpPr>
          <p:sp>
            <p:nvSpPr>
              <p:cNvPr id="16" name="Ellipse 16"/>
              <p:cNvSpPr/>
              <p:nvPr/>
            </p:nvSpPr>
            <p:spPr>
              <a:xfrm>
                <a:off x="2800350" y="2590800"/>
                <a:ext cx="876300" cy="876300"/>
              </a:xfrm>
              <a:prstGeom prst="ellipse">
                <a:avLst/>
              </a:prstGeom>
              <a:solidFill>
                <a:srgbClr val="CCFBF1"/>
              </a:solidFill>
              <a:ln w="19050">
                <a:solidFill>
                  <a:srgbClr val="0F766E"/>
                </a:solidFill>
              </a:ln>
            </p:spPr>
          </p:sp>
          <p:grpSp>
            <p:nvGrpSpPr>
              <p:cNvPr id="21" name="Group 21"/>
              <p:cNvGrpSpPr/>
              <p:nvPr/>
            </p:nvGrpSpPr>
            <p:grpSpPr>
              <a:xfrm>
                <a:off x="3116262" y="2854325"/>
                <a:ext cx="244475" cy="341312"/>
                <a:chOff x="3116262" y="2854325"/>
                <a:chExt cx="244475" cy="341312"/>
              </a:xfrm>
            </p:grpSpPr>
            <p:sp>
              <p:nvSpPr>
                <p:cNvPr id="17" name="Freeform 17"/>
                <p:cNvSpPr/>
                <p:nvPr/>
              </p:nvSpPr>
              <p:spPr>
                <a:xfrm>
                  <a:off x="3186112" y="2854325"/>
                  <a:ext cx="104775" cy="1920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92087">
                      <a:moveTo>
                        <a:pt x="0" y="52388"/>
                      </a:moveTo>
                      <a:cubicBezTo>
                        <a:pt x="0" y="23455"/>
                        <a:pt x="23455" y="0"/>
                        <a:pt x="52388" y="0"/>
                      </a:cubicBezTo>
                      <a:cubicBezTo>
                        <a:pt x="81320" y="0"/>
                        <a:pt x="104775" y="23455"/>
                        <a:pt x="104775" y="52388"/>
                      </a:cubicBezTo>
                      <a:lnTo>
                        <a:pt x="104775" y="139700"/>
                      </a:lnTo>
                      <a:cubicBezTo>
                        <a:pt x="104775" y="168633"/>
                        <a:pt x="81320" y="192087"/>
                        <a:pt x="52388" y="192087"/>
                      </a:cubicBezTo>
                      <a:cubicBezTo>
                        <a:pt x="23455" y="192087"/>
                        <a:pt x="0" y="168633"/>
                        <a:pt x="0" y="139700"/>
                      </a:cubicBezTo>
                      <a:lnTo>
                        <a:pt x="0" y="52388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3116262" y="2994025"/>
                  <a:ext cx="244475" cy="1222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4475" h="122238">
                      <a:moveTo>
                        <a:pt x="0" y="0"/>
                      </a:moveTo>
                      <a:cubicBezTo>
                        <a:pt x="0" y="67510"/>
                        <a:pt x="54728" y="122238"/>
                        <a:pt x="122237" y="122238"/>
                      </a:cubicBezTo>
                      <a:cubicBezTo>
                        <a:pt x="189747" y="122238"/>
                        <a:pt x="244475" y="67510"/>
                        <a:pt x="244475" y="0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3168650" y="3186112"/>
                  <a:ext cx="1397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700" h="9525">
                      <a:moveTo>
                        <a:pt x="0" y="0"/>
                      </a:moveTo>
                      <a:lnTo>
                        <a:pt x="13970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3238500" y="3116262"/>
                  <a:ext cx="9525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69850">
                      <a:moveTo>
                        <a:pt x="0" y="0"/>
                      </a:moveTo>
                      <a:lnTo>
                        <a:pt x="0" y="6985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22" name="TextBox 22"/>
              <p:cNvSpPr txBox="1"/>
              <p:nvPr/>
            </p:nvSpPr>
            <p:spPr>
              <a:xfrm>
                <a:off x="2904411" y="368617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补语音</a:t>
                </a:r>
                <a:endParaRPr lang="zh-CN" sz="15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624138" y="4012406"/>
                <a:ext cx="122872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节点、方向、意图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sp>
          <p:nvSpPr>
            <p:cNvPr id="25" name="Line 25"/>
            <p:cNvSpPr/>
            <p:nvPr/>
          </p:nvSpPr>
          <p:spPr>
            <a:xfrm>
              <a:off x="3762375" y="3028950"/>
              <a:ext cx="809625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4467642" y="2590800"/>
              <a:ext cx="1161217" cy="1650206"/>
              <a:chOff x="4467642" y="2590800"/>
              <a:chExt cx="1161217" cy="1650206"/>
            </a:xfrm>
          </p:grpSpPr>
          <p:sp>
            <p:nvSpPr>
              <p:cNvPr id="26" name="Ellipse 26"/>
              <p:cNvSpPr/>
              <p:nvPr/>
            </p:nvSpPr>
            <p:spPr>
              <a:xfrm>
                <a:off x="4610100" y="2590800"/>
                <a:ext cx="876300" cy="876300"/>
              </a:xfrm>
              <a:prstGeom prst="ellipse">
                <a:avLst/>
              </a:prstGeom>
              <a:solidFill>
                <a:srgbClr val="FFFFFF"/>
              </a:solidFill>
              <a:ln w="19050">
                <a:solidFill>
                  <a:srgbClr val="2563EB"/>
                </a:solidFill>
              </a:ln>
            </p:spPr>
          </p:sp>
          <p:grpSp>
            <p:nvGrpSpPr>
              <p:cNvPr id="35" name="Group 35"/>
              <p:cNvGrpSpPr/>
              <p:nvPr/>
            </p:nvGrpSpPr>
            <p:grpSpPr>
              <a:xfrm>
                <a:off x="4891088" y="2871788"/>
                <a:ext cx="314325" cy="331787"/>
                <a:chOff x="4891088" y="2871788"/>
                <a:chExt cx="314325" cy="331787"/>
              </a:xfrm>
            </p:grpSpPr>
            <p:sp>
              <p:nvSpPr>
                <p:cNvPr id="27" name="Freeform 27"/>
                <p:cNvSpPr/>
                <p:nvPr/>
              </p:nvSpPr>
              <p:spPr>
                <a:xfrm>
                  <a:off x="4943475" y="2871788"/>
                  <a:ext cx="209550" cy="20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209550">
                      <a:moveTo>
                        <a:pt x="0" y="104775"/>
                      </a:moveTo>
                      <a:cubicBezTo>
                        <a:pt x="0" y="162641"/>
                        <a:pt x="46909" y="209550"/>
                        <a:pt x="104775" y="209550"/>
                      </a:cubicBezTo>
                      <a:cubicBezTo>
                        <a:pt x="162641" y="209550"/>
                        <a:pt x="209550" y="162641"/>
                        <a:pt x="209550" y="104775"/>
                      </a:cubicBezTo>
                      <a:cubicBezTo>
                        <a:pt x="209550" y="46909"/>
                        <a:pt x="162641" y="0"/>
                        <a:pt x="104775" y="0"/>
                      </a:cubicBezTo>
                      <a:cubicBezTo>
                        <a:pt x="46909" y="0"/>
                        <a:pt x="0" y="46909"/>
                        <a:pt x="0" y="104775"/>
                      </a:cubicBez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5048250" y="2871788"/>
                  <a:ext cx="34925" cy="20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209550">
                      <a:moveTo>
                        <a:pt x="0" y="0"/>
                      </a:moveTo>
                      <a:cubicBezTo>
                        <a:pt x="23278" y="5815"/>
                        <a:pt x="34925" y="40740"/>
                        <a:pt x="34925" y="104775"/>
                      </a:cubicBezTo>
                      <a:cubicBezTo>
                        <a:pt x="34925" y="168810"/>
                        <a:pt x="23278" y="203735"/>
                        <a:pt x="0" y="209550"/>
                      </a:cubicBez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5013325" y="2871788"/>
                  <a:ext cx="34925" cy="20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209550">
                      <a:moveTo>
                        <a:pt x="34925" y="0"/>
                      </a:moveTo>
                      <a:cubicBezTo>
                        <a:pt x="11647" y="5815"/>
                        <a:pt x="0" y="40740"/>
                        <a:pt x="0" y="104775"/>
                      </a:cubicBezTo>
                      <a:cubicBezTo>
                        <a:pt x="0" y="168810"/>
                        <a:pt x="11647" y="203735"/>
                        <a:pt x="34925" y="209550"/>
                      </a:cubicBez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4943475" y="2976562"/>
                  <a:ext cx="2095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9525">
                      <a:moveTo>
                        <a:pt x="0" y="0"/>
                      </a:moveTo>
                      <a:lnTo>
                        <a:pt x="209550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4891088" y="3168650"/>
                  <a:ext cx="122238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8" h="9525">
                      <a:moveTo>
                        <a:pt x="0" y="0"/>
                      </a:moveTo>
                      <a:lnTo>
                        <a:pt x="122238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2" name="Freeform 32"/>
                <p:cNvSpPr/>
                <p:nvPr/>
              </p:nvSpPr>
              <p:spPr>
                <a:xfrm>
                  <a:off x="5083175" y="3168650"/>
                  <a:ext cx="122238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8" h="9525">
                      <a:moveTo>
                        <a:pt x="0" y="0"/>
                      </a:moveTo>
                      <a:lnTo>
                        <a:pt x="122238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3" name="Freeform 33"/>
                <p:cNvSpPr/>
                <p:nvPr/>
              </p:nvSpPr>
              <p:spPr>
                <a:xfrm>
                  <a:off x="5013325" y="3133725"/>
                  <a:ext cx="6985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69850">
                      <a:moveTo>
                        <a:pt x="0" y="34925"/>
                      </a:moveTo>
                      <a:cubicBezTo>
                        <a:pt x="0" y="54214"/>
                        <a:pt x="15636" y="69850"/>
                        <a:pt x="34925" y="69850"/>
                      </a:cubicBezTo>
                      <a:cubicBezTo>
                        <a:pt x="54214" y="69850"/>
                        <a:pt x="69850" y="54214"/>
                        <a:pt x="69850" y="34925"/>
                      </a:cubicBezTo>
                      <a:cubicBezTo>
                        <a:pt x="69850" y="15636"/>
                        <a:pt x="54214" y="0"/>
                        <a:pt x="34925" y="0"/>
                      </a:cubicBezTo>
                      <a:cubicBezTo>
                        <a:pt x="15636" y="0"/>
                        <a:pt x="0" y="15636"/>
                        <a:pt x="0" y="34925"/>
                      </a:cubicBez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34" name="Freeform 34"/>
                <p:cNvSpPr/>
                <p:nvPr/>
              </p:nvSpPr>
              <p:spPr>
                <a:xfrm>
                  <a:off x="5048250" y="3081338"/>
                  <a:ext cx="9525" cy="523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2388">
                      <a:moveTo>
                        <a:pt x="0" y="0"/>
                      </a:moveTo>
                      <a:lnTo>
                        <a:pt x="0" y="52388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36" name="TextBox 36"/>
              <p:cNvSpPr txBox="1"/>
              <p:nvPr/>
            </p:nvSpPr>
            <p:spPr>
              <a:xfrm>
                <a:off x="4504134" y="36861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生成结构图</a:t>
                </a:r>
                <a:endParaRPr lang="zh-CN" sz="15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4467642" y="4012406"/>
                <a:ext cx="116121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475569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Mermaid / JSON</a:t>
                </a:r>
                <a:endParaRPr lang="zh-CN" sz="1125" dirty="0">
                  <a:solidFill>
                    <a:srgbClr val="47556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</p:grpSp>
        <p:sp>
          <p:nvSpPr>
            <p:cNvPr id="39" name="Line 39"/>
            <p:cNvSpPr/>
            <p:nvPr/>
          </p:nvSpPr>
          <p:spPr>
            <a:xfrm>
              <a:off x="5572125" y="3028950"/>
              <a:ext cx="809625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6313884" y="2590800"/>
              <a:ext cx="1088231" cy="1650206"/>
              <a:chOff x="6313884" y="2590800"/>
              <a:chExt cx="1088231" cy="1650206"/>
            </a:xfrm>
          </p:grpSpPr>
          <p:sp>
            <p:nvSpPr>
              <p:cNvPr id="40" name="Ellipse 40"/>
              <p:cNvSpPr/>
              <p:nvPr/>
            </p:nvSpPr>
            <p:spPr>
              <a:xfrm>
                <a:off x="6419850" y="2590800"/>
                <a:ext cx="876300" cy="876300"/>
              </a:xfrm>
              <a:prstGeom prst="ellipse">
                <a:avLst/>
              </a:prstGeom>
              <a:solidFill>
                <a:srgbClr val="DCFCE7"/>
              </a:solidFill>
              <a:ln w="19050">
                <a:solidFill>
                  <a:srgbClr val="16A34A"/>
                </a:solidFill>
              </a:ln>
            </p:spPr>
          </p:sp>
          <p:grpSp>
            <p:nvGrpSpPr>
              <p:cNvPr id="45" name="Group 45"/>
              <p:cNvGrpSpPr/>
              <p:nvPr/>
            </p:nvGrpSpPr>
            <p:grpSpPr>
              <a:xfrm>
                <a:off x="6700838" y="2871788"/>
                <a:ext cx="314325" cy="314325"/>
                <a:chOff x="6700838" y="2871788"/>
                <a:chExt cx="314325" cy="314325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6910388" y="2959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75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6700838" y="2871788"/>
                  <a:ext cx="314325" cy="314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325" h="314325">
                      <a:moveTo>
                        <a:pt x="0" y="52388"/>
                      </a:moveTo>
                      <a:cubicBezTo>
                        <a:pt x="0" y="23455"/>
                        <a:pt x="23455" y="0"/>
                        <a:pt x="52388" y="0"/>
                      </a:cubicBezTo>
                      <a:lnTo>
                        <a:pt x="261938" y="0"/>
                      </a:lnTo>
                      <a:cubicBezTo>
                        <a:pt x="290870" y="0"/>
                        <a:pt x="314325" y="23455"/>
                        <a:pt x="314325" y="52388"/>
                      </a:cubicBezTo>
                      <a:lnTo>
                        <a:pt x="314325" y="261938"/>
                      </a:lnTo>
                      <a:cubicBezTo>
                        <a:pt x="314325" y="290870"/>
                        <a:pt x="290870" y="314325"/>
                        <a:pt x="261938" y="314325"/>
                      </a:cubicBezTo>
                      <a:lnTo>
                        <a:pt x="52388" y="314325"/>
                      </a:lnTo>
                      <a:cubicBezTo>
                        <a:pt x="23455" y="314325"/>
                        <a:pt x="0" y="290870"/>
                        <a:pt x="0" y="261938"/>
                      </a:cubicBezTo>
                      <a:lnTo>
                        <a:pt x="0" y="52388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6700838" y="2995893"/>
                  <a:ext cx="227013" cy="1029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013" h="102907">
                      <a:moveTo>
                        <a:pt x="0" y="102907"/>
                      </a:moveTo>
                      <a:lnTo>
                        <a:pt x="87312" y="15594"/>
                      </a:lnTo>
                      <a:cubicBezTo>
                        <a:pt x="103518" y="0"/>
                        <a:pt x="123495" y="0"/>
                        <a:pt x="139700" y="15594"/>
                      </a:cubicBezTo>
                      <a:lnTo>
                        <a:pt x="227013" y="102907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4" name="Freeform 44"/>
                <p:cNvSpPr/>
                <p:nvPr/>
              </p:nvSpPr>
              <p:spPr>
                <a:xfrm>
                  <a:off x="6892925" y="3030818"/>
                  <a:ext cx="122238" cy="679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8" h="67982">
                      <a:moveTo>
                        <a:pt x="0" y="33057"/>
                      </a:moveTo>
                      <a:lnTo>
                        <a:pt x="17463" y="15594"/>
                      </a:lnTo>
                      <a:cubicBezTo>
                        <a:pt x="33668" y="0"/>
                        <a:pt x="53645" y="0"/>
                        <a:pt x="69850" y="15594"/>
                      </a:cubicBezTo>
                      <a:lnTo>
                        <a:pt x="122238" y="67982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6313884" y="36861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生成终稿图</a:t>
                </a:r>
                <a:endParaRPr lang="zh-CN" sz="15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6318647" y="401240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论文风格方法图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sp>
          <p:nvSpPr>
            <p:cNvPr id="49" name="Line 49"/>
            <p:cNvSpPr/>
            <p:nvPr/>
          </p:nvSpPr>
          <p:spPr>
            <a:xfrm>
              <a:off x="7381875" y="3028950"/>
              <a:ext cx="809625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8203406" y="2590800"/>
              <a:ext cx="928688" cy="1650206"/>
              <a:chOff x="8203406" y="2590800"/>
              <a:chExt cx="928688" cy="1650206"/>
            </a:xfrm>
          </p:grpSpPr>
          <p:sp>
            <p:nvSpPr>
              <p:cNvPr id="50" name="Ellipse 50"/>
              <p:cNvSpPr/>
              <p:nvPr/>
            </p:nvSpPr>
            <p:spPr>
              <a:xfrm>
                <a:off x="8229600" y="2590800"/>
                <a:ext cx="876300" cy="876300"/>
              </a:xfrm>
              <a:prstGeom prst="ellipse">
                <a:avLst/>
              </a:prstGeom>
              <a:solidFill>
                <a:srgbClr val="FEF3C7"/>
              </a:solidFill>
              <a:ln w="19050">
                <a:solidFill>
                  <a:srgbClr val="F59E0B"/>
                </a:solidFill>
              </a:ln>
            </p:spPr>
          </p:sp>
          <p:grpSp>
            <p:nvGrpSpPr>
              <p:cNvPr id="54" name="Group 54"/>
              <p:cNvGrpSpPr/>
              <p:nvPr/>
            </p:nvGrpSpPr>
            <p:grpSpPr>
              <a:xfrm>
                <a:off x="8510588" y="2888523"/>
                <a:ext cx="314325" cy="280127"/>
                <a:chOff x="8510588" y="2888523"/>
                <a:chExt cx="314325" cy="280127"/>
              </a:xfrm>
            </p:grpSpPr>
            <p:sp>
              <p:nvSpPr>
                <p:cNvPr id="51" name="Freeform 51"/>
                <p:cNvSpPr/>
                <p:nvPr/>
              </p:nvSpPr>
              <p:spPr>
                <a:xfrm>
                  <a:off x="8772525" y="2959100"/>
                  <a:ext cx="52388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88" h="104775">
                      <a:moveTo>
                        <a:pt x="0" y="0"/>
                      </a:moveTo>
                      <a:cubicBezTo>
                        <a:pt x="28933" y="0"/>
                        <a:pt x="52388" y="23455"/>
                        <a:pt x="52388" y="52388"/>
                      </a:cubicBezTo>
                      <a:cubicBezTo>
                        <a:pt x="52388" y="81320"/>
                        <a:pt x="28933" y="104775"/>
                        <a:pt x="0" y="104775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8580438" y="2959100"/>
                  <a:ext cx="52388" cy="20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388" h="209550">
                      <a:moveTo>
                        <a:pt x="52388" y="0"/>
                      </a:moveTo>
                      <a:lnTo>
                        <a:pt x="52388" y="192087"/>
                      </a:lnTo>
                      <a:cubicBezTo>
                        <a:pt x="52388" y="201732"/>
                        <a:pt x="44569" y="209550"/>
                        <a:pt x="34925" y="209550"/>
                      </a:cubicBezTo>
                      <a:lnTo>
                        <a:pt x="17462" y="209550"/>
                      </a:lnTo>
                      <a:cubicBezTo>
                        <a:pt x="7818" y="209550"/>
                        <a:pt x="0" y="201732"/>
                        <a:pt x="0" y="192087"/>
                      </a:cubicBezTo>
                      <a:lnTo>
                        <a:pt x="0" y="104775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8510588" y="2888523"/>
                  <a:ext cx="261941" cy="245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1941" h="245928">
                      <a:moveTo>
                        <a:pt x="157162" y="70577"/>
                      </a:moveTo>
                      <a:lnTo>
                        <a:pt x="236163" y="4743"/>
                      </a:lnTo>
                      <a:cubicBezTo>
                        <a:pt x="240849" y="840"/>
                        <a:pt x="247371" y="0"/>
                        <a:pt x="252893" y="2589"/>
                      </a:cubicBezTo>
                      <a:cubicBezTo>
                        <a:pt x="258415" y="5178"/>
                        <a:pt x="261941" y="10728"/>
                        <a:pt x="261938" y="16827"/>
                      </a:cubicBezTo>
                      <a:lnTo>
                        <a:pt x="261938" y="229101"/>
                      </a:lnTo>
                      <a:cubicBezTo>
                        <a:pt x="261941" y="235200"/>
                        <a:pt x="258415" y="240750"/>
                        <a:pt x="252893" y="243339"/>
                      </a:cubicBezTo>
                      <a:cubicBezTo>
                        <a:pt x="247371" y="245928"/>
                        <a:pt x="240849" y="245089"/>
                        <a:pt x="236163" y="241185"/>
                      </a:cubicBezTo>
                      <a:lnTo>
                        <a:pt x="157162" y="175352"/>
                      </a:lnTo>
                      <a:lnTo>
                        <a:pt x="17463" y="175352"/>
                      </a:lnTo>
                      <a:cubicBezTo>
                        <a:pt x="7818" y="175352"/>
                        <a:pt x="0" y="167533"/>
                        <a:pt x="0" y="157889"/>
                      </a:cubicBezTo>
                      <a:lnTo>
                        <a:pt x="0" y="88039"/>
                      </a:lnTo>
                      <a:cubicBezTo>
                        <a:pt x="0" y="78395"/>
                        <a:pt x="7818" y="70577"/>
                        <a:pt x="17463" y="70577"/>
                      </a:cubicBezTo>
                      <a:lnTo>
                        <a:pt x="157162" y="70577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55" name="TextBox 55"/>
              <p:cNvSpPr txBox="1"/>
              <p:nvPr/>
            </p:nvSpPr>
            <p:spPr>
              <a:xfrm>
                <a:off x="8228648" y="36861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生成讲解</a:t>
                </a:r>
                <a:endParaRPr lang="zh-CN" sz="15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203406" y="4012406"/>
                <a:ext cx="92868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光标跟随段落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sp>
          <p:nvSpPr>
            <p:cNvPr id="58" name="Line 58"/>
            <p:cNvSpPr/>
            <p:nvPr/>
          </p:nvSpPr>
          <p:spPr>
            <a:xfrm>
              <a:off x="9191625" y="3028950"/>
              <a:ext cx="809625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9791879" y="2590800"/>
              <a:ext cx="1371243" cy="1650206"/>
              <a:chOff x="9791879" y="2590800"/>
              <a:chExt cx="1371243" cy="1650206"/>
            </a:xfrm>
          </p:grpSpPr>
          <p:sp>
            <p:nvSpPr>
              <p:cNvPr id="59" name="Ellipse 59"/>
              <p:cNvSpPr/>
              <p:nvPr/>
            </p:nvSpPr>
            <p:spPr>
              <a:xfrm>
                <a:off x="10039350" y="2590800"/>
                <a:ext cx="876300" cy="876300"/>
              </a:xfrm>
              <a:prstGeom prst="ellipse">
                <a:avLst/>
              </a:prstGeom>
              <a:gradFill>
                <a:gsLst>
                  <a:gs pos="0">
                    <a:srgbClr val="155E75"/>
                  </a:gs>
                  <a:gs pos="100000">
                    <a:srgbClr val="0F766E"/>
                  </a:gs>
                </a:gsLst>
                <a:lin ang="0" scaled="1"/>
              </a:gradFill>
              <a:ln w="19050">
                <a:solidFill>
                  <a:srgbClr val="0F766E"/>
                </a:solidFill>
              </a:ln>
            </p:spPr>
          </p:sp>
          <p:grpSp>
            <p:nvGrpSpPr>
              <p:cNvPr id="62" name="Group 62"/>
              <p:cNvGrpSpPr/>
              <p:nvPr/>
            </p:nvGrpSpPr>
            <p:grpSpPr>
              <a:xfrm>
                <a:off x="10355262" y="2871788"/>
                <a:ext cx="279400" cy="331787"/>
                <a:chOff x="10355262" y="2871788"/>
                <a:chExt cx="279400" cy="331787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10512425" y="2871788"/>
                  <a:ext cx="87312" cy="873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312" h="87313">
                      <a:moveTo>
                        <a:pt x="0" y="0"/>
                      </a:moveTo>
                      <a:lnTo>
                        <a:pt x="0" y="69850"/>
                      </a:lnTo>
                      <a:cubicBezTo>
                        <a:pt x="0" y="79494"/>
                        <a:pt x="7818" y="87313"/>
                        <a:pt x="17462" y="87313"/>
                      </a:cubicBezTo>
                      <a:lnTo>
                        <a:pt x="87312" y="87313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61" name="Freeform 61"/>
                <p:cNvSpPr/>
                <p:nvPr/>
              </p:nvSpPr>
              <p:spPr>
                <a:xfrm>
                  <a:off x="10355262" y="2871788"/>
                  <a:ext cx="279400" cy="3317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9400" h="331787">
                      <a:moveTo>
                        <a:pt x="113506" y="314325"/>
                      </a:moveTo>
                      <a:lnTo>
                        <a:pt x="34925" y="314325"/>
                      </a:lnTo>
                      <a:cubicBezTo>
                        <a:pt x="15636" y="314325"/>
                        <a:pt x="0" y="298689"/>
                        <a:pt x="0" y="279400"/>
                      </a:cubicBezTo>
                      <a:lnTo>
                        <a:pt x="0" y="34925"/>
                      </a:lnTo>
                      <a:cubicBezTo>
                        <a:pt x="0" y="15636"/>
                        <a:pt x="15636" y="0"/>
                        <a:pt x="34925" y="0"/>
                      </a:cubicBezTo>
                      <a:lnTo>
                        <a:pt x="157162" y="0"/>
                      </a:lnTo>
                      <a:lnTo>
                        <a:pt x="244475" y="87313"/>
                      </a:lnTo>
                      <a:lnTo>
                        <a:pt x="244475" y="174625"/>
                      </a:lnTo>
                      <a:moveTo>
                        <a:pt x="157162" y="279400"/>
                      </a:moveTo>
                      <a:lnTo>
                        <a:pt x="279400" y="279400"/>
                      </a:lnTo>
                      <a:moveTo>
                        <a:pt x="227012" y="227012"/>
                      </a:moveTo>
                      <a:lnTo>
                        <a:pt x="279400" y="279400"/>
                      </a:lnTo>
                      <a:lnTo>
                        <a:pt x="227012" y="331787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63" name="TextBox 63"/>
              <p:cNvSpPr txBox="1"/>
              <p:nvPr/>
            </p:nvSpPr>
            <p:spPr>
              <a:xfrm>
                <a:off x="10038398" y="36861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下载交付</a:t>
                </a:r>
                <a:endParaRPr lang="zh-CN" sz="15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9791879" y="4012406"/>
                <a:ext cx="137124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475569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SVG / JSON / WebM</a:t>
                </a:r>
                <a:endParaRPr lang="zh-CN" sz="1125" dirty="0">
                  <a:solidFill>
                    <a:srgbClr val="47556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</p:grpSp>
      </p:grpSp>
      <p:grpSp>
        <p:nvGrpSpPr>
          <p:cNvPr id="70" name="Group 70"/>
          <p:cNvGrpSpPr/>
          <p:nvPr/>
        </p:nvGrpSpPr>
        <p:grpSpPr>
          <a:xfrm>
            <a:off x="668655" y="4953000"/>
            <a:ext cx="11068860" cy="723900"/>
            <a:chOff x="668655" y="4953000"/>
            <a:chExt cx="11068860" cy="723900"/>
          </a:xfrm>
        </p:grpSpPr>
        <p:sp>
          <p:nvSpPr>
            <p:cNvPr id="67" name="Rectangle 67"/>
            <p:cNvSpPr/>
            <p:nvPr/>
          </p:nvSpPr>
          <p:spPr>
            <a:xfrm>
              <a:off x="668655" y="4953000"/>
              <a:ext cx="10897235" cy="723900"/>
            </a:xfrm>
            <a:prstGeom prst="roundRect">
              <a:avLst>
                <a:gd name="adj" fmla="val 10526"/>
              </a:avLst>
            </a:prstGeom>
            <a:solidFill>
              <a:srgbClr val="155E75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1143000" y="5076825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推荐现场演示口径</a:t>
              </a:r>
              <a:endParaRPr lang="zh-CN" sz="15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44905" y="5378768"/>
              <a:ext cx="1059261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E0F2F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画一个“输入数据 → 模型 → 评测指标”的简单草图，再用语音补充中间步骤，最后展示 Mermaid、SVG、JSON、终稿图和讲解 WebM。</a:t>
              </a:r>
              <a:endParaRPr lang="zh-CN" sz="1350" dirty="0">
                <a:solidFill>
                  <a:srgbClr val="E0F2F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71" name="TextBox 71"/>
            <p:cNvSpPr txBox="1"/>
            <p:nvPr/>
          </p:nvSpPr>
          <p:spPr>
            <a:xfrm>
              <a:off x="560070" y="6379845"/>
              <a:ext cx="170907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Live Demo Flow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05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/>
      <p:bldP spid="7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94335"/>
            <a:ext cx="8007572" cy="743903"/>
            <a:chOff x="537210" y="394335"/>
            <a:chExt cx="8007572" cy="74390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94335"/>
              <a:ext cx="800757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系统架构：前端交互、后端服务和模型能力分层</a:t>
              </a:r>
              <a:endParaRPr lang="zh-CN" sz="27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66771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产品闭环由浏览器工作台、FastAPI 接口、结构化模型、图像与语音服务共同完成。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38200" y="1409700"/>
            <a:ext cx="10515600" cy="4495800"/>
            <a:chOff x="838200" y="1409700"/>
            <a:chExt cx="10515600" cy="4495800"/>
          </a:xfrm>
        </p:grpSpPr>
        <p:grpSp>
          <p:nvGrpSpPr>
            <p:cNvPr id="15" name="Group 15"/>
            <p:cNvGrpSpPr/>
            <p:nvPr/>
          </p:nvGrpSpPr>
          <p:grpSpPr>
            <a:xfrm>
              <a:off x="838200" y="1409700"/>
              <a:ext cx="10515600" cy="914400"/>
              <a:chOff x="838200" y="1409700"/>
              <a:chExt cx="10515600" cy="914400"/>
            </a:xfrm>
          </p:grpSpPr>
          <p:sp>
            <p:nvSpPr>
              <p:cNvPr id="6" name="Rectangle 6"/>
              <p:cNvSpPr/>
              <p:nvPr/>
            </p:nvSpPr>
            <p:spPr>
              <a:xfrm>
                <a:off x="838200" y="1409700"/>
                <a:ext cx="10515600" cy="914400"/>
              </a:xfrm>
              <a:prstGeom prst="roundRect">
                <a:avLst>
                  <a:gd name="adj" fmla="val 8333"/>
                </a:avLst>
              </a:prstGeom>
              <a:solidFill>
                <a:srgbClr val="E0F2FE"/>
              </a:solidFill>
              <a:ln w="9525">
                <a:solidFill>
                  <a:srgbClr val="CBD5E1"/>
                </a:solidFill>
              </a:ln>
            </p:spPr>
          </p:sp>
          <p:sp>
            <p:nvSpPr>
              <p:cNvPr id="7" name="Rectangle 7"/>
              <p:cNvSpPr/>
              <p:nvPr/>
            </p:nvSpPr>
            <p:spPr>
              <a:xfrm>
                <a:off x="1066800" y="1638300"/>
                <a:ext cx="5334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grpSp>
            <p:nvGrpSpPr>
              <p:cNvPr id="12" name="Group 12"/>
              <p:cNvGrpSpPr/>
              <p:nvPr/>
            </p:nvGrpSpPr>
            <p:grpSpPr>
              <a:xfrm>
                <a:off x="1214438" y="1778000"/>
                <a:ext cx="200025" cy="187325"/>
                <a:chOff x="1214438" y="1778000"/>
                <a:chExt cx="200025" cy="187325"/>
              </a:xfrm>
            </p:grpSpPr>
            <p:sp>
              <p:nvSpPr>
                <p:cNvPr id="8" name="Freeform 8"/>
                <p:cNvSpPr/>
                <p:nvPr/>
              </p:nvSpPr>
              <p:spPr>
                <a:xfrm>
                  <a:off x="1214438" y="1778000"/>
                  <a:ext cx="200025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133350">
                      <a:moveTo>
                        <a:pt x="0" y="11113"/>
                      </a:moveTo>
                      <a:cubicBezTo>
                        <a:pt x="0" y="4975"/>
                        <a:pt x="4975" y="0"/>
                        <a:pt x="11112" y="0"/>
                      </a:cubicBezTo>
                      <a:lnTo>
                        <a:pt x="188913" y="0"/>
                      </a:lnTo>
                      <a:cubicBezTo>
                        <a:pt x="195050" y="0"/>
                        <a:pt x="200025" y="4975"/>
                        <a:pt x="200025" y="11113"/>
                      </a:cubicBezTo>
                      <a:lnTo>
                        <a:pt x="200025" y="122238"/>
                      </a:lnTo>
                      <a:cubicBezTo>
                        <a:pt x="200025" y="128375"/>
                        <a:pt x="195050" y="133350"/>
                        <a:pt x="188913" y="133350"/>
                      </a:cubicBezTo>
                      <a:lnTo>
                        <a:pt x="11112" y="133350"/>
                      </a:lnTo>
                      <a:cubicBezTo>
                        <a:pt x="4975" y="133350"/>
                        <a:pt x="0" y="128375"/>
                        <a:pt x="0" y="122238"/>
                      </a:cubicBezTo>
                      <a:lnTo>
                        <a:pt x="0" y="11113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9" name="Freeform 9"/>
                <p:cNvSpPr/>
                <p:nvPr/>
              </p:nvSpPr>
              <p:spPr>
                <a:xfrm>
                  <a:off x="1258888" y="195580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0" name="Freeform 10"/>
                <p:cNvSpPr/>
                <p:nvPr/>
              </p:nvSpPr>
              <p:spPr>
                <a:xfrm>
                  <a:off x="1281112" y="191135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1" name="Freeform 11"/>
                <p:cNvSpPr/>
                <p:nvPr/>
              </p:nvSpPr>
              <p:spPr>
                <a:xfrm>
                  <a:off x="1347788" y="191135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13" name="TextBox 13"/>
              <p:cNvSpPr txBox="1"/>
              <p:nvPr/>
            </p:nvSpPr>
            <p:spPr>
              <a:xfrm>
                <a:off x="1827848" y="1582579"/>
                <a:ext cx="1142643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前端工作台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831658" y="1919764"/>
                <a:ext cx="4622959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画布、录音、上传、标签页预览、下载、讲解播放和光标动画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838200" y="2552700"/>
              <a:ext cx="10515600" cy="914400"/>
              <a:chOff x="838200" y="2552700"/>
              <a:chExt cx="10515600" cy="91440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838200" y="2552700"/>
                <a:ext cx="10515600" cy="91440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17" name="Rectangle 17"/>
              <p:cNvSpPr/>
              <p:nvPr/>
            </p:nvSpPr>
            <p:spPr>
              <a:xfrm>
                <a:off x="1066800" y="2781300"/>
                <a:ext cx="5334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CCFBF1"/>
              </a:solidFill>
              <a:ln>
                <a:noFill/>
              </a:ln>
            </p:spPr>
          </p:sp>
          <p:grpSp>
            <p:nvGrpSpPr>
              <p:cNvPr id="22" name="Group 22"/>
              <p:cNvGrpSpPr/>
              <p:nvPr/>
            </p:nvGrpSpPr>
            <p:grpSpPr>
              <a:xfrm>
                <a:off x="1214438" y="2921000"/>
                <a:ext cx="200025" cy="177800"/>
                <a:chOff x="1214438" y="2921000"/>
                <a:chExt cx="200025" cy="177800"/>
              </a:xfrm>
            </p:grpSpPr>
            <p:sp>
              <p:nvSpPr>
                <p:cNvPr id="18" name="Freeform 18"/>
                <p:cNvSpPr/>
                <p:nvPr/>
              </p:nvSpPr>
              <p:spPr>
                <a:xfrm>
                  <a:off x="1214438" y="2921000"/>
                  <a:ext cx="200025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88900">
                      <a:moveTo>
                        <a:pt x="0" y="33338"/>
                      </a:moveTo>
                      <a:cubicBezTo>
                        <a:pt x="0" y="14926"/>
                        <a:pt x="14926" y="0"/>
                        <a:pt x="33338" y="0"/>
                      </a:cubicBezTo>
                      <a:lnTo>
                        <a:pt x="166688" y="0"/>
                      </a:lnTo>
                      <a:cubicBezTo>
                        <a:pt x="185099" y="0"/>
                        <a:pt x="200025" y="14926"/>
                        <a:pt x="200025" y="33338"/>
                      </a:cubicBezTo>
                      <a:lnTo>
                        <a:pt x="200025" y="55562"/>
                      </a:lnTo>
                      <a:cubicBezTo>
                        <a:pt x="200025" y="73974"/>
                        <a:pt x="185099" y="88900"/>
                        <a:pt x="166688" y="88900"/>
                      </a:cubicBezTo>
                      <a:lnTo>
                        <a:pt x="33338" y="88900"/>
                      </a:lnTo>
                      <a:cubicBezTo>
                        <a:pt x="14926" y="88900"/>
                        <a:pt x="0" y="73974"/>
                        <a:pt x="0" y="55562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1214438" y="3009900"/>
                  <a:ext cx="200025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88900">
                      <a:moveTo>
                        <a:pt x="0" y="33338"/>
                      </a:moveTo>
                      <a:cubicBezTo>
                        <a:pt x="0" y="14926"/>
                        <a:pt x="14926" y="0"/>
                        <a:pt x="33338" y="0"/>
                      </a:cubicBezTo>
                      <a:lnTo>
                        <a:pt x="166688" y="0"/>
                      </a:lnTo>
                      <a:cubicBezTo>
                        <a:pt x="185099" y="0"/>
                        <a:pt x="200025" y="14926"/>
                        <a:pt x="200025" y="33338"/>
                      </a:cubicBezTo>
                      <a:lnTo>
                        <a:pt x="200025" y="55562"/>
                      </a:lnTo>
                      <a:cubicBezTo>
                        <a:pt x="200025" y="73974"/>
                        <a:pt x="185099" y="88900"/>
                        <a:pt x="166688" y="88900"/>
                      </a:cubicBezTo>
                      <a:lnTo>
                        <a:pt x="33338" y="88900"/>
                      </a:lnTo>
                      <a:cubicBezTo>
                        <a:pt x="14926" y="88900"/>
                        <a:pt x="0" y="73974"/>
                        <a:pt x="0" y="55562"/>
                      </a:cubicBezTo>
                      <a:lnTo>
                        <a:pt x="0" y="33338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1258888" y="29654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11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1" name="Freeform 21"/>
                <p:cNvSpPr/>
                <p:nvPr/>
              </p:nvSpPr>
              <p:spPr>
                <a:xfrm>
                  <a:off x="1258888" y="305435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11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1827848" y="2725579"/>
                <a:ext cx="156164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FastAPI 服务层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1832610" y="3070860"/>
                <a:ext cx="42150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/api/generate /api/render-image /api/narrate-image</a:t>
                </a:r>
                <a:endParaRPr lang="zh-CN" sz="1200" dirty="0">
                  <a:solidFill>
                    <a:srgbClr val="475569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260398" y="2965609"/>
                <a:ext cx="309276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统一接收草图、音频、文本和结构化结果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838200" y="3695700"/>
              <a:ext cx="10515600" cy="1066800"/>
              <a:chOff x="838200" y="3695700"/>
              <a:chExt cx="10515600" cy="10668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838200" y="3695700"/>
                <a:ext cx="10515600" cy="1066800"/>
              </a:xfrm>
              <a:prstGeom prst="roundRect">
                <a:avLst>
                  <a:gd name="adj" fmla="val 7143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76200" dist="19050" dir="5400000" algn="ctr" rotWithShape="0">
                  <a:srgbClr val="172033">
                    <a:alpha val="4500"/>
                  </a:srgbClr>
                </a:outerShdw>
              </a:effectLst>
            </p:spPr>
          </p:sp>
          <p:sp>
            <p:nvSpPr>
              <p:cNvPr id="28" name="Rectangle 28"/>
              <p:cNvSpPr/>
              <p:nvPr/>
            </p:nvSpPr>
            <p:spPr>
              <a:xfrm>
                <a:off x="1066800" y="3981450"/>
                <a:ext cx="5334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EF3C7"/>
              </a:solidFill>
              <a:ln>
                <a:noFill/>
              </a:ln>
            </p:spPr>
          </p:sp>
          <p:grpSp>
            <p:nvGrpSpPr>
              <p:cNvPr id="33" name="Group 33"/>
              <p:cNvGrpSpPr/>
              <p:nvPr/>
            </p:nvGrpSpPr>
            <p:grpSpPr>
              <a:xfrm>
                <a:off x="1214438" y="4110038"/>
                <a:ext cx="200025" cy="200025"/>
                <a:chOff x="1214438" y="4110038"/>
                <a:chExt cx="200025" cy="200025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1214438" y="41100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33338" y="200025"/>
                      </a:moveTo>
                      <a:lnTo>
                        <a:pt x="200025" y="33338"/>
                      </a:lnTo>
                      <a:lnTo>
                        <a:pt x="166688" y="0"/>
                      </a:lnTo>
                      <a:lnTo>
                        <a:pt x="0" y="166688"/>
                      </a:lnTo>
                      <a:lnTo>
                        <a:pt x="33338" y="200025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1347788" y="4143375"/>
                  <a:ext cx="33338" cy="33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33338">
                      <a:moveTo>
                        <a:pt x="0" y="0"/>
                      </a:moveTo>
                      <a:lnTo>
                        <a:pt x="33338" y="33338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1258888" y="4110038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22225" y="0"/>
                      </a:moveTo>
                      <a:cubicBezTo>
                        <a:pt x="22225" y="12275"/>
                        <a:pt x="32175" y="22225"/>
                        <a:pt x="44450" y="22225"/>
                      </a:cubicBezTo>
                      <a:cubicBezTo>
                        <a:pt x="32175" y="22225"/>
                        <a:pt x="22225" y="32175"/>
                        <a:pt x="22225" y="44450"/>
                      </a:cubicBezTo>
                      <a:cubicBezTo>
                        <a:pt x="22225" y="32175"/>
                        <a:pt x="12275" y="22225"/>
                        <a:pt x="0" y="22225"/>
                      </a:cubicBezTo>
                      <a:cubicBezTo>
                        <a:pt x="12275" y="22225"/>
                        <a:pt x="22225" y="12275"/>
                        <a:pt x="22225" y="0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32" name="Freeform 32"/>
                <p:cNvSpPr/>
                <p:nvPr/>
              </p:nvSpPr>
              <p:spPr>
                <a:xfrm>
                  <a:off x="1370012" y="4221162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22225" y="0"/>
                      </a:moveTo>
                      <a:cubicBezTo>
                        <a:pt x="22225" y="12275"/>
                        <a:pt x="32175" y="22225"/>
                        <a:pt x="44450" y="22225"/>
                      </a:cubicBezTo>
                      <a:cubicBezTo>
                        <a:pt x="32175" y="22225"/>
                        <a:pt x="22225" y="32175"/>
                        <a:pt x="22225" y="44450"/>
                      </a:cubicBezTo>
                      <a:cubicBezTo>
                        <a:pt x="22225" y="32175"/>
                        <a:pt x="12275" y="22225"/>
                        <a:pt x="0" y="22225"/>
                      </a:cubicBezTo>
                      <a:cubicBezTo>
                        <a:pt x="12275" y="22225"/>
                        <a:pt x="22225" y="12275"/>
                        <a:pt x="22225" y="0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34" name="TextBox 34"/>
              <p:cNvSpPr txBox="1"/>
              <p:nvPr/>
            </p:nvSpPr>
            <p:spPr>
              <a:xfrm>
                <a:off x="1827848" y="3830479"/>
                <a:ext cx="1583698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模型与生成服务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1831658" y="4167664"/>
                <a:ext cx="618715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ASR 转写、多模态结构化、豆包草稿图、OpenAI 终稿图、OpenAI/豆包/Mock TTS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6" name="Rectangle 36"/>
              <p:cNvSpPr/>
              <p:nvPr/>
            </p:nvSpPr>
            <p:spPr>
              <a:xfrm>
                <a:off x="1847850" y="4457700"/>
                <a:ext cx="1619250" cy="209550"/>
              </a:xfrm>
              <a:prstGeom prst="roundRect">
                <a:avLst>
                  <a:gd name="adj" fmla="val 36364"/>
                </a:avLst>
              </a:prstGeom>
              <a:solidFill>
                <a:srgbClr val="F8FAFC"/>
              </a:solidFill>
              <a:ln w="9525">
                <a:solidFill>
                  <a:srgbClr val="CBD5E1"/>
                </a:solidFill>
              </a:ln>
            </p:spPr>
          </p:sp>
          <p:sp>
            <p:nvSpPr>
              <p:cNvPr id="37" name="TextBox 37"/>
              <p:cNvSpPr txBox="1"/>
              <p:nvPr/>
            </p:nvSpPr>
            <p:spPr>
              <a:xfrm>
                <a:off x="2216039" y="4504849"/>
                <a:ext cx="88287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975" dirty="0">
                    <a:solidFill>
                      <a:srgbClr val="155E75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mock fallback</a:t>
                </a:r>
                <a:endParaRPr lang="zh-CN" sz="975" dirty="0">
                  <a:solidFill>
                    <a:srgbClr val="155E75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838200" y="4991100"/>
              <a:ext cx="10515600" cy="914400"/>
              <a:chOff x="838200" y="4991100"/>
              <a:chExt cx="10515600" cy="9144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838200" y="4991100"/>
                <a:ext cx="10515600" cy="914400"/>
              </a:xfrm>
              <a:prstGeom prst="roundRect">
                <a:avLst>
                  <a:gd name="adj" fmla="val 8333"/>
                </a:avLst>
              </a:prstGeom>
              <a:solidFill>
                <a:srgbClr val="CCFBF1"/>
              </a:solidFill>
              <a:ln w="9525">
                <a:solidFill>
                  <a:srgbClr val="0F766E"/>
                </a:solidFill>
              </a:ln>
            </p:spPr>
          </p:sp>
          <p:sp>
            <p:nvSpPr>
              <p:cNvPr id="40" name="Rectangle 40"/>
              <p:cNvSpPr/>
              <p:nvPr/>
            </p:nvSpPr>
            <p:spPr>
              <a:xfrm>
                <a:off x="1066800" y="5219700"/>
                <a:ext cx="533400" cy="457200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>
                <a:noFill/>
              </a:ln>
            </p:spPr>
          </p:sp>
          <p:grpSp>
            <p:nvGrpSpPr>
              <p:cNvPr id="43" name="Group 43"/>
              <p:cNvGrpSpPr/>
              <p:nvPr/>
            </p:nvGrpSpPr>
            <p:grpSpPr>
              <a:xfrm>
                <a:off x="1236662" y="5348288"/>
                <a:ext cx="177800" cy="211137"/>
                <a:chOff x="1236662" y="5348288"/>
                <a:chExt cx="177800" cy="211137"/>
              </a:xfrm>
            </p:grpSpPr>
            <p:sp>
              <p:nvSpPr>
                <p:cNvPr id="41" name="Freeform 41"/>
                <p:cNvSpPr/>
                <p:nvPr/>
              </p:nvSpPr>
              <p:spPr>
                <a:xfrm>
                  <a:off x="1336675" y="5348288"/>
                  <a:ext cx="55562" cy="555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5562" h="55563">
                      <a:moveTo>
                        <a:pt x="0" y="0"/>
                      </a:moveTo>
                      <a:lnTo>
                        <a:pt x="0" y="44450"/>
                      </a:lnTo>
                      <a:cubicBezTo>
                        <a:pt x="0" y="50587"/>
                        <a:pt x="4975" y="55563"/>
                        <a:pt x="11112" y="55563"/>
                      </a:cubicBezTo>
                      <a:lnTo>
                        <a:pt x="55562" y="55563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1236662" y="5348288"/>
                  <a:ext cx="177800" cy="2111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0" h="211137">
                      <a:moveTo>
                        <a:pt x="72231" y="200025"/>
                      </a:moveTo>
                      <a:lnTo>
                        <a:pt x="22225" y="200025"/>
                      </a:lnTo>
                      <a:cubicBezTo>
                        <a:pt x="9950" y="200025"/>
                        <a:pt x="0" y="190075"/>
                        <a:pt x="0" y="177800"/>
                      </a:cubicBezTo>
                      <a:lnTo>
                        <a:pt x="0" y="22225"/>
                      </a:ln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00012" y="0"/>
                      </a:lnTo>
                      <a:lnTo>
                        <a:pt x="155575" y="55563"/>
                      </a:lnTo>
                      <a:lnTo>
                        <a:pt x="155575" y="111125"/>
                      </a:lnTo>
                      <a:moveTo>
                        <a:pt x="100012" y="177800"/>
                      </a:moveTo>
                      <a:lnTo>
                        <a:pt x="177800" y="177800"/>
                      </a:lnTo>
                      <a:moveTo>
                        <a:pt x="144462" y="144462"/>
                      </a:moveTo>
                      <a:lnTo>
                        <a:pt x="177800" y="177800"/>
                      </a:lnTo>
                      <a:lnTo>
                        <a:pt x="144462" y="211137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1827848" y="5163979"/>
                <a:ext cx="1363170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输出与导出层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831658" y="5501164"/>
                <a:ext cx="480998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Mermaid、SVG、JSON、AI 图像、讲解音频、浏览器录制 WebM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52" name="Group 52"/>
          <p:cNvGrpSpPr/>
          <p:nvPr/>
        </p:nvGrpSpPr>
        <p:grpSpPr>
          <a:xfrm>
            <a:off x="8915400" y="1695450"/>
            <a:ext cx="2000250" cy="4057650"/>
            <a:chOff x="8915400" y="1695450"/>
            <a:chExt cx="2000250" cy="4057650"/>
          </a:xfrm>
        </p:grpSpPr>
        <p:sp>
          <p:nvSpPr>
            <p:cNvPr id="48" name="Rectangle 48"/>
            <p:cNvSpPr/>
            <p:nvPr/>
          </p:nvSpPr>
          <p:spPr>
            <a:xfrm>
              <a:off x="8915400" y="1695450"/>
              <a:ext cx="200025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228201" y="1832610"/>
              <a:ext cx="137464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用户看到的是闭环</a:t>
              </a:r>
              <a:endParaRPr lang="zh-CN" sz="1200" b="1" dirty="0">
                <a:solidFill>
                  <a:srgbClr val="155E7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8915400" y="5334000"/>
              <a:ext cx="2000250" cy="419100"/>
            </a:xfrm>
            <a:prstGeom prst="roundRect">
              <a:avLst>
                <a:gd name="adj" fmla="val 18182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312212" y="54711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0F766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系统内部是分层</a:t>
              </a:r>
              <a:endParaRPr lang="zh-CN" sz="1200" b="1" dirty="0">
                <a:solidFill>
                  <a:srgbClr val="0F766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79845"/>
              <a:ext cx="161905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Architecture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06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5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75285"/>
            <a:ext cx="6495383" cy="762953"/>
            <a:chOff x="537210" y="375285"/>
            <a:chExt cx="6495383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6495383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科研定位：语音引导的知识草图结构化</a:t>
              </a:r>
              <a:endParaRPr lang="zh-CN" sz="27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62000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我们研究的不是“语音转文字 + 大模型画图”，而是多模态知识结构恢复问题。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76300" y="1409700"/>
            <a:ext cx="10439400" cy="990600"/>
            <a:chOff x="876300" y="1409700"/>
            <a:chExt cx="10439400" cy="990600"/>
          </a:xfrm>
        </p:grpSpPr>
        <p:sp>
          <p:nvSpPr>
            <p:cNvPr id="6" name="Rectangle 6"/>
            <p:cNvSpPr/>
            <p:nvPr/>
          </p:nvSpPr>
          <p:spPr>
            <a:xfrm>
              <a:off x="876300" y="1409700"/>
              <a:ext cx="10439400" cy="990600"/>
            </a:xfrm>
            <a:prstGeom prst="roundRect">
              <a:avLst>
                <a:gd name="adj" fmla="val 7692"/>
              </a:avLst>
            </a:prstGeom>
            <a:solidFill>
              <a:srgbClr val="155E75"/>
            </a:solidFill>
            <a:ln>
              <a:noFill/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  <p:txBody>
            <a:bodyPr/>
            <a:p>
              <a:endParaRPr lang="zh-CN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432560" y="1683544"/>
              <a:ext cx="1117600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200" b="1" dirty="0">
                  <a:solidFill>
                    <a:srgbClr val="E0F2F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Input</a:t>
              </a:r>
              <a:endParaRPr lang="zh-CN" sz="3200" b="1" dirty="0">
                <a:solidFill>
                  <a:srgbClr val="E0F2F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829050" y="1581150"/>
              <a:ext cx="4524375" cy="57150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9533255" y="1621949"/>
              <a:ext cx="1341120" cy="4921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200" b="1" dirty="0">
                  <a:solidFill>
                    <a:srgbClr val="E0F2F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Output</a:t>
              </a:r>
              <a:endParaRPr lang="zh-CN" sz="3200" b="1" dirty="0">
                <a:solidFill>
                  <a:srgbClr val="E0F2FE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504773" y="2113598"/>
              <a:ext cx="7181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E0F2F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 是手绘知识草图，U 是同步语音描述，输出是可编辑、可评测、可渲染的结构化知识图。</a:t>
              </a:r>
              <a:endParaRPr lang="zh-CN" sz="1350" dirty="0">
                <a:solidFill>
                  <a:srgbClr val="E0F2F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47" name="Group 47"/>
          <p:cNvGrpSpPr/>
          <p:nvPr>
            <p:custDataLst>
              <p:tags r:id="rId2"/>
            </p:custDataLst>
          </p:nvPr>
        </p:nvGrpSpPr>
        <p:grpSpPr>
          <a:xfrm>
            <a:off x="666750" y="2895600"/>
            <a:ext cx="10858500" cy="1695450"/>
            <a:chOff x="666750" y="2895600"/>
            <a:chExt cx="10858500" cy="1695450"/>
          </a:xfrm>
        </p:grpSpPr>
        <p:grpSp>
          <p:nvGrpSpPr>
            <p:cNvPr id="20" name="Group 20"/>
            <p:cNvGrpSpPr/>
            <p:nvPr/>
          </p:nvGrpSpPr>
          <p:grpSpPr>
            <a:xfrm>
              <a:off x="666750" y="2895600"/>
              <a:ext cx="3333750" cy="1695450"/>
              <a:chOff x="666750" y="2895600"/>
              <a:chExt cx="3333750" cy="1695450"/>
            </a:xfrm>
          </p:grpSpPr>
          <p:sp>
            <p:nvSpPr>
              <p:cNvPr id="12" name="Rectangle 12"/>
              <p:cNvSpPr/>
              <p:nvPr>
                <p:custDataLst>
                  <p:tags r:id="rId3"/>
                </p:custDataLst>
              </p:nvPr>
            </p:nvSpPr>
            <p:spPr>
              <a:xfrm>
                <a:off x="666750" y="2895600"/>
                <a:ext cx="333375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sp>
            <p:nvSpPr>
              <p:cNvPr id="13" name="Rectangle 13"/>
              <p:cNvSpPr/>
              <p:nvPr>
                <p:custDataLst>
                  <p:tags r:id="rId4"/>
                </p:custDataLst>
              </p:nvPr>
            </p:nvSpPr>
            <p:spPr>
              <a:xfrm>
                <a:off x="666750" y="2895600"/>
                <a:ext cx="3333750" cy="7620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grpSp>
            <p:nvGrpSpPr>
              <p:cNvPr id="16" name="Group 16"/>
              <p:cNvGrpSpPr/>
              <p:nvPr/>
            </p:nvGrpSpPr>
            <p:grpSpPr>
              <a:xfrm>
                <a:off x="1016000" y="3251127"/>
                <a:ext cx="247723" cy="247723"/>
                <a:chOff x="1016000" y="3251127"/>
                <a:chExt cx="247723" cy="247723"/>
              </a:xfrm>
            </p:grpSpPr>
            <p:sp>
              <p:nvSpPr>
                <p:cNvPr id="14" name="Freeform 14"/>
                <p:cNvSpPr/>
                <p:nvPr>
                  <p:custDataLst>
                    <p:tags r:id="rId5"/>
                  </p:custDataLst>
                </p:nvPr>
              </p:nvSpPr>
              <p:spPr>
                <a:xfrm>
                  <a:off x="1016000" y="3251127"/>
                  <a:ext cx="247723" cy="2477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7723" h="247723">
                      <a:moveTo>
                        <a:pt x="0" y="247723"/>
                      </a:moveTo>
                      <a:lnTo>
                        <a:pt x="63500" y="247723"/>
                      </a:lnTo>
                      <a:lnTo>
                        <a:pt x="230188" y="81035"/>
                      </a:lnTo>
                      <a:cubicBezTo>
                        <a:pt x="247723" y="63500"/>
                        <a:pt x="247723" y="35070"/>
                        <a:pt x="230188" y="17535"/>
                      </a:cubicBezTo>
                      <a:cubicBezTo>
                        <a:pt x="212652" y="0"/>
                        <a:pt x="184223" y="0"/>
                        <a:pt x="166688" y="17535"/>
                      </a:cubicBezTo>
                      <a:lnTo>
                        <a:pt x="0" y="184223"/>
                      </a:lnTo>
                      <a:lnTo>
                        <a:pt x="0" y="247723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5" name="Freeform 15"/>
                <p:cNvSpPr/>
                <p:nvPr>
                  <p:custDataLst>
                    <p:tags r:id="rId6"/>
                  </p:custDataLst>
                </p:nvPr>
              </p:nvSpPr>
              <p:spPr>
                <a:xfrm>
                  <a:off x="1166812" y="3284538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0"/>
                      </a:moveTo>
                      <a:lnTo>
                        <a:pt x="63500" y="6350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17" name="TextBox 17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1483042" y="3242786"/>
                <a:ext cx="1734526" cy="350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72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草图：空间先验</a:t>
                </a:r>
                <a:endParaRPr lang="zh-CN" sz="172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936308" y="3729514"/>
                <a:ext cx="241268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能表达上下游、并行分支、层级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9" name="TextBox 19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936308" y="3996214"/>
                <a:ext cx="258270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和反馈闭环，但文字和箭头不稳。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429125" y="2895600"/>
              <a:ext cx="3333750" cy="1695450"/>
              <a:chOff x="4429125" y="2895600"/>
              <a:chExt cx="3333750" cy="1695450"/>
            </a:xfrm>
          </p:grpSpPr>
          <p:sp>
            <p:nvSpPr>
              <p:cNvPr id="21" name="Rectangle 21"/>
              <p:cNvSpPr/>
              <p:nvPr>
                <p:custDataLst>
                  <p:tags r:id="rId10"/>
                </p:custDataLst>
              </p:nvPr>
            </p:nvSpPr>
            <p:spPr>
              <a:xfrm>
                <a:off x="4429125" y="2895600"/>
                <a:ext cx="333375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sp>
            <p:nvSpPr>
              <p:cNvPr id="22" name="Rectangle 22"/>
              <p:cNvSpPr/>
              <p:nvPr>
                <p:custDataLst>
                  <p:tags r:id="rId11"/>
                </p:custDataLst>
              </p:nvPr>
            </p:nvSpPr>
            <p:spPr>
              <a:xfrm>
                <a:off x="4429125" y="2895600"/>
                <a:ext cx="3333750" cy="76200"/>
              </a:xfrm>
              <a:prstGeom prst="roundRect">
                <a:avLst>
                  <a:gd name="adj" fmla="val 50000"/>
                </a:avLst>
              </a:prstGeom>
              <a:solidFill>
                <a:srgbClr val="0F766E"/>
              </a:solidFill>
              <a:ln>
                <a:noFill/>
              </a:ln>
            </p:spPr>
          </p:sp>
          <p:grpSp>
            <p:nvGrpSpPr>
              <p:cNvPr id="27" name="Group 27"/>
              <p:cNvGrpSpPr/>
              <p:nvPr/>
            </p:nvGrpSpPr>
            <p:grpSpPr>
              <a:xfrm>
                <a:off x="4794250" y="3213100"/>
                <a:ext cx="222250" cy="311150"/>
                <a:chOff x="4794250" y="3213100"/>
                <a:chExt cx="222250" cy="311150"/>
              </a:xfrm>
            </p:grpSpPr>
            <p:sp>
              <p:nvSpPr>
                <p:cNvPr id="23" name="Freeform 23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4857750" y="3213100"/>
                  <a:ext cx="95250" cy="174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174625">
                      <a:moveTo>
                        <a:pt x="0" y="47625"/>
                      </a:moveTo>
                      <a:cubicBezTo>
                        <a:pt x="0" y="21322"/>
                        <a:pt x="21322" y="0"/>
                        <a:pt x="47625" y="0"/>
                      </a:cubicBezTo>
                      <a:cubicBezTo>
                        <a:pt x="73928" y="0"/>
                        <a:pt x="95250" y="21322"/>
                        <a:pt x="95250" y="47625"/>
                      </a:cubicBezTo>
                      <a:lnTo>
                        <a:pt x="95250" y="127000"/>
                      </a:lnTo>
                      <a:cubicBezTo>
                        <a:pt x="95250" y="153303"/>
                        <a:pt x="73928" y="174625"/>
                        <a:pt x="47625" y="174625"/>
                      </a:cubicBezTo>
                      <a:cubicBezTo>
                        <a:pt x="21322" y="174625"/>
                        <a:pt x="0" y="153303"/>
                        <a:pt x="0" y="127000"/>
                      </a:cubicBezTo>
                      <a:lnTo>
                        <a:pt x="0" y="47625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4" name="Freeform 24"/>
                <p:cNvSpPr/>
                <p:nvPr>
                  <p:custDataLst>
                    <p:tags r:id="rId13"/>
                  </p:custDataLst>
                </p:nvPr>
              </p:nvSpPr>
              <p:spPr>
                <a:xfrm>
                  <a:off x="4794250" y="3340100"/>
                  <a:ext cx="222250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0" h="111125">
                      <a:moveTo>
                        <a:pt x="0" y="0"/>
                      </a:moveTo>
                      <a:cubicBezTo>
                        <a:pt x="0" y="61373"/>
                        <a:pt x="49752" y="111125"/>
                        <a:pt x="111125" y="111125"/>
                      </a:cubicBezTo>
                      <a:cubicBezTo>
                        <a:pt x="172498" y="111125"/>
                        <a:pt x="222250" y="61373"/>
                        <a:pt x="222250" y="0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5" name="Freeform 25"/>
                <p:cNvSpPr/>
                <p:nvPr>
                  <p:custDataLst>
                    <p:tags r:id="rId14"/>
                  </p:custDataLst>
                </p:nvPr>
              </p:nvSpPr>
              <p:spPr>
                <a:xfrm>
                  <a:off x="4841875" y="3514725"/>
                  <a:ext cx="127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000" h="9525">
                      <a:moveTo>
                        <a:pt x="0" y="0"/>
                      </a:moveTo>
                      <a:lnTo>
                        <a:pt x="12700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6" name="Freeform 26"/>
                <p:cNvSpPr/>
                <p:nvPr>
                  <p:custDataLst>
                    <p:tags r:id="rId15"/>
                  </p:custDataLst>
                </p:nvPr>
              </p:nvSpPr>
              <p:spPr>
                <a:xfrm>
                  <a:off x="4905375" y="3451225"/>
                  <a:ext cx="9525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63500">
                      <a:moveTo>
                        <a:pt x="0" y="0"/>
                      </a:moveTo>
                      <a:lnTo>
                        <a:pt x="0" y="635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28" name="TextBox 28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5245418" y="3242786"/>
                <a:ext cx="1734526" cy="350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72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语音：语义锚点</a:t>
                </a:r>
                <a:endParaRPr lang="zh-CN" sz="172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>
                <p:custDataLst>
                  <p:tags r:id="rId17"/>
                </p:custDataLst>
              </p:nvPr>
            </p:nvSpPr>
            <p:spPr>
              <a:xfrm>
                <a:off x="4698682" y="3729514"/>
                <a:ext cx="2242661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能补充节点名称、顺序、因果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TextBox 30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4698682" y="3996214"/>
                <a:ext cx="241268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和设计意图，但没有二维布局。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8191500" y="2895600"/>
              <a:ext cx="3333750" cy="1695450"/>
              <a:chOff x="8191500" y="2895600"/>
              <a:chExt cx="3333750" cy="1695450"/>
            </a:xfrm>
          </p:grpSpPr>
          <p:sp>
            <p:nvSpPr>
              <p:cNvPr id="32" name="Rectangle 32"/>
              <p:cNvSpPr/>
              <p:nvPr>
                <p:custDataLst>
                  <p:tags r:id="rId19"/>
                </p:custDataLst>
              </p:nvPr>
            </p:nvSpPr>
            <p:spPr>
              <a:xfrm>
                <a:off x="8191500" y="2895600"/>
                <a:ext cx="333375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sp>
            <p:nvSpPr>
              <p:cNvPr id="33" name="Rectangle 33"/>
              <p:cNvSpPr/>
              <p:nvPr>
                <p:custDataLst>
                  <p:tags r:id="rId20"/>
                </p:custDataLst>
              </p:nvPr>
            </p:nvSpPr>
            <p:spPr>
              <a:xfrm>
                <a:off x="8191500" y="2895600"/>
                <a:ext cx="3333750" cy="76200"/>
              </a:xfrm>
              <a:prstGeom prst="roundRect">
                <a:avLst>
                  <a:gd name="adj" fmla="val 50000"/>
                </a:avLst>
              </a:prstGeom>
              <a:solidFill>
                <a:srgbClr val="16A34A"/>
              </a:solidFill>
              <a:ln>
                <a:noFill/>
              </a:ln>
            </p:spPr>
          </p:sp>
          <p:grpSp>
            <p:nvGrpSpPr>
              <p:cNvPr id="42" name="Group 42"/>
              <p:cNvGrpSpPr/>
              <p:nvPr/>
            </p:nvGrpSpPr>
            <p:grpSpPr>
              <a:xfrm>
                <a:off x="8524875" y="3228975"/>
                <a:ext cx="285750" cy="301625"/>
                <a:chOff x="8524875" y="3228975"/>
                <a:chExt cx="285750" cy="301625"/>
              </a:xfrm>
            </p:grpSpPr>
            <p:sp>
              <p:nvSpPr>
                <p:cNvPr id="34" name="Freeform 34"/>
                <p:cNvSpPr/>
                <p:nvPr>
                  <p:custDataLst>
                    <p:tags r:id="rId21"/>
                  </p:custDataLst>
                </p:nvPr>
              </p:nvSpPr>
              <p:spPr>
                <a:xfrm>
                  <a:off x="8572500" y="3228975"/>
                  <a:ext cx="19050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90500">
                      <a:moveTo>
                        <a:pt x="0" y="95250"/>
                      </a:moveTo>
                      <a:cubicBezTo>
                        <a:pt x="0" y="147855"/>
                        <a:pt x="42645" y="190500"/>
                        <a:pt x="95250" y="190500"/>
                      </a:cubicBezTo>
                      <a:cubicBezTo>
                        <a:pt x="147855" y="190500"/>
                        <a:pt x="190500" y="147855"/>
                        <a:pt x="190500" y="95250"/>
                      </a:cubicBezTo>
                      <a:cubicBezTo>
                        <a:pt x="190500" y="42645"/>
                        <a:pt x="147855" y="0"/>
                        <a:pt x="95250" y="0"/>
                      </a:cubicBezTo>
                      <a:cubicBezTo>
                        <a:pt x="42645" y="0"/>
                        <a:pt x="0" y="42645"/>
                        <a:pt x="0" y="95250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5" name="Freeform 35"/>
                <p:cNvSpPr/>
                <p:nvPr>
                  <p:custDataLst>
                    <p:tags r:id="rId22"/>
                  </p:custDataLst>
                </p:nvPr>
              </p:nvSpPr>
              <p:spPr>
                <a:xfrm>
                  <a:off x="8667750" y="3228975"/>
                  <a:ext cx="3175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750" h="190500">
                      <a:moveTo>
                        <a:pt x="0" y="0"/>
                      </a:moveTo>
                      <a:cubicBezTo>
                        <a:pt x="21161" y="5286"/>
                        <a:pt x="31750" y="37036"/>
                        <a:pt x="31750" y="95250"/>
                      </a:cubicBezTo>
                      <a:cubicBezTo>
                        <a:pt x="31750" y="153464"/>
                        <a:pt x="21161" y="185214"/>
                        <a:pt x="0" y="190500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6" name="Freeform 36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8636000" y="3228975"/>
                  <a:ext cx="31750" cy="190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750" h="190500">
                      <a:moveTo>
                        <a:pt x="31750" y="0"/>
                      </a:moveTo>
                      <a:cubicBezTo>
                        <a:pt x="10589" y="5286"/>
                        <a:pt x="0" y="37036"/>
                        <a:pt x="0" y="95250"/>
                      </a:cubicBezTo>
                      <a:cubicBezTo>
                        <a:pt x="0" y="153464"/>
                        <a:pt x="10589" y="185214"/>
                        <a:pt x="31750" y="190500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7" name="Freeform 37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8572500" y="3324225"/>
                  <a:ext cx="1905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9525">
                      <a:moveTo>
                        <a:pt x="0" y="0"/>
                      </a:moveTo>
                      <a:lnTo>
                        <a:pt x="190500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8" name="Freeform 38"/>
                <p:cNvSpPr/>
                <p:nvPr>
                  <p:custDataLst>
                    <p:tags r:id="rId25"/>
                  </p:custDataLst>
                </p:nvPr>
              </p:nvSpPr>
              <p:spPr>
                <a:xfrm>
                  <a:off x="8524875" y="3498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9" name="Freeform 39"/>
                <p:cNvSpPr/>
                <p:nvPr>
                  <p:custDataLst>
                    <p:tags r:id="rId26"/>
                  </p:custDataLst>
                </p:nvPr>
              </p:nvSpPr>
              <p:spPr>
                <a:xfrm>
                  <a:off x="8699500" y="3498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0" name="Freeform 40"/>
                <p:cNvSpPr/>
                <p:nvPr>
                  <p:custDataLst>
                    <p:tags r:id="rId27"/>
                  </p:custDataLst>
                </p:nvPr>
              </p:nvSpPr>
              <p:spPr>
                <a:xfrm>
                  <a:off x="8636000" y="3467100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1" name="Freeform 41"/>
                <p:cNvSpPr/>
                <p:nvPr>
                  <p:custDataLst>
                    <p:tags r:id="rId28"/>
                  </p:custDataLst>
                </p:nvPr>
              </p:nvSpPr>
              <p:spPr>
                <a:xfrm>
                  <a:off x="8667750" y="3419475"/>
                  <a:ext cx="95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7625">
                      <a:moveTo>
                        <a:pt x="0" y="0"/>
                      </a:moveTo>
                      <a:lnTo>
                        <a:pt x="0" y="47625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</p:grpSp>
          <p:sp>
            <p:nvSpPr>
              <p:cNvPr id="43" name="TextBox 43"/>
              <p:cNvSpPr txBox="1"/>
              <p:nvPr>
                <p:custDataLst>
                  <p:tags r:id="rId29"/>
                </p:custDataLst>
              </p:nvPr>
            </p:nvSpPr>
            <p:spPr>
              <a:xfrm>
                <a:off x="9007792" y="3242786"/>
                <a:ext cx="1734526" cy="350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72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目标：结构化图</a:t>
                </a:r>
                <a:endParaRPr lang="zh-CN" sz="172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4" name="TextBox 44"/>
              <p:cNvSpPr txBox="1"/>
              <p:nvPr>
                <p:custDataLst>
                  <p:tags r:id="rId30"/>
                </p:custDataLst>
              </p:nvPr>
            </p:nvSpPr>
            <p:spPr>
              <a:xfrm>
                <a:off x="8461058" y="3729514"/>
                <a:ext cx="258270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恢复节点、边、方向、语义标签、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TextBox 45"/>
              <p:cNvSpPr txBox="1"/>
              <p:nvPr>
                <p:custDataLst>
                  <p:tags r:id="rId31"/>
                </p:custDataLst>
              </p:nvPr>
            </p:nvSpPr>
            <p:spPr>
              <a:xfrm>
                <a:off x="8461058" y="3996214"/>
                <a:ext cx="2922746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置信度和布局关系，而非只生成图像。</a:t>
                </a:r>
                <a:endPara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51" name="Group 51"/>
          <p:cNvGrpSpPr/>
          <p:nvPr/>
        </p:nvGrpSpPr>
        <p:grpSpPr>
          <a:xfrm>
            <a:off x="857250" y="5086350"/>
            <a:ext cx="10877265" cy="742950"/>
            <a:chOff x="857250" y="5086350"/>
            <a:chExt cx="10877265" cy="742950"/>
          </a:xfrm>
        </p:grpSpPr>
        <p:sp>
          <p:nvSpPr>
            <p:cNvPr id="48" name="Rectangle 48"/>
            <p:cNvSpPr/>
            <p:nvPr/>
          </p:nvSpPr>
          <p:spPr>
            <a:xfrm>
              <a:off x="857250" y="5086350"/>
              <a:ext cx="10477500" cy="74295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1125855" y="524541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研究假设</a:t>
              </a:r>
              <a:endParaRPr lang="zh-CN" sz="1350" b="1" dirty="0">
                <a:solidFill>
                  <a:srgbClr val="155E7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126808" y="5539264"/>
              <a:ext cx="10607707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H1 语音补全草图中缺失或难识别的节点标签；H2 口头叙述顺序纠正模糊边方向；H3 显式图编辑路径降低用户修改成本并提供路径能量诊断。</a:t>
              </a:r>
              <a:endParaRPr lang="zh-CN" sz="127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52" name="TextBox 52"/>
            <p:cNvSpPr txBox="1"/>
            <p:nvPr/>
          </p:nvSpPr>
          <p:spPr>
            <a:xfrm>
              <a:off x="560070" y="6379845"/>
              <a:ext cx="205711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Research Positioning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07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47" grpId="0"/>
      <p:bldP spid="5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75285"/>
            <a:ext cx="8007572" cy="762953"/>
            <a:chOff x="537210" y="375285"/>
            <a:chExt cx="8007572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800757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相关工作：三条路线都没有同时覆盖我们的场景</a:t>
              </a:r>
              <a:endParaRPr lang="zh-CN" sz="27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77932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研究空白不在“能不能生成图”，而在同步语音反馈、可编辑结构表示和用户修改成本诊断的结合。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09600" y="1485900"/>
            <a:ext cx="10972800" cy="2995930"/>
            <a:chOff x="609600" y="1485900"/>
            <a:chExt cx="10972800" cy="2995930"/>
          </a:xfrm>
        </p:grpSpPr>
        <p:grpSp>
          <p:nvGrpSpPr>
            <p:cNvPr id="19" name="Group 19"/>
            <p:cNvGrpSpPr/>
            <p:nvPr/>
          </p:nvGrpSpPr>
          <p:grpSpPr>
            <a:xfrm>
              <a:off x="609600" y="1485900"/>
              <a:ext cx="3429000" cy="2995930"/>
              <a:chOff x="609600" y="1485900"/>
              <a:chExt cx="3429000" cy="2995930"/>
            </a:xfrm>
          </p:grpSpPr>
          <p:sp>
            <p:nvSpPr>
              <p:cNvPr id="6" name="Rectangle 6"/>
              <p:cNvSpPr/>
              <p:nvPr/>
            </p:nvSpPr>
            <p:spPr>
              <a:xfrm>
                <a:off x="609600" y="1485900"/>
                <a:ext cx="3429000" cy="2971800"/>
              </a:xfrm>
              <a:prstGeom prst="roundRect">
                <a:avLst>
                  <a:gd name="adj" fmla="val 256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sp>
            <p:nvSpPr>
              <p:cNvPr id="7" name="Rectangle 7"/>
              <p:cNvSpPr/>
              <p:nvPr/>
            </p:nvSpPr>
            <p:spPr>
              <a:xfrm>
                <a:off x="609600" y="1485900"/>
                <a:ext cx="3429000" cy="95250"/>
              </a:xfrm>
              <a:prstGeom prst="roundRect">
                <a:avLst>
                  <a:gd name="adj" fmla="val 50000"/>
                </a:avLst>
              </a:prstGeom>
              <a:solidFill>
                <a:srgbClr val="2563EB"/>
              </a:solidFill>
              <a:ln>
                <a:noFill/>
              </a:ln>
            </p:spPr>
          </p:sp>
          <p:grpSp>
            <p:nvGrpSpPr>
              <p:cNvPr id="10" name="Group 10"/>
              <p:cNvGrpSpPr/>
              <p:nvPr/>
            </p:nvGrpSpPr>
            <p:grpSpPr>
              <a:xfrm>
                <a:off x="977900" y="1917627"/>
                <a:ext cx="247723" cy="247723"/>
                <a:chOff x="977900" y="1917627"/>
                <a:chExt cx="247723" cy="247723"/>
              </a:xfrm>
            </p:grpSpPr>
            <p:sp>
              <p:nvSpPr>
                <p:cNvPr id="8" name="Freeform 8"/>
                <p:cNvSpPr/>
                <p:nvPr/>
              </p:nvSpPr>
              <p:spPr>
                <a:xfrm>
                  <a:off x="977900" y="1917627"/>
                  <a:ext cx="247723" cy="2477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7723" h="247723">
                      <a:moveTo>
                        <a:pt x="0" y="247723"/>
                      </a:moveTo>
                      <a:lnTo>
                        <a:pt x="63500" y="247723"/>
                      </a:lnTo>
                      <a:lnTo>
                        <a:pt x="230188" y="81035"/>
                      </a:lnTo>
                      <a:cubicBezTo>
                        <a:pt x="247723" y="63500"/>
                        <a:pt x="247723" y="35070"/>
                        <a:pt x="230188" y="17535"/>
                      </a:cubicBezTo>
                      <a:cubicBezTo>
                        <a:pt x="212652" y="0"/>
                        <a:pt x="184223" y="0"/>
                        <a:pt x="166688" y="17535"/>
                      </a:cubicBezTo>
                      <a:lnTo>
                        <a:pt x="0" y="184223"/>
                      </a:lnTo>
                      <a:lnTo>
                        <a:pt x="0" y="247723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9" name="Freeform 9"/>
                <p:cNvSpPr/>
                <p:nvPr/>
              </p:nvSpPr>
              <p:spPr>
                <a:xfrm>
                  <a:off x="1128712" y="1951038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0"/>
                      </a:moveTo>
                      <a:lnTo>
                        <a:pt x="63500" y="6350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11" name="TextBox 11"/>
              <p:cNvSpPr txBox="1"/>
              <p:nvPr/>
            </p:nvSpPr>
            <p:spPr>
              <a:xfrm>
                <a:off x="1443990" y="1901190"/>
                <a:ext cx="1595714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草图 → 结构图</a:t>
                </a:r>
                <a:endParaRPr lang="zh-CN" sz="18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97255" y="240696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55E75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代表问题</a:t>
                </a:r>
                <a:endParaRPr lang="zh-CN" sz="1350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899160" y="2727960"/>
                <a:ext cx="240677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SketchAgent / Sketch2Diagram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899160" y="3032760"/>
                <a:ext cx="211074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关注手绘草图到机器可读图。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5" name="Line 15"/>
              <p:cNvSpPr/>
              <p:nvPr/>
            </p:nvSpPr>
            <p:spPr>
              <a:xfrm>
                <a:off x="914400" y="3429000"/>
                <a:ext cx="2819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19400" h="9525">
                    <a:moveTo>
                      <a:pt x="0" y="0"/>
                    </a:moveTo>
                    <a:lnTo>
                      <a:pt x="28194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897255" y="3607118"/>
                <a:ext cx="412337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59E0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缺口</a:t>
                </a:r>
                <a:endParaRPr lang="zh-CN" sz="1350" b="1" dirty="0">
                  <a:solidFill>
                    <a:srgbClr val="F59E0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899160" y="3928110"/>
                <a:ext cx="2903855" cy="5537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主要依赖视觉草图，较少建模</a:t>
                </a:r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  <a:sym typeface="+mn-ea"/>
                  </a:rPr>
                  <a:t>同步语音带来的语义反馈。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  <a:p>
                <a:pPr algn="l"/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899160" y="4175760"/>
                <a:ext cx="127000" cy="1841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4381500" y="1485900"/>
              <a:ext cx="3429000" cy="2971800"/>
              <a:chOff x="4381500" y="1485900"/>
              <a:chExt cx="3429000" cy="29718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381500" y="1485900"/>
                <a:ext cx="3429000" cy="2971800"/>
              </a:xfrm>
              <a:prstGeom prst="roundRect">
                <a:avLst>
                  <a:gd name="adj" fmla="val 256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sp>
            <p:nvSpPr>
              <p:cNvPr id="21" name="Rectangle 21"/>
              <p:cNvSpPr/>
              <p:nvPr/>
            </p:nvSpPr>
            <p:spPr>
              <a:xfrm>
                <a:off x="4381500" y="1485900"/>
                <a:ext cx="3429000" cy="95250"/>
              </a:xfrm>
              <a:prstGeom prst="roundRect">
                <a:avLst>
                  <a:gd name="adj" fmla="val 50000"/>
                </a:avLst>
              </a:prstGeom>
              <a:solidFill>
                <a:srgbClr val="0F766E"/>
              </a:solidFill>
              <a:ln>
                <a:noFill/>
              </a:ln>
            </p:spPr>
          </p:sp>
          <p:grpSp>
            <p:nvGrpSpPr>
              <p:cNvPr id="25" name="Group 25"/>
              <p:cNvGrpSpPr/>
              <p:nvPr/>
            </p:nvGrpSpPr>
            <p:grpSpPr>
              <a:xfrm>
                <a:off x="4733925" y="1911350"/>
                <a:ext cx="285750" cy="254000"/>
                <a:chOff x="4733925" y="1911350"/>
                <a:chExt cx="285750" cy="254000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733925" y="1974850"/>
                  <a:ext cx="63500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127000">
                      <a:moveTo>
                        <a:pt x="63500" y="0"/>
                      </a:moveTo>
                      <a:lnTo>
                        <a:pt x="0" y="63500"/>
                      </a:lnTo>
                      <a:lnTo>
                        <a:pt x="63500" y="1270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3" name="Freeform 23"/>
                <p:cNvSpPr/>
                <p:nvPr/>
              </p:nvSpPr>
              <p:spPr>
                <a:xfrm>
                  <a:off x="4956175" y="1974850"/>
                  <a:ext cx="63500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127000">
                      <a:moveTo>
                        <a:pt x="0" y="0"/>
                      </a:moveTo>
                      <a:lnTo>
                        <a:pt x="63500" y="63500"/>
                      </a:lnTo>
                      <a:lnTo>
                        <a:pt x="0" y="1270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4845050" y="1911350"/>
                  <a:ext cx="63500" cy="254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254000">
                      <a:moveTo>
                        <a:pt x="63500" y="0"/>
                      </a:moveTo>
                      <a:lnTo>
                        <a:pt x="0" y="2540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5215890" y="1901190"/>
                <a:ext cx="2099777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图像 → 可编辑代码</a:t>
                </a:r>
                <a:endParaRPr lang="zh-CN" sz="18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669155" y="240696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55E75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代表问题</a:t>
                </a:r>
                <a:endParaRPr lang="zh-CN" sz="1350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671060" y="2727960"/>
                <a:ext cx="1542669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Flowchart2Mermaid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671060" y="3032760"/>
                <a:ext cx="25267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强调输出 Mermaid 等结构化表示。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0" name="Line 30"/>
              <p:cNvSpPr/>
              <p:nvPr/>
            </p:nvSpPr>
            <p:spPr>
              <a:xfrm>
                <a:off x="4686300" y="3429000"/>
                <a:ext cx="2819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19400" h="9525">
                    <a:moveTo>
                      <a:pt x="0" y="0"/>
                    </a:moveTo>
                    <a:lnTo>
                      <a:pt x="28194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4669155" y="3607118"/>
                <a:ext cx="412337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59E0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缺口</a:t>
                </a:r>
                <a:endParaRPr lang="zh-CN" sz="1350" b="1" dirty="0">
                  <a:solidFill>
                    <a:srgbClr val="F59E0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8153400" y="1485900"/>
              <a:ext cx="3429000" cy="2971800"/>
              <a:chOff x="8153400" y="1485900"/>
              <a:chExt cx="3429000" cy="297180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8153400" y="1485900"/>
                <a:ext cx="3429000" cy="2971800"/>
              </a:xfrm>
              <a:prstGeom prst="roundRect">
                <a:avLst>
                  <a:gd name="adj" fmla="val 256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sp>
            <p:nvSpPr>
              <p:cNvPr id="36" name="Rectangle 36"/>
              <p:cNvSpPr/>
              <p:nvPr/>
            </p:nvSpPr>
            <p:spPr>
              <a:xfrm>
                <a:off x="8153400" y="1485900"/>
                <a:ext cx="3429000" cy="95250"/>
              </a:xfrm>
              <a:prstGeom prst="roundRect">
                <a:avLst>
                  <a:gd name="adj" fmla="val 50000"/>
                </a:avLst>
              </a:prstGeom>
              <a:solidFill>
                <a:srgbClr val="F59E0B"/>
              </a:solidFill>
              <a:ln>
                <a:noFill/>
              </a:ln>
            </p:spPr>
          </p:sp>
          <p:grpSp>
            <p:nvGrpSpPr>
              <p:cNvPr id="43" name="Group 43"/>
              <p:cNvGrpSpPr/>
              <p:nvPr/>
            </p:nvGrpSpPr>
            <p:grpSpPr>
              <a:xfrm>
                <a:off x="8537575" y="1911350"/>
                <a:ext cx="238125" cy="254000"/>
                <a:chOff x="8537575" y="1911350"/>
                <a:chExt cx="238125" cy="254000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8537575" y="2101850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8537575" y="1911350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8696325" y="1911350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8569325" y="1974850"/>
                  <a:ext cx="9525" cy="127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7000">
                      <a:moveTo>
                        <a:pt x="0" y="0"/>
                      </a:moveTo>
                      <a:lnTo>
                        <a:pt x="0" y="12700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8601075" y="2022475"/>
                  <a:ext cx="127000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000" h="111125">
                      <a:moveTo>
                        <a:pt x="0" y="111125"/>
                      </a:moveTo>
                      <a:lnTo>
                        <a:pt x="95250" y="111125"/>
                      </a:lnTo>
                      <a:cubicBezTo>
                        <a:pt x="112785" y="111125"/>
                        <a:pt x="127000" y="96910"/>
                        <a:pt x="127000" y="79375"/>
                      </a:cubicBezTo>
                      <a:lnTo>
                        <a:pt x="127000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8680450" y="2022475"/>
                  <a:ext cx="952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47625">
                      <a:moveTo>
                        <a:pt x="0" y="47625"/>
                      </a:moveTo>
                      <a:lnTo>
                        <a:pt x="47625" y="0"/>
                      </a:lnTo>
                      <a:lnTo>
                        <a:pt x="95250" y="47625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8987790" y="1901190"/>
                <a:ext cx="1620917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8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图结构桥 / SB</a:t>
                </a:r>
                <a:endParaRPr lang="zh-CN" sz="18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441055" y="240696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55E75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理论启发</a:t>
                </a:r>
                <a:endParaRPr lang="zh-CN" sz="1350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8442960" y="2727960"/>
                <a:ext cx="2150745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Schrödinger Bridge / DDSBM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442960" y="3032760"/>
                <a:ext cx="211074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把生成看成分布间动态迁移。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8" name="Line 48"/>
              <p:cNvSpPr/>
              <p:nvPr/>
            </p:nvSpPr>
            <p:spPr>
              <a:xfrm>
                <a:off x="8458200" y="3429000"/>
                <a:ext cx="28194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19400" h="9525">
                    <a:moveTo>
                      <a:pt x="0" y="0"/>
                    </a:moveTo>
                    <a:lnTo>
                      <a:pt x="28194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49" name="TextBox 49"/>
              <p:cNvSpPr txBox="1"/>
              <p:nvPr/>
            </p:nvSpPr>
            <p:spPr>
              <a:xfrm>
                <a:off x="8441055" y="3607118"/>
                <a:ext cx="60136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59E0B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迁移点</a:t>
                </a:r>
                <a:endParaRPr lang="zh-CN" sz="1350" b="1" dirty="0">
                  <a:solidFill>
                    <a:srgbClr val="F59E0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42960" y="4175760"/>
                <a:ext cx="127000" cy="1841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1007997" y="4972050"/>
            <a:ext cx="10176006" cy="819150"/>
            <a:chOff x="1007997" y="4972050"/>
            <a:chExt cx="10176006" cy="819150"/>
          </a:xfrm>
        </p:grpSpPr>
        <p:sp>
          <p:nvSpPr>
            <p:cNvPr id="54" name="Rectangle 54"/>
            <p:cNvSpPr/>
            <p:nvPr/>
          </p:nvSpPr>
          <p:spPr>
            <a:xfrm>
              <a:off x="1123950" y="4972050"/>
              <a:ext cx="9944100" cy="819150"/>
            </a:xfrm>
            <a:prstGeom prst="roundRect">
              <a:avLst>
                <a:gd name="adj" fmla="val 9302"/>
              </a:avLst>
            </a:prstGeom>
            <a:solidFill>
              <a:srgbClr val="155E75"/>
            </a:solidFill>
            <a:ln>
              <a:noFill/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55" name="TextBox 55"/>
            <p:cNvSpPr txBox="1"/>
            <p:nvPr/>
          </p:nvSpPr>
          <p:spPr>
            <a:xfrm>
              <a:off x="1007997" y="5109686"/>
              <a:ext cx="10176006" cy="350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我们的切入点：Sketch + Speech → Structured Knowledge Graph → Graph Editing Diagnosis</a:t>
              </a:r>
              <a:endParaRPr lang="zh-CN" sz="172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3019425" y="5482114"/>
              <a:ext cx="615315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75" dirty="0">
                  <a:solidFill>
                    <a:srgbClr val="E0F2F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补上同步语音反馈，并把最终结果和用户修改成本都放进可评测的图编辑路径中。</a:t>
              </a:r>
              <a:endParaRPr lang="zh-CN" sz="1275" dirty="0">
                <a:solidFill>
                  <a:srgbClr val="E0F2F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79845"/>
              <a:ext cx="184708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Related Work Gap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08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sp>
        <p:nvSpPr>
          <p:cNvPr id="61" name="文本框 60"/>
          <p:cNvSpPr txBox="1"/>
          <p:nvPr/>
        </p:nvSpPr>
        <p:spPr>
          <a:xfrm>
            <a:off x="8339455" y="3881755"/>
            <a:ext cx="284416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zh-CN" sz="120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我们不是像素级扩散，而是在</a:t>
            </a:r>
            <a:r>
              <a:rPr lang="zh-CN" sz="120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离散知识图空间做编辑迁移。</a:t>
            </a:r>
            <a:endParaRPr lang="zh-CN" sz="1200" dirty="0">
              <a:solidFill>
                <a:srgbClr val="475569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4591050" y="3881755"/>
            <a:ext cx="300990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buClrTx/>
              <a:buSzTx/>
              <a:buFontTx/>
            </a:pPr>
            <a:r>
              <a:rPr lang="zh-CN" sz="120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多处理已有静态流程图，难覆盖</a:t>
            </a:r>
            <a:r>
              <a:rPr lang="zh-CN" sz="120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  <a:sym typeface="+mn-ea"/>
              </a:rPr>
              <a:t>实时草图与口头讲述的开放场景。</a:t>
            </a:r>
            <a:endParaRPr lang="zh-CN" sz="1200" dirty="0">
              <a:solidFill>
                <a:srgbClr val="475569"/>
              </a:solidFill>
              <a:latin typeface="Arial" panose="020B0604020202020204"/>
              <a:ea typeface="微软雅黑" panose="020B0503020204020204" charset="-122"/>
              <a:cs typeface="Arial" panose="020B0604020202020204"/>
            </a:endParaRPr>
          </a:p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75285"/>
            <a:ext cx="9860004" cy="762953"/>
            <a:chOff x="537210" y="375285"/>
            <a:chExt cx="9860004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9860004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任务定义：Speech-Guided Sketch-to-Knowledge-Graph</a:t>
              </a:r>
              <a:endParaRPr lang="zh-CN" sz="27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58310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把“画得像不像”转化为“结构是否恢复正确”，这是科研问题成立的关键。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66750" y="1428750"/>
            <a:ext cx="10858500" cy="2781300"/>
            <a:chOff x="666750" y="1428750"/>
            <a:chExt cx="10858500" cy="2781300"/>
          </a:xfrm>
        </p:grpSpPr>
        <p:grpSp>
          <p:nvGrpSpPr>
            <p:cNvPr id="13" name="Group 13"/>
            <p:cNvGrpSpPr/>
            <p:nvPr/>
          </p:nvGrpSpPr>
          <p:grpSpPr>
            <a:xfrm>
              <a:off x="666750" y="1428750"/>
              <a:ext cx="2381250" cy="1219200"/>
              <a:chOff x="666750" y="1428750"/>
              <a:chExt cx="2381250" cy="1219200"/>
            </a:xfrm>
          </p:grpSpPr>
          <p:sp>
            <p:nvSpPr>
              <p:cNvPr id="6" name="Rectangle 6"/>
              <p:cNvSpPr/>
              <p:nvPr/>
            </p:nvSpPr>
            <p:spPr>
              <a:xfrm>
                <a:off x="666750" y="1428750"/>
                <a:ext cx="2381250" cy="1219200"/>
              </a:xfrm>
              <a:prstGeom prst="roundRect">
                <a:avLst>
                  <a:gd name="adj" fmla="val 6250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9" name="Group 9"/>
              <p:cNvGrpSpPr/>
              <p:nvPr/>
            </p:nvGrpSpPr>
            <p:grpSpPr>
              <a:xfrm>
                <a:off x="974725" y="1818889"/>
                <a:ext cx="235336" cy="235336"/>
                <a:chOff x="974725" y="1818889"/>
                <a:chExt cx="235336" cy="235336"/>
              </a:xfrm>
            </p:grpSpPr>
            <p:sp>
              <p:nvSpPr>
                <p:cNvPr id="7" name="Freeform 7"/>
                <p:cNvSpPr/>
                <p:nvPr/>
              </p:nvSpPr>
              <p:spPr>
                <a:xfrm>
                  <a:off x="974725" y="1818889"/>
                  <a:ext cx="235336" cy="2353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5336" h="235336">
                      <a:moveTo>
                        <a:pt x="0" y="235336"/>
                      </a:moveTo>
                      <a:lnTo>
                        <a:pt x="60325" y="235336"/>
                      </a:lnTo>
                      <a:lnTo>
                        <a:pt x="218678" y="76983"/>
                      </a:lnTo>
                      <a:cubicBezTo>
                        <a:pt x="235336" y="60325"/>
                        <a:pt x="235336" y="33317"/>
                        <a:pt x="218678" y="16658"/>
                      </a:cubicBezTo>
                      <a:cubicBezTo>
                        <a:pt x="202020" y="0"/>
                        <a:pt x="175011" y="0"/>
                        <a:pt x="158353" y="16658"/>
                      </a:cubicBezTo>
                      <a:lnTo>
                        <a:pt x="0" y="175011"/>
                      </a:lnTo>
                      <a:lnTo>
                        <a:pt x="0" y="235336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8" name="Freeform 8"/>
                <p:cNvSpPr/>
                <p:nvPr/>
              </p:nvSpPr>
              <p:spPr>
                <a:xfrm>
                  <a:off x="1117997" y="1850628"/>
                  <a:ext cx="60325" cy="60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325" h="60325">
                      <a:moveTo>
                        <a:pt x="0" y="0"/>
                      </a:moveTo>
                      <a:lnTo>
                        <a:pt x="60325" y="60325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pic>
            <p:nvPicPr>
              <p:cNvPr id="10" name="Image 1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400175" y="1695450"/>
                <a:ext cx="285750" cy="342900"/>
              </a:xfrm>
              <a:prstGeom prst="rect">
                <a:avLst/>
              </a:prstGeom>
            </p:spPr>
          </p:pic>
          <p:sp>
            <p:nvSpPr>
              <p:cNvPr id="11" name="TextBox 11"/>
              <p:cNvSpPr txBox="1"/>
              <p:nvPr/>
            </p:nvSpPr>
            <p:spPr>
              <a:xfrm>
                <a:off x="1430655" y="2092642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手绘知识草图</a:t>
                </a:r>
                <a:endParaRPr lang="zh-CN" sz="13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989965" y="2384107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框、箭头、空间布局、手写文字</a:t>
                </a:r>
                <a:endPara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666750" y="2990850"/>
              <a:ext cx="2381250" cy="1219200"/>
              <a:chOff x="666750" y="2990850"/>
              <a:chExt cx="2381250" cy="1219200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666750" y="2990850"/>
                <a:ext cx="2381250" cy="1219200"/>
              </a:xfrm>
              <a:prstGeom prst="roundRect">
                <a:avLst>
                  <a:gd name="adj" fmla="val 6250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19" name="Group 19"/>
              <p:cNvGrpSpPr/>
              <p:nvPr/>
            </p:nvGrpSpPr>
            <p:grpSpPr>
              <a:xfrm>
                <a:off x="989806" y="3344862"/>
                <a:ext cx="211137" cy="296069"/>
                <a:chOff x="989806" y="3344862"/>
                <a:chExt cx="211137" cy="296069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1050131" y="3344862"/>
                  <a:ext cx="90488" cy="1658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488" h="165894">
                      <a:moveTo>
                        <a:pt x="0" y="45244"/>
                      </a:moveTo>
                      <a:cubicBezTo>
                        <a:pt x="0" y="20256"/>
                        <a:pt x="20256" y="0"/>
                        <a:pt x="45244" y="0"/>
                      </a:cubicBezTo>
                      <a:cubicBezTo>
                        <a:pt x="70231" y="0"/>
                        <a:pt x="90488" y="20256"/>
                        <a:pt x="90488" y="45244"/>
                      </a:cubicBezTo>
                      <a:lnTo>
                        <a:pt x="90488" y="120650"/>
                      </a:lnTo>
                      <a:cubicBezTo>
                        <a:pt x="90488" y="145637"/>
                        <a:pt x="70231" y="165894"/>
                        <a:pt x="45244" y="165894"/>
                      </a:cubicBezTo>
                      <a:cubicBezTo>
                        <a:pt x="20256" y="165894"/>
                        <a:pt x="0" y="145637"/>
                        <a:pt x="0" y="120650"/>
                      </a:cubicBezTo>
                      <a:lnTo>
                        <a:pt x="0" y="45244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989806" y="3465512"/>
                  <a:ext cx="211137" cy="1055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1137" h="105569">
                      <a:moveTo>
                        <a:pt x="0" y="0"/>
                      </a:moveTo>
                      <a:cubicBezTo>
                        <a:pt x="0" y="58304"/>
                        <a:pt x="47265" y="105569"/>
                        <a:pt x="105569" y="105569"/>
                      </a:cubicBezTo>
                      <a:cubicBezTo>
                        <a:pt x="163873" y="105569"/>
                        <a:pt x="211137" y="58304"/>
                        <a:pt x="211137" y="0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1035050" y="3631406"/>
                  <a:ext cx="1206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650" h="9525">
                      <a:moveTo>
                        <a:pt x="0" y="0"/>
                      </a:moveTo>
                      <a:lnTo>
                        <a:pt x="12065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1095375" y="3571081"/>
                  <a:ext cx="9525" cy="60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60325">
                      <a:moveTo>
                        <a:pt x="0" y="0"/>
                      </a:moveTo>
                      <a:lnTo>
                        <a:pt x="0" y="60325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pic>
            <p:nvPicPr>
              <p:cNvPr id="20" name="Image 20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400175" y="3257550"/>
                <a:ext cx="323850" cy="333375"/>
              </a:xfrm>
              <a:prstGeom prst="rect">
                <a:avLst/>
              </a:prstGeom>
            </p:spPr>
          </p:pic>
          <p:sp>
            <p:nvSpPr>
              <p:cNvPr id="21" name="TextBox 21"/>
              <p:cNvSpPr txBox="1"/>
              <p:nvPr/>
            </p:nvSpPr>
            <p:spPr>
              <a:xfrm>
                <a:off x="1430655" y="3654742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同步语音描述</a:t>
                </a:r>
                <a:endParaRPr lang="zh-CN" sz="13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974725" y="394430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节点名称、顺序、关系、动机</a:t>
                </a:r>
                <a:endPara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sp>
          <p:nvSpPr>
            <p:cNvPr id="24" name="Line 24"/>
            <p:cNvSpPr/>
            <p:nvPr/>
          </p:nvSpPr>
          <p:spPr>
            <a:xfrm>
              <a:off x="3086100" y="2819400"/>
              <a:ext cx="1009650" cy="1"/>
            </a:xfrm>
            <a:prstGeom prst="line">
              <a:avLst/>
            </a:prstGeom>
            <a:noFill/>
            <a:ln w="38100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4095988" y="1695450"/>
              <a:ext cx="3779044" cy="2247900"/>
              <a:chOff x="4095988" y="1695450"/>
              <a:chExt cx="3779044" cy="22479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4171950" y="1695450"/>
                <a:ext cx="3619500" cy="2247900"/>
              </a:xfrm>
              <a:prstGeom prst="roundRect">
                <a:avLst>
                  <a:gd name="adj" fmla="val 3390"/>
                </a:avLst>
              </a:prstGeom>
              <a:solidFill>
                <a:srgbClr val="155E75"/>
              </a:solidFill>
              <a:ln>
                <a:noFill/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29" name="Group 29"/>
              <p:cNvGrpSpPr/>
              <p:nvPr/>
            </p:nvGrpSpPr>
            <p:grpSpPr>
              <a:xfrm>
                <a:off x="5712619" y="2055019"/>
                <a:ext cx="328612" cy="328612"/>
                <a:chOff x="5712619" y="2055019"/>
                <a:chExt cx="328612" cy="328612"/>
              </a:xfrm>
            </p:grpSpPr>
            <p:sp>
              <p:nvSpPr>
                <p:cNvPr id="26" name="Freeform 26"/>
                <p:cNvSpPr/>
                <p:nvPr/>
              </p:nvSpPr>
              <p:spPr>
                <a:xfrm>
                  <a:off x="5858669" y="2201069"/>
                  <a:ext cx="36512" cy="365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512" h="36512">
                      <a:moveTo>
                        <a:pt x="0" y="18256"/>
                      </a:moveTo>
                      <a:cubicBezTo>
                        <a:pt x="0" y="28339"/>
                        <a:pt x="8174" y="36512"/>
                        <a:pt x="18256" y="36512"/>
                      </a:cubicBezTo>
                      <a:cubicBezTo>
                        <a:pt x="28339" y="36512"/>
                        <a:pt x="36512" y="28339"/>
                        <a:pt x="36512" y="18256"/>
                      </a:cubicBezTo>
                      <a:cubicBezTo>
                        <a:pt x="36512" y="8174"/>
                        <a:pt x="28339" y="0"/>
                        <a:pt x="18256" y="0"/>
                      </a:cubicBezTo>
                      <a:cubicBezTo>
                        <a:pt x="8174" y="0"/>
                        <a:pt x="0" y="8174"/>
                        <a:pt x="0" y="18256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5785644" y="2128044"/>
                  <a:ext cx="182563" cy="1825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563" h="182563">
                      <a:moveTo>
                        <a:pt x="0" y="91281"/>
                      </a:moveTo>
                      <a:cubicBezTo>
                        <a:pt x="0" y="141694"/>
                        <a:pt x="40868" y="182563"/>
                        <a:pt x="91281" y="182563"/>
                      </a:cubicBezTo>
                      <a:cubicBezTo>
                        <a:pt x="141694" y="182563"/>
                        <a:pt x="182563" y="141694"/>
                        <a:pt x="182563" y="91281"/>
                      </a:cubicBezTo>
                      <a:cubicBezTo>
                        <a:pt x="182563" y="40868"/>
                        <a:pt x="141694" y="0"/>
                        <a:pt x="91281" y="0"/>
                      </a:cubicBezTo>
                      <a:cubicBezTo>
                        <a:pt x="40868" y="0"/>
                        <a:pt x="0" y="40868"/>
                        <a:pt x="0" y="91281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5712619" y="2055019"/>
                  <a:ext cx="328612" cy="3286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8612" h="328612">
                      <a:moveTo>
                        <a:pt x="0" y="164306"/>
                      </a:moveTo>
                      <a:cubicBezTo>
                        <a:pt x="0" y="255050"/>
                        <a:pt x="73562" y="328612"/>
                        <a:pt x="164306" y="328612"/>
                      </a:cubicBezTo>
                      <a:cubicBezTo>
                        <a:pt x="255050" y="328612"/>
                        <a:pt x="328612" y="255050"/>
                        <a:pt x="328612" y="164306"/>
                      </a:cubicBezTo>
                      <a:cubicBezTo>
                        <a:pt x="328612" y="73562"/>
                        <a:pt x="255050" y="0"/>
                        <a:pt x="164306" y="0"/>
                      </a:cubicBezTo>
                      <a:cubicBezTo>
                        <a:pt x="73562" y="0"/>
                        <a:pt x="0" y="73562"/>
                        <a:pt x="0" y="164306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30" name="TextBox 30"/>
              <p:cNvSpPr txBox="1"/>
              <p:nvPr/>
            </p:nvSpPr>
            <p:spPr>
              <a:xfrm>
                <a:off x="5105376" y="2505551"/>
                <a:ext cx="1752648" cy="4114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2025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结构恢复函数</a:t>
                </a:r>
                <a:endParaRPr lang="zh-CN" sz="20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pic>
            <p:nvPicPr>
              <p:cNvPr id="31" name="Image 3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05350" y="2819400"/>
                <a:ext cx="2552700" cy="571500"/>
              </a:xfrm>
              <a:prstGeom prst="rect">
                <a:avLst/>
              </a:prstGeom>
            </p:spPr>
          </p:pic>
          <p:sp>
            <p:nvSpPr>
              <p:cNvPr id="32" name="TextBox 32"/>
              <p:cNvSpPr txBox="1"/>
              <p:nvPr/>
            </p:nvSpPr>
            <p:spPr>
              <a:xfrm>
                <a:off x="4095988" y="3510756"/>
                <a:ext cx="37790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dirty="0">
                    <a:solidFill>
                      <a:srgbClr val="E0F2F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不是图像生成，而是节点、边、方向和布局的联合预测。</a:t>
                </a:r>
                <a:endParaRPr lang="zh-CN" sz="1125" dirty="0">
                  <a:solidFill>
                    <a:srgbClr val="E0F2F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sp>
          <p:nvSpPr>
            <p:cNvPr id="34" name="Line 34"/>
            <p:cNvSpPr/>
            <p:nvPr/>
          </p:nvSpPr>
          <p:spPr>
            <a:xfrm>
              <a:off x="7829550" y="2819400"/>
              <a:ext cx="1009650" cy="1"/>
            </a:xfrm>
            <a:prstGeom prst="line">
              <a:avLst/>
            </a:prstGeom>
            <a:noFill/>
            <a:ln w="38100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8915400" y="1428750"/>
              <a:ext cx="2609850" cy="2781300"/>
              <a:chOff x="8915400" y="1428750"/>
              <a:chExt cx="2609850" cy="278130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8915400" y="1428750"/>
                <a:ext cx="2609850" cy="2781300"/>
              </a:xfrm>
              <a:prstGeom prst="roundRect">
                <a:avLst>
                  <a:gd name="adj" fmla="val 2920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44" name="Group 44"/>
              <p:cNvGrpSpPr/>
              <p:nvPr/>
            </p:nvGrpSpPr>
            <p:grpSpPr>
              <a:xfrm>
                <a:off x="10036969" y="1807369"/>
                <a:ext cx="328613" cy="346868"/>
                <a:chOff x="10036969" y="1807369"/>
                <a:chExt cx="328613" cy="346868"/>
              </a:xfrm>
            </p:grpSpPr>
            <p:sp>
              <p:nvSpPr>
                <p:cNvPr id="36" name="Freeform 36"/>
                <p:cNvSpPr/>
                <p:nvPr/>
              </p:nvSpPr>
              <p:spPr>
                <a:xfrm>
                  <a:off x="10091738" y="1807369"/>
                  <a:ext cx="219075" cy="219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075" h="219075">
                      <a:moveTo>
                        <a:pt x="0" y="109538"/>
                      </a:moveTo>
                      <a:cubicBezTo>
                        <a:pt x="0" y="170033"/>
                        <a:pt x="49042" y="219075"/>
                        <a:pt x="109538" y="219075"/>
                      </a:cubicBezTo>
                      <a:cubicBezTo>
                        <a:pt x="170033" y="219075"/>
                        <a:pt x="219075" y="170033"/>
                        <a:pt x="219075" y="109538"/>
                      </a:cubicBezTo>
                      <a:cubicBezTo>
                        <a:pt x="219075" y="49042"/>
                        <a:pt x="170033" y="0"/>
                        <a:pt x="109538" y="0"/>
                      </a:cubicBezTo>
                      <a:cubicBezTo>
                        <a:pt x="49042" y="0"/>
                        <a:pt x="0" y="49042"/>
                        <a:pt x="0" y="109538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10201275" y="1807369"/>
                  <a:ext cx="36512" cy="219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512" h="219075">
                      <a:moveTo>
                        <a:pt x="0" y="0"/>
                      </a:moveTo>
                      <a:cubicBezTo>
                        <a:pt x="24336" y="6079"/>
                        <a:pt x="36512" y="42592"/>
                        <a:pt x="36512" y="109538"/>
                      </a:cubicBezTo>
                      <a:cubicBezTo>
                        <a:pt x="36512" y="176483"/>
                        <a:pt x="24336" y="212996"/>
                        <a:pt x="0" y="219075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10164762" y="1807369"/>
                  <a:ext cx="36512" cy="2190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512" h="219075">
                      <a:moveTo>
                        <a:pt x="36512" y="0"/>
                      </a:moveTo>
                      <a:cubicBezTo>
                        <a:pt x="12177" y="6079"/>
                        <a:pt x="0" y="42592"/>
                        <a:pt x="0" y="109538"/>
                      </a:cubicBezTo>
                      <a:cubicBezTo>
                        <a:pt x="0" y="176483"/>
                        <a:pt x="12177" y="212996"/>
                        <a:pt x="36512" y="219075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10091738" y="1916906"/>
                  <a:ext cx="2190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9075" h="9525">
                      <a:moveTo>
                        <a:pt x="0" y="0"/>
                      </a:moveTo>
                      <a:lnTo>
                        <a:pt x="219075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10036969" y="2117725"/>
                  <a:ext cx="127794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794" h="9525">
                      <a:moveTo>
                        <a:pt x="0" y="0"/>
                      </a:moveTo>
                      <a:lnTo>
                        <a:pt x="127794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10237788" y="2117725"/>
                  <a:ext cx="127794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794" h="9525">
                      <a:moveTo>
                        <a:pt x="0" y="0"/>
                      </a:moveTo>
                      <a:lnTo>
                        <a:pt x="127794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10164762" y="2081212"/>
                  <a:ext cx="73025" cy="73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025" h="73025">
                      <a:moveTo>
                        <a:pt x="0" y="36513"/>
                      </a:moveTo>
                      <a:cubicBezTo>
                        <a:pt x="0" y="56678"/>
                        <a:pt x="16347" y="73025"/>
                        <a:pt x="36512" y="73025"/>
                      </a:cubicBezTo>
                      <a:cubicBezTo>
                        <a:pt x="56678" y="73025"/>
                        <a:pt x="73025" y="56678"/>
                        <a:pt x="73025" y="36513"/>
                      </a:cubicBezTo>
                      <a:cubicBezTo>
                        <a:pt x="73025" y="16347"/>
                        <a:pt x="56678" y="0"/>
                        <a:pt x="36512" y="0"/>
                      </a:cubicBezTo>
                      <a:cubicBezTo>
                        <a:pt x="16347" y="0"/>
                        <a:pt x="0" y="16347"/>
                        <a:pt x="0" y="36513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10201275" y="2026444"/>
                  <a:ext cx="9525" cy="547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4769">
                      <a:moveTo>
                        <a:pt x="0" y="0"/>
                      </a:moveTo>
                      <a:lnTo>
                        <a:pt x="0" y="54769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</p:grpSp>
          <p:pic>
            <p:nvPicPr>
              <p:cNvPr id="45" name="Image 45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096375" y="2171700"/>
                <a:ext cx="2247900" cy="571500"/>
              </a:xfrm>
              <a:prstGeom prst="rect">
                <a:avLst/>
              </a:prstGeom>
            </p:spPr>
          </p:pic>
          <p:sp>
            <p:nvSpPr>
              <p:cNvPr id="46" name="TextBox 46"/>
              <p:cNvSpPr txBox="1"/>
              <p:nvPr/>
            </p:nvSpPr>
            <p:spPr>
              <a:xfrm>
                <a:off x="9184958" y="2757964"/>
                <a:ext cx="746474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节点属性</a:t>
                </a:r>
                <a:endParaRPr lang="zh-CN" sz="12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187815" y="30489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标签、语义类型、解释、置信度</a:t>
                </a:r>
                <a:endPara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184958" y="3405664"/>
                <a:ext cx="56795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边属性</a:t>
                </a:r>
                <a:endParaRPr lang="zh-CN" sz="12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9187815" y="36966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起点、终点、关系类型、方向</a:t>
                </a:r>
                <a:endPara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666750" y="4781550"/>
            <a:ext cx="10858500" cy="876300"/>
            <a:chOff x="666750" y="4781550"/>
            <a:chExt cx="10858500" cy="876300"/>
          </a:xfrm>
        </p:grpSpPr>
        <p:sp>
          <p:nvSpPr>
            <p:cNvPr id="52" name="Rectangle 52"/>
            <p:cNvSpPr/>
            <p:nvPr/>
          </p:nvSpPr>
          <p:spPr>
            <a:xfrm>
              <a:off x="666750" y="4781550"/>
              <a:ext cx="108585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53" name="TextBox 53"/>
            <p:cNvSpPr txBox="1"/>
            <p:nvPr/>
          </p:nvSpPr>
          <p:spPr>
            <a:xfrm>
              <a:off x="934402" y="4951571"/>
              <a:ext cx="83429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评测目标</a:t>
              </a:r>
              <a:endParaRPr lang="zh-CN" sz="1425" b="1" dirty="0">
                <a:solidFill>
                  <a:srgbClr val="155E7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37260" y="5299710"/>
              <a:ext cx="85115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节点是否正确、边是否正确、方向是否正确、语音关键概念是否覆盖、草图布局是否保持、用户后续修改成本是否降低。</a:t>
              </a:r>
              <a:endParaRPr lang="zh-CN" sz="120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9001125" y="4951730"/>
              <a:ext cx="2343150" cy="323850"/>
            </a:xfrm>
            <a:prstGeom prst="roundRect">
              <a:avLst>
                <a:gd name="adj" fmla="val 23529"/>
              </a:avLst>
            </a:prstGeom>
            <a:solidFill>
              <a:srgbClr val="CCFBF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9096438" y="5010150"/>
              <a:ext cx="22147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结构预测问题，而非美观评分</a:t>
              </a:r>
              <a:endParaRPr lang="zh-CN" sz="1200" b="1" dirty="0">
                <a:solidFill>
                  <a:srgbClr val="155E7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79845"/>
              <a:ext cx="154705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Formal Task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09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5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75285"/>
            <a:ext cx="7591720" cy="762953"/>
            <a:chOff x="537210" y="375285"/>
            <a:chExt cx="7591720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759172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MMSB-Graph：多模态约束下的离散图编辑桥</a:t>
              </a:r>
              <a:endParaRPr lang="zh-CN" sz="27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65151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用路径化编辑代替一次性生成，让最终图和恢复过程都可解释、可诊断、可评测。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52450" y="1504950"/>
            <a:ext cx="11068050" cy="2400300"/>
            <a:chOff x="552450" y="1504950"/>
            <a:chExt cx="11068050" cy="2400300"/>
          </a:xfrm>
        </p:grpSpPr>
        <p:grpSp>
          <p:nvGrpSpPr>
            <p:cNvPr id="12" name="Group 12"/>
            <p:cNvGrpSpPr/>
            <p:nvPr/>
          </p:nvGrpSpPr>
          <p:grpSpPr>
            <a:xfrm>
              <a:off x="552450" y="1504950"/>
              <a:ext cx="1619250" cy="914400"/>
              <a:chOff x="552450" y="1504950"/>
              <a:chExt cx="1619250" cy="914400"/>
            </a:xfrm>
          </p:grpSpPr>
          <p:sp>
            <p:nvSpPr>
              <p:cNvPr id="6" name="Rectangle 6"/>
              <p:cNvSpPr/>
              <p:nvPr/>
            </p:nvSpPr>
            <p:spPr>
              <a:xfrm>
                <a:off x="552450" y="1504950"/>
                <a:ext cx="1619250" cy="91440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9" name="Group 9"/>
              <p:cNvGrpSpPr/>
              <p:nvPr/>
            </p:nvGrpSpPr>
            <p:grpSpPr>
              <a:xfrm>
                <a:off x="831850" y="1770322"/>
                <a:ext cx="198178" cy="198178"/>
                <a:chOff x="831850" y="1770322"/>
                <a:chExt cx="198178" cy="198178"/>
              </a:xfrm>
            </p:grpSpPr>
            <p:sp>
              <p:nvSpPr>
                <p:cNvPr id="7" name="Freeform 7"/>
                <p:cNvSpPr/>
                <p:nvPr/>
              </p:nvSpPr>
              <p:spPr>
                <a:xfrm>
                  <a:off x="831850" y="1770322"/>
                  <a:ext cx="198178" cy="1981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8178" h="198178">
                      <a:moveTo>
                        <a:pt x="0" y="198178"/>
                      </a:moveTo>
                      <a:lnTo>
                        <a:pt x="50800" y="198178"/>
                      </a:lnTo>
                      <a:lnTo>
                        <a:pt x="184150" y="64828"/>
                      </a:lnTo>
                      <a:cubicBezTo>
                        <a:pt x="198178" y="50800"/>
                        <a:pt x="198178" y="28056"/>
                        <a:pt x="184150" y="14028"/>
                      </a:cubicBezTo>
                      <a:cubicBezTo>
                        <a:pt x="170122" y="0"/>
                        <a:pt x="147378" y="0"/>
                        <a:pt x="133350" y="14028"/>
                      </a:cubicBezTo>
                      <a:lnTo>
                        <a:pt x="0" y="147378"/>
                      </a:lnTo>
                      <a:lnTo>
                        <a:pt x="0" y="198178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8" name="Freeform 8"/>
                <p:cNvSpPr/>
                <p:nvPr/>
              </p:nvSpPr>
              <p:spPr>
                <a:xfrm>
                  <a:off x="952500" y="1797050"/>
                  <a:ext cx="5080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800" h="50800">
                      <a:moveTo>
                        <a:pt x="0" y="0"/>
                      </a:moveTo>
                      <a:lnTo>
                        <a:pt x="50800" y="5080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pic>
            <p:nvPicPr>
              <p:cNvPr id="10" name="Image 1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047750" y="1619250"/>
                <a:ext cx="485775" cy="409575"/>
              </a:xfrm>
              <a:prstGeom prst="rect">
                <a:avLst/>
              </a:prstGeom>
            </p:spPr>
          </p:pic>
          <p:sp>
            <p:nvSpPr>
              <p:cNvPr id="11" name="TextBox 11"/>
              <p:cNvSpPr txBox="1"/>
              <p:nvPr/>
            </p:nvSpPr>
            <p:spPr>
              <a:xfrm>
                <a:off x="767715" y="211550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空间强，语义弱</a:t>
                </a:r>
                <a:endPara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552450" y="2876550"/>
              <a:ext cx="1619250" cy="914400"/>
              <a:chOff x="552450" y="2876550"/>
              <a:chExt cx="1619250" cy="91440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552450" y="2876550"/>
                <a:ext cx="1619250" cy="914400"/>
              </a:xfrm>
              <a:prstGeom prst="roundRect">
                <a:avLst>
                  <a:gd name="adj" fmla="val 8333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18" name="Group 18"/>
              <p:cNvGrpSpPr/>
              <p:nvPr/>
            </p:nvGrpSpPr>
            <p:grpSpPr>
              <a:xfrm>
                <a:off x="844550" y="3111500"/>
                <a:ext cx="177800" cy="250825"/>
                <a:chOff x="844550" y="3111500"/>
                <a:chExt cx="177800" cy="250825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895350" y="3111500"/>
                  <a:ext cx="76200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139700">
                      <a:moveTo>
                        <a:pt x="0" y="38100"/>
                      </a:move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101600"/>
                      </a:lnTo>
                      <a:cubicBezTo>
                        <a:pt x="76200" y="122642"/>
                        <a:pt x="59142" y="139700"/>
                        <a:pt x="38100" y="139700"/>
                      </a:cubicBezTo>
                      <a:cubicBezTo>
                        <a:pt x="17058" y="139700"/>
                        <a:pt x="0" y="122642"/>
                        <a:pt x="0" y="101600"/>
                      </a:cubicBez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5" name="Freeform 15"/>
                <p:cNvSpPr/>
                <p:nvPr/>
              </p:nvSpPr>
              <p:spPr>
                <a:xfrm>
                  <a:off x="844550" y="3213100"/>
                  <a:ext cx="177800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800" h="88900">
                      <a:moveTo>
                        <a:pt x="0" y="0"/>
                      </a:moveTo>
                      <a:cubicBezTo>
                        <a:pt x="0" y="49098"/>
                        <a:pt x="39802" y="88900"/>
                        <a:pt x="88900" y="88900"/>
                      </a:cubicBezTo>
                      <a:cubicBezTo>
                        <a:pt x="137998" y="88900"/>
                        <a:pt x="177800" y="49098"/>
                        <a:pt x="177800" y="0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882650" y="3352800"/>
                  <a:ext cx="1016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00" h="9525">
                      <a:moveTo>
                        <a:pt x="0" y="0"/>
                      </a:moveTo>
                      <a:lnTo>
                        <a:pt x="10160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933450" y="3302000"/>
                  <a:ext cx="952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0800">
                      <a:moveTo>
                        <a:pt x="0" y="0"/>
                      </a:moveTo>
                      <a:lnTo>
                        <a:pt x="0" y="508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pic>
            <p:nvPicPr>
              <p:cNvPr id="19" name="Image 19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019175" y="2990850"/>
                <a:ext cx="533400" cy="409575"/>
              </a:xfrm>
              <a:prstGeom prst="rect">
                <a:avLst/>
              </a:prstGeom>
            </p:spPr>
          </p:pic>
          <p:sp>
            <p:nvSpPr>
              <p:cNvPr id="20" name="TextBox 20"/>
              <p:cNvSpPr txBox="1"/>
              <p:nvPr/>
            </p:nvSpPr>
            <p:spPr>
              <a:xfrm>
                <a:off x="767715" y="348710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语义强，布局弱</a:t>
                </a:r>
                <a:endPara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sp>
          <p:nvSpPr>
            <p:cNvPr id="22" name="Freeform 22"/>
            <p:cNvSpPr/>
            <p:nvPr/>
          </p:nvSpPr>
          <p:spPr>
            <a:xfrm>
              <a:off x="2209800" y="1962150"/>
              <a:ext cx="1143000" cy="685800"/>
            </a:xfrm>
            <a:custGeom>
              <a:avLst/>
              <a:gdLst/>
              <a:ahLst/>
              <a:cxnLst/>
              <a:rect l="l" t="t" r="r" b="b"/>
              <a:pathLst>
                <a:path w="1143000" h="685800">
                  <a:moveTo>
                    <a:pt x="0" y="0"/>
                  </a:moveTo>
                  <a:cubicBezTo>
                    <a:pt x="609600" y="0"/>
                    <a:pt x="647700" y="590550"/>
                    <a:pt x="1143000" y="685800"/>
                  </a:cubicBezTo>
                </a:path>
              </a:pathLst>
            </a:cu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sp>
          <p:nvSpPr>
            <p:cNvPr id="23" name="Freeform 23"/>
            <p:cNvSpPr/>
            <p:nvPr/>
          </p:nvSpPr>
          <p:spPr>
            <a:xfrm>
              <a:off x="2209800" y="2686050"/>
              <a:ext cx="1143000" cy="647700"/>
            </a:xfrm>
            <a:custGeom>
              <a:avLst/>
              <a:gdLst/>
              <a:ahLst/>
              <a:cxnLst/>
              <a:rect l="l" t="t" r="r" b="b"/>
              <a:pathLst>
                <a:path w="1143000" h="647700">
                  <a:moveTo>
                    <a:pt x="0" y="647700"/>
                  </a:moveTo>
                  <a:cubicBezTo>
                    <a:pt x="609600" y="647700"/>
                    <a:pt x="647700" y="76200"/>
                    <a:pt x="1143000" y="0"/>
                  </a:cubicBezTo>
                </a:path>
              </a:pathLst>
            </a:cu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3390900" y="2133600"/>
              <a:ext cx="1866900" cy="1143000"/>
              <a:chOff x="3390900" y="2133600"/>
              <a:chExt cx="1866900" cy="11430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3390900" y="2133600"/>
                <a:ext cx="1866900" cy="1143000"/>
              </a:xfrm>
              <a:prstGeom prst="roundRect">
                <a:avLst>
                  <a:gd name="adj" fmla="val 6667"/>
                </a:avLst>
              </a:prstGeom>
              <a:solidFill>
                <a:srgbClr val="FEF3C7"/>
              </a:solidFill>
              <a:ln w="9525">
                <a:solidFill>
                  <a:srgbClr val="F59E0B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27" name="Group 27"/>
              <p:cNvGrpSpPr/>
              <p:nvPr/>
            </p:nvGrpSpPr>
            <p:grpSpPr>
              <a:xfrm>
                <a:off x="3733790" y="2438400"/>
                <a:ext cx="228610" cy="228600"/>
                <a:chOff x="3733790" y="2438400"/>
                <a:chExt cx="228610" cy="228600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3790950" y="2495550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157162" y="3829"/>
                      </a:moveTo>
                      <a:cubicBezTo>
                        <a:pt x="166003" y="8933"/>
                        <a:pt x="171450" y="18366"/>
                        <a:pt x="171450" y="28575"/>
                      </a:cubicBezTo>
                      <a:lnTo>
                        <a:pt x="171450" y="142875"/>
                      </a:lnTo>
                      <a:cubicBezTo>
                        <a:pt x="171450" y="158657"/>
                        <a:pt x="158657" y="171450"/>
                        <a:pt x="1428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71438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3733790" y="2438400"/>
                  <a:ext cx="17146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60" h="171450">
                      <a:moveTo>
                        <a:pt x="14297" y="167650"/>
                      </a:moveTo>
                      <a:cubicBezTo>
                        <a:pt x="5448" y="162540"/>
                        <a:pt x="0" y="153094"/>
                        <a:pt x="10" y="142875"/>
                      </a:cubicBezTo>
                      <a:lnTo>
                        <a:pt x="10" y="28575"/>
                      </a:lnTo>
                      <a:cubicBezTo>
                        <a:pt x="10" y="12793"/>
                        <a:pt x="12803" y="0"/>
                        <a:pt x="28585" y="0"/>
                      </a:cubicBezTo>
                      <a:lnTo>
                        <a:pt x="142885" y="0"/>
                      </a:lnTo>
                      <a:cubicBezTo>
                        <a:pt x="158666" y="0"/>
                        <a:pt x="171460" y="12793"/>
                        <a:pt x="171460" y="28575"/>
                      </a:cubicBezTo>
                      <a:lnTo>
                        <a:pt x="171460" y="142875"/>
                      </a:lnTo>
                      <a:cubicBezTo>
                        <a:pt x="171460" y="158657"/>
                        <a:pt x="158666" y="171450"/>
                        <a:pt x="142885" y="171450"/>
                      </a:cubicBezTo>
                      <a:lnTo>
                        <a:pt x="100022" y="17145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pic>
            <p:nvPicPr>
              <p:cNvPr id="28" name="Image 28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10025" y="2324100"/>
                <a:ext cx="533400" cy="476250"/>
              </a:xfrm>
              <a:prstGeom prst="rect">
                <a:avLst/>
              </a:prstGeom>
            </p:spPr>
          </p:pic>
          <p:sp>
            <p:nvSpPr>
              <p:cNvPr id="29" name="TextBox 29"/>
              <p:cNvSpPr txBox="1"/>
              <p:nvPr/>
            </p:nvSpPr>
            <p:spPr>
              <a:xfrm>
                <a:off x="3661410" y="2899410"/>
                <a:ext cx="11506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早期融合候选图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sp>
          <p:nvSpPr>
            <p:cNvPr id="31" name="Line 31"/>
            <p:cNvSpPr/>
            <p:nvPr/>
          </p:nvSpPr>
          <p:spPr>
            <a:xfrm>
              <a:off x="5295900" y="2705100"/>
              <a:ext cx="857250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229350" y="1524000"/>
              <a:ext cx="2724150" cy="2381250"/>
              <a:chOff x="6229350" y="1524000"/>
              <a:chExt cx="2724150" cy="238125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229350" y="1524000"/>
                <a:ext cx="2724150" cy="2381250"/>
              </a:xfrm>
              <a:prstGeom prst="roundRect">
                <a:avLst>
                  <a:gd name="adj" fmla="val 3200"/>
                </a:avLst>
              </a:prstGeom>
              <a:solidFill>
                <a:srgbClr val="155E75"/>
              </a:solidFill>
              <a:ln>
                <a:noFill/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39" name="Group 39"/>
              <p:cNvGrpSpPr/>
              <p:nvPr/>
            </p:nvGrpSpPr>
            <p:grpSpPr>
              <a:xfrm>
                <a:off x="7459662" y="1860550"/>
                <a:ext cx="261938" cy="279400"/>
                <a:chOff x="7459662" y="1860550"/>
                <a:chExt cx="261938" cy="2794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7459662" y="2070100"/>
                  <a:ext cx="6985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69850">
                      <a:moveTo>
                        <a:pt x="0" y="34925"/>
                      </a:moveTo>
                      <a:cubicBezTo>
                        <a:pt x="0" y="54214"/>
                        <a:pt x="15636" y="69850"/>
                        <a:pt x="34925" y="69850"/>
                      </a:cubicBezTo>
                      <a:cubicBezTo>
                        <a:pt x="54214" y="69850"/>
                        <a:pt x="69850" y="54214"/>
                        <a:pt x="69850" y="34925"/>
                      </a:cubicBezTo>
                      <a:cubicBezTo>
                        <a:pt x="69850" y="15636"/>
                        <a:pt x="54214" y="0"/>
                        <a:pt x="34925" y="0"/>
                      </a:cubicBezTo>
                      <a:cubicBezTo>
                        <a:pt x="15636" y="0"/>
                        <a:pt x="0" y="15636"/>
                        <a:pt x="0" y="34925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34" name="Freeform 34"/>
                <p:cNvSpPr/>
                <p:nvPr/>
              </p:nvSpPr>
              <p:spPr>
                <a:xfrm>
                  <a:off x="7459662" y="1860550"/>
                  <a:ext cx="6985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69850">
                      <a:moveTo>
                        <a:pt x="0" y="34925"/>
                      </a:moveTo>
                      <a:cubicBezTo>
                        <a:pt x="0" y="54214"/>
                        <a:pt x="15636" y="69850"/>
                        <a:pt x="34925" y="69850"/>
                      </a:cubicBezTo>
                      <a:cubicBezTo>
                        <a:pt x="54214" y="69850"/>
                        <a:pt x="69850" y="54214"/>
                        <a:pt x="69850" y="34925"/>
                      </a:cubicBezTo>
                      <a:cubicBezTo>
                        <a:pt x="69850" y="15636"/>
                        <a:pt x="54214" y="0"/>
                        <a:pt x="34925" y="0"/>
                      </a:cubicBezTo>
                      <a:cubicBezTo>
                        <a:pt x="15636" y="0"/>
                        <a:pt x="0" y="15636"/>
                        <a:pt x="0" y="34925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35" name="Freeform 35"/>
                <p:cNvSpPr/>
                <p:nvPr/>
              </p:nvSpPr>
              <p:spPr>
                <a:xfrm>
                  <a:off x="7634288" y="1860550"/>
                  <a:ext cx="6985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69850">
                      <a:moveTo>
                        <a:pt x="0" y="34925"/>
                      </a:moveTo>
                      <a:cubicBezTo>
                        <a:pt x="0" y="54214"/>
                        <a:pt x="15636" y="69850"/>
                        <a:pt x="34925" y="69850"/>
                      </a:cubicBezTo>
                      <a:cubicBezTo>
                        <a:pt x="54214" y="69850"/>
                        <a:pt x="69850" y="54214"/>
                        <a:pt x="69850" y="34925"/>
                      </a:cubicBezTo>
                      <a:cubicBezTo>
                        <a:pt x="69850" y="15636"/>
                        <a:pt x="54214" y="0"/>
                        <a:pt x="34925" y="0"/>
                      </a:cubicBezTo>
                      <a:cubicBezTo>
                        <a:pt x="15636" y="0"/>
                        <a:pt x="0" y="15636"/>
                        <a:pt x="0" y="34925"/>
                      </a:cubicBez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36" name="Freeform 36"/>
                <p:cNvSpPr/>
                <p:nvPr/>
              </p:nvSpPr>
              <p:spPr>
                <a:xfrm>
                  <a:off x="7494588" y="1930400"/>
                  <a:ext cx="9525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39700">
                      <a:moveTo>
                        <a:pt x="0" y="0"/>
                      </a:moveTo>
                      <a:lnTo>
                        <a:pt x="0" y="13970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7529512" y="1982788"/>
                  <a:ext cx="139700" cy="1222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700" h="122238">
                      <a:moveTo>
                        <a:pt x="0" y="122238"/>
                      </a:moveTo>
                      <a:lnTo>
                        <a:pt x="104775" y="122238"/>
                      </a:lnTo>
                      <a:cubicBezTo>
                        <a:pt x="124064" y="122238"/>
                        <a:pt x="139700" y="106601"/>
                        <a:pt x="139700" y="87313"/>
                      </a:cubicBezTo>
                      <a:lnTo>
                        <a:pt x="139700" y="0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7616825" y="1982788"/>
                  <a:ext cx="104775" cy="523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52388">
                      <a:moveTo>
                        <a:pt x="0" y="52388"/>
                      </a:moveTo>
                      <a:lnTo>
                        <a:pt x="52388" y="0"/>
                      </a:lnTo>
                      <a:lnTo>
                        <a:pt x="104775" y="52388"/>
                      </a:lnTo>
                    </a:path>
                  </a:pathLst>
                </a:custGeom>
                <a:noFill/>
                <a:ln w="19050">
                  <a:solidFill>
                    <a:srgbClr val="FFFFFF"/>
                  </a:solidFill>
                </a:ln>
              </p:spPr>
            </p:sp>
          </p:grpSp>
          <p:sp>
            <p:nvSpPr>
              <p:cNvPr id="40" name="TextBox 40"/>
              <p:cNvSpPr txBox="1"/>
              <p:nvPr/>
            </p:nvSpPr>
            <p:spPr>
              <a:xfrm>
                <a:off x="6339911" y="2282190"/>
                <a:ext cx="2503027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b="1" dirty="0">
                    <a:solidFill>
                      <a:srgbClr val="FFFFFF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Graph Editing Bridge</a:t>
                </a:r>
                <a:endParaRPr lang="zh-CN" sz="18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pic>
            <p:nvPicPr>
              <p:cNvPr id="41" name="Image 41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19850" y="2647950"/>
                <a:ext cx="2343150" cy="276225"/>
              </a:xfrm>
              <a:prstGeom prst="rect">
                <a:avLst/>
              </a:prstGeom>
            </p:spPr>
          </p:pic>
          <p:sp>
            <p:nvSpPr>
              <p:cNvPr id="42" name="TextBox 42"/>
              <p:cNvSpPr txBox="1"/>
              <p:nvPr/>
            </p:nvSpPr>
            <p:spPr>
              <a:xfrm>
                <a:off x="6577012" y="3078956"/>
                <a:ext cx="200132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0F2F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删除多余节点 / 插入缺失节点</a:t>
                </a:r>
                <a:endParaRPr lang="zh-CN" sz="1125" dirty="0">
                  <a:solidFill>
                    <a:srgbClr val="E0F2F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577012" y="3326606"/>
                <a:ext cx="23238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0F2FE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删除错误边 / 插入目标边 / 修方向</a:t>
                </a:r>
                <a:endParaRPr lang="zh-CN" sz="1125" dirty="0">
                  <a:solidFill>
                    <a:srgbClr val="E0F2F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sp>
          <p:nvSpPr>
            <p:cNvPr id="45" name="Line 45"/>
            <p:cNvSpPr/>
            <p:nvPr/>
          </p:nvSpPr>
          <p:spPr>
            <a:xfrm>
              <a:off x="8991600" y="2705100"/>
              <a:ext cx="857250" cy="1"/>
            </a:xfrm>
            <a:prstGeom prst="line">
              <a:avLst/>
            </a:prstGeom>
            <a:noFill/>
            <a:ln w="28575">
              <a:solidFill>
                <a:srgbClr val="155E75"/>
              </a:solidFill>
              <a:tailEnd type="triangle" w="lg" len="lg"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9925050" y="1981200"/>
              <a:ext cx="1695450" cy="1447800"/>
              <a:chOff x="9925050" y="1981200"/>
              <a:chExt cx="1695450" cy="14478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9925050" y="1981200"/>
                <a:ext cx="1695450" cy="1447800"/>
              </a:xfrm>
              <a:prstGeom prst="roundRect">
                <a:avLst>
                  <a:gd name="adj" fmla="val 5263"/>
                </a:avLst>
              </a:prstGeom>
              <a:solidFill>
                <a:srgbClr val="DCFCE7"/>
              </a:solidFill>
              <a:ln w="9525">
                <a:solidFill>
                  <a:srgbClr val="16A34A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55" name="Group 55"/>
              <p:cNvGrpSpPr/>
              <p:nvPr/>
            </p:nvGrpSpPr>
            <p:grpSpPr>
              <a:xfrm>
                <a:off x="10608469" y="2255044"/>
                <a:ext cx="271462" cy="286543"/>
                <a:chOff x="10608469" y="2255044"/>
                <a:chExt cx="271462" cy="286543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10653712" y="2255044"/>
                  <a:ext cx="180975" cy="180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5" h="180975">
                      <a:moveTo>
                        <a:pt x="0" y="90488"/>
                      </a:moveTo>
                      <a:cubicBezTo>
                        <a:pt x="0" y="140462"/>
                        <a:pt x="40513" y="180975"/>
                        <a:pt x="90488" y="180975"/>
                      </a:cubicBezTo>
                      <a:cubicBezTo>
                        <a:pt x="140462" y="180975"/>
                        <a:pt x="180975" y="140462"/>
                        <a:pt x="180975" y="90488"/>
                      </a:cubicBezTo>
                      <a:cubicBezTo>
                        <a:pt x="180975" y="40513"/>
                        <a:pt x="140462" y="0"/>
                        <a:pt x="90488" y="0"/>
                      </a:cubicBezTo>
                      <a:cubicBezTo>
                        <a:pt x="40513" y="0"/>
                        <a:pt x="0" y="40513"/>
                        <a:pt x="0" y="90488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10744200" y="2255044"/>
                  <a:ext cx="30163" cy="180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63" h="180975">
                      <a:moveTo>
                        <a:pt x="0" y="0"/>
                      </a:moveTo>
                      <a:cubicBezTo>
                        <a:pt x="20103" y="5022"/>
                        <a:pt x="30163" y="35185"/>
                        <a:pt x="30163" y="90488"/>
                      </a:cubicBezTo>
                      <a:cubicBezTo>
                        <a:pt x="30163" y="145790"/>
                        <a:pt x="20103" y="175953"/>
                        <a:pt x="0" y="18097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10714038" y="2255044"/>
                  <a:ext cx="30163" cy="180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63" h="180975">
                      <a:moveTo>
                        <a:pt x="30163" y="0"/>
                      </a:moveTo>
                      <a:cubicBezTo>
                        <a:pt x="10059" y="5022"/>
                        <a:pt x="0" y="35185"/>
                        <a:pt x="0" y="90488"/>
                      </a:cubicBezTo>
                      <a:cubicBezTo>
                        <a:pt x="0" y="145790"/>
                        <a:pt x="10059" y="175953"/>
                        <a:pt x="30163" y="18097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10653712" y="2345531"/>
                  <a:ext cx="1809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975" h="9525">
                      <a:moveTo>
                        <a:pt x="0" y="0"/>
                      </a:moveTo>
                      <a:lnTo>
                        <a:pt x="180975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51" name="Freeform 51"/>
                <p:cNvSpPr/>
                <p:nvPr/>
              </p:nvSpPr>
              <p:spPr>
                <a:xfrm>
                  <a:off x="10608469" y="2511425"/>
                  <a:ext cx="105569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569" h="9525">
                      <a:moveTo>
                        <a:pt x="0" y="0"/>
                      </a:moveTo>
                      <a:lnTo>
                        <a:pt x="105569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10774362" y="2511425"/>
                  <a:ext cx="105569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569" h="9525">
                      <a:moveTo>
                        <a:pt x="0" y="0"/>
                      </a:moveTo>
                      <a:lnTo>
                        <a:pt x="105569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10714038" y="2481262"/>
                  <a:ext cx="60325" cy="60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325" h="60325">
                      <a:moveTo>
                        <a:pt x="0" y="30163"/>
                      </a:moveTo>
                      <a:cubicBezTo>
                        <a:pt x="0" y="46821"/>
                        <a:pt x="13504" y="60325"/>
                        <a:pt x="30163" y="60325"/>
                      </a:cubicBezTo>
                      <a:cubicBezTo>
                        <a:pt x="46821" y="60325"/>
                        <a:pt x="60325" y="46821"/>
                        <a:pt x="60325" y="30163"/>
                      </a:cubicBezTo>
                      <a:cubicBezTo>
                        <a:pt x="60325" y="13504"/>
                        <a:pt x="46821" y="0"/>
                        <a:pt x="30163" y="0"/>
                      </a:cubicBezTo>
                      <a:cubicBezTo>
                        <a:pt x="13504" y="0"/>
                        <a:pt x="0" y="13504"/>
                        <a:pt x="0" y="30163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54" name="Freeform 54"/>
                <p:cNvSpPr/>
                <p:nvPr/>
              </p:nvSpPr>
              <p:spPr>
                <a:xfrm>
                  <a:off x="10744200" y="2436019"/>
                  <a:ext cx="9525" cy="452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5244">
                      <a:moveTo>
                        <a:pt x="0" y="0"/>
                      </a:moveTo>
                      <a:lnTo>
                        <a:pt x="0" y="45244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pic>
            <p:nvPicPr>
              <p:cNvPr id="56" name="Image 56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608310" y="2621915"/>
                <a:ext cx="342900" cy="457200"/>
              </a:xfrm>
              <a:prstGeom prst="rect">
                <a:avLst/>
              </a:prstGeom>
            </p:spPr>
          </p:pic>
          <p:sp>
            <p:nvSpPr>
              <p:cNvPr id="57" name="TextBox 57"/>
              <p:cNvSpPr txBox="1"/>
              <p:nvPr/>
            </p:nvSpPr>
            <p:spPr>
              <a:xfrm>
                <a:off x="10340023" y="3143567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可编辑知识图</a:t>
                </a:r>
                <a:endPara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67" name="Group 67"/>
          <p:cNvGrpSpPr/>
          <p:nvPr/>
        </p:nvGrpSpPr>
        <p:grpSpPr>
          <a:xfrm>
            <a:off x="666750" y="4438650"/>
            <a:ext cx="10858500" cy="1238250"/>
            <a:chOff x="666750" y="4438650"/>
            <a:chExt cx="10858500" cy="1238250"/>
          </a:xfrm>
        </p:grpSpPr>
        <p:sp>
          <p:nvSpPr>
            <p:cNvPr id="60" name="Rectangle 60"/>
            <p:cNvSpPr/>
            <p:nvPr/>
          </p:nvSpPr>
          <p:spPr>
            <a:xfrm>
              <a:off x="666750" y="4438650"/>
              <a:ext cx="10858500" cy="1238250"/>
            </a:xfrm>
            <a:prstGeom prst="roundRect">
              <a:avLst>
                <a:gd name="adj" fmla="val 6154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61" name="TextBox 61"/>
            <p:cNvSpPr txBox="1"/>
            <p:nvPr/>
          </p:nvSpPr>
          <p:spPr>
            <a:xfrm>
              <a:off x="932498" y="4630579"/>
              <a:ext cx="5112139" cy="320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代价函数不是抽象符号，而是模拟用户真实修改成本</a:t>
              </a:r>
              <a:endParaRPr lang="zh-CN" sz="1575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pic>
          <p:nvPicPr>
            <p:cNvPr id="62" name="Image 6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52500" y="4933950"/>
              <a:ext cx="4953000" cy="647700"/>
            </a:xfrm>
            <a:prstGeom prst="rect">
              <a:avLst/>
            </a:prstGeom>
          </p:spPr>
        </p:pic>
        <p:sp>
          <p:nvSpPr>
            <p:cNvPr id="63" name="TextBox 63"/>
            <p:cNvSpPr txBox="1"/>
            <p:nvPr/>
          </p:nvSpPr>
          <p:spPr>
            <a:xfrm>
              <a:off x="6196012" y="5098256"/>
              <a:ext cx="377904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结构增删改对应手工改图；标签距离对应概念命名错误；</a:t>
              </a:r>
              <a:endParaRPr lang="zh-CN" sz="112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196012" y="5345906"/>
              <a:ext cx="31789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方向、布局与语音覆盖共同模拟真实修改成本。</a:t>
              </a:r>
              <a:endParaRPr lang="zh-CN" sz="112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9149080" y="4572000"/>
              <a:ext cx="2209800" cy="495300"/>
            </a:xfrm>
            <a:prstGeom prst="roundRect">
              <a:avLst>
                <a:gd name="adj" fmla="val 15385"/>
              </a:avLst>
            </a:prstGeom>
            <a:solidFill>
              <a:srgbClr val="CCFBF1"/>
            </a:solidFill>
            <a:ln>
              <a:noFill/>
            </a:ln>
          </p:spPr>
          <p:txBody>
            <a:bodyPr/>
            <a:p>
              <a:endParaRPr lang="zh-CN" altLang="en-US"/>
            </a:p>
          </p:txBody>
        </p:sp>
        <p:pic>
          <p:nvPicPr>
            <p:cNvPr id="66" name="Image 66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301480" y="4629150"/>
              <a:ext cx="1905000" cy="438150"/>
            </a:xfrm>
            <a:prstGeom prst="rect">
              <a:avLst/>
            </a:prstGeom>
          </p:spPr>
        </p:pic>
      </p:grpSp>
      <p:grpSp>
        <p:nvGrpSpPr>
          <p:cNvPr id="70" name="Group 70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68" name="TextBox 68"/>
            <p:cNvSpPr txBox="1"/>
            <p:nvPr/>
          </p:nvSpPr>
          <p:spPr>
            <a:xfrm>
              <a:off x="560070" y="6379845"/>
              <a:ext cx="20211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MMSB-Graph Method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10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/>
      <p:bldP spid="6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75285"/>
            <a:ext cx="7072313" cy="762953"/>
            <a:chOff x="537210" y="375285"/>
            <a:chExt cx="7072313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687343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数据与实验：把 demo 标注成可评测样例</a:t>
              </a:r>
              <a:endParaRPr lang="zh-CN" sz="27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70551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我们不是只做几个展示样例，而是把输入、标准图、锚点和指标组织成可复现实验协议。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1428750"/>
            <a:ext cx="4083558" cy="4000500"/>
            <a:chOff x="609600" y="1428750"/>
            <a:chExt cx="4083558" cy="40005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3714750" cy="4000500"/>
            </a:xfrm>
            <a:prstGeom prst="roundRect">
              <a:avLst>
                <a:gd name="adj" fmla="val 2051"/>
              </a:avLst>
            </a:prstGeom>
            <a:solidFill>
              <a:srgbClr val="155E75"/>
            </a:solidFill>
            <a:ln>
              <a:noFill/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10" name="Group 10"/>
            <p:cNvGrpSpPr/>
            <p:nvPr/>
          </p:nvGrpSpPr>
          <p:grpSpPr>
            <a:xfrm>
              <a:off x="1003300" y="1843088"/>
              <a:ext cx="279400" cy="314324"/>
              <a:chOff x="1003300" y="1843088"/>
              <a:chExt cx="279400" cy="314324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003300" y="1843088"/>
                <a:ext cx="279400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279400" h="104775">
                    <a:moveTo>
                      <a:pt x="0" y="52388"/>
                    </a:moveTo>
                    <a:cubicBezTo>
                      <a:pt x="0" y="81320"/>
                      <a:pt x="62546" y="104775"/>
                      <a:pt x="139700" y="104775"/>
                    </a:cubicBezTo>
                    <a:cubicBezTo>
                      <a:pt x="216854" y="104775"/>
                      <a:pt x="279400" y="81320"/>
                      <a:pt x="279400" y="52388"/>
                    </a:cubicBezTo>
                    <a:cubicBezTo>
                      <a:pt x="279400" y="23455"/>
                      <a:pt x="216854" y="0"/>
                      <a:pt x="139700" y="0"/>
                    </a:cubicBezTo>
                    <a:cubicBezTo>
                      <a:pt x="62546" y="0"/>
                      <a:pt x="0" y="23455"/>
                      <a:pt x="0" y="52388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8" name="Freeform 8"/>
              <p:cNvSpPr/>
              <p:nvPr/>
            </p:nvSpPr>
            <p:spPr>
              <a:xfrm>
                <a:off x="1003300" y="1895475"/>
                <a:ext cx="279400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279400" h="157162">
                    <a:moveTo>
                      <a:pt x="0" y="0"/>
                    </a:moveTo>
                    <a:lnTo>
                      <a:pt x="0" y="104775"/>
                    </a:lnTo>
                    <a:cubicBezTo>
                      <a:pt x="0" y="133708"/>
                      <a:pt x="62546" y="157162"/>
                      <a:pt x="139700" y="157162"/>
                    </a:cubicBezTo>
                    <a:cubicBezTo>
                      <a:pt x="216854" y="157162"/>
                      <a:pt x="279400" y="133708"/>
                      <a:pt x="279400" y="104775"/>
                    </a:cubicBezTo>
                    <a:lnTo>
                      <a:pt x="27940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9" name="Freeform 9"/>
              <p:cNvSpPr/>
              <p:nvPr/>
            </p:nvSpPr>
            <p:spPr>
              <a:xfrm>
                <a:off x="1003300" y="2000250"/>
                <a:ext cx="279400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279400" h="157162">
                    <a:moveTo>
                      <a:pt x="0" y="0"/>
                    </a:moveTo>
                    <a:lnTo>
                      <a:pt x="0" y="104775"/>
                    </a:lnTo>
                    <a:cubicBezTo>
                      <a:pt x="0" y="133708"/>
                      <a:pt x="62546" y="157162"/>
                      <a:pt x="139700" y="157162"/>
                    </a:cubicBezTo>
                    <a:cubicBezTo>
                      <a:pt x="216854" y="157162"/>
                      <a:pt x="279400" y="133708"/>
                      <a:pt x="279400" y="104775"/>
                    </a:cubicBezTo>
                    <a:lnTo>
                      <a:pt x="27940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11" name="TextBox 11"/>
            <p:cNvSpPr txBox="1"/>
            <p:nvPr/>
          </p:nvSpPr>
          <p:spPr>
            <a:xfrm>
              <a:off x="1498282" y="1848326"/>
              <a:ext cx="2433133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02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24 个知识草图样例</a:t>
              </a:r>
              <a:endParaRPr lang="zh-CN" sz="202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15352" y="2551271"/>
              <a:ext cx="123334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CCFBF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覆盖五类结构</a:t>
              </a:r>
              <a:endParaRPr lang="zh-CN" sz="1425" b="1" dirty="0">
                <a:solidFill>
                  <a:srgbClr val="CCFBF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18210" y="2899410"/>
              <a:ext cx="25908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0F2F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线性流程、多分支融合、反馈闭环、</a:t>
              </a:r>
              <a:endParaRPr lang="zh-CN" sz="1200" dirty="0">
                <a:solidFill>
                  <a:srgbClr val="E0F2F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18210" y="3166110"/>
              <a:ext cx="16306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0F2F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模型架构、实验流程。</a:t>
              </a:r>
              <a:endParaRPr lang="zh-CN" sz="1200" dirty="0">
                <a:solidFill>
                  <a:srgbClr val="E0F2F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5" name="Line 15"/>
            <p:cNvSpPr/>
            <p:nvPr/>
          </p:nvSpPr>
          <p:spPr>
            <a:xfrm>
              <a:off x="933450" y="3638550"/>
              <a:ext cx="3067050" cy="9525"/>
            </a:xfrm>
            <a:custGeom>
              <a:avLst/>
              <a:gdLst/>
              <a:ahLst/>
              <a:cxnLst/>
              <a:rect l="l" t="t" r="r" b="b"/>
              <a:pathLst>
                <a:path w="3067050" h="9525">
                  <a:moveTo>
                    <a:pt x="0" y="0"/>
                  </a:moveTo>
                  <a:lnTo>
                    <a:pt x="3067050" y="0"/>
                  </a:lnTo>
                </a:path>
              </a:pathLst>
            </a:custGeom>
            <a:noFill/>
            <a:ln w="9525">
              <a:solidFill>
                <a:srgbClr val="CCFBF1">
                  <a:alpha val="55000"/>
                </a:srgbClr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15352" y="3884771"/>
              <a:ext cx="123334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5" b="1" dirty="0">
                  <a:solidFill>
                    <a:srgbClr val="CCFBF1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每个样例标注</a:t>
              </a:r>
              <a:endParaRPr lang="zh-CN" sz="1425" b="1" dirty="0">
                <a:solidFill>
                  <a:srgbClr val="CCFBF1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18210" y="4232910"/>
              <a:ext cx="319087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0F2F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gold nodes / gold edges / speech anchors</a:t>
              </a:r>
              <a:endParaRPr lang="zh-CN" sz="1200" dirty="0">
                <a:solidFill>
                  <a:srgbClr val="E0F2F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18210" y="4499610"/>
              <a:ext cx="377494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E0F2F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 regions / layout coordinates / difficulty</a:t>
              </a:r>
              <a:endParaRPr lang="zh-CN" sz="1200" dirty="0">
                <a:solidFill>
                  <a:srgbClr val="E0F2F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933450" y="4914900"/>
              <a:ext cx="2590800" cy="323850"/>
            </a:xfrm>
            <a:prstGeom prst="roundRect">
              <a:avLst>
                <a:gd name="adj" fmla="val 23529"/>
              </a:avLst>
            </a:prstGeom>
            <a:solidFill>
              <a:srgbClr val="CCFBF1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348204" y="5012531"/>
              <a:ext cx="17612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把产品样例变成科研数据</a:t>
              </a:r>
              <a:endParaRPr lang="zh-CN" sz="1125" b="1" dirty="0">
                <a:solidFill>
                  <a:srgbClr val="155E7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4686300" y="1428750"/>
            <a:ext cx="6896100" cy="2343150"/>
            <a:chOff x="4686300" y="1428750"/>
            <a:chExt cx="6896100" cy="2343150"/>
          </a:xfrm>
        </p:grpSpPr>
        <p:sp>
          <p:nvSpPr>
            <p:cNvPr id="22" name="Rectangle 22"/>
            <p:cNvSpPr/>
            <p:nvPr/>
          </p:nvSpPr>
          <p:spPr>
            <a:xfrm>
              <a:off x="4686300" y="1428750"/>
              <a:ext cx="6896100" cy="2343150"/>
            </a:xfrm>
            <a:prstGeom prst="roundRect">
              <a:avLst>
                <a:gd name="adj" fmla="val 3252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23" name="Rectangle 23"/>
            <p:cNvSpPr/>
            <p:nvPr/>
          </p:nvSpPr>
          <p:spPr>
            <a:xfrm>
              <a:off x="4686300" y="1428750"/>
              <a:ext cx="6896100" cy="419100"/>
            </a:xfrm>
            <a:prstGeom prst="roundRect">
              <a:avLst>
                <a:gd name="adj" fmla="val 18182"/>
              </a:avLst>
            </a:prstGeom>
            <a:solidFill>
              <a:srgbClr val="155E75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955858" y="1567339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对照方法</a:t>
              </a:r>
              <a:endParaRPr lang="zh-CN" sz="127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51358" y="1567339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验证意义</a:t>
              </a:r>
              <a:endParaRPr lang="zh-CN" sz="1275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26" name="Line 26"/>
            <p:cNvSpPr/>
            <p:nvPr/>
          </p:nvSpPr>
          <p:spPr>
            <a:xfrm>
              <a:off x="4686300" y="2276475"/>
              <a:ext cx="6896100" cy="9525"/>
            </a:xfrm>
            <a:custGeom>
              <a:avLst/>
              <a:gdLst/>
              <a:ahLst/>
              <a:cxnLst/>
              <a:rect l="l" t="t" r="r" b="b"/>
              <a:pathLst>
                <a:path w="6896100" h="9525">
                  <a:moveTo>
                    <a:pt x="0" y="0"/>
                  </a:moveTo>
                  <a:lnTo>
                    <a:pt x="68961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27" name="Line 27"/>
            <p:cNvSpPr/>
            <p:nvPr/>
          </p:nvSpPr>
          <p:spPr>
            <a:xfrm>
              <a:off x="4686300" y="2705100"/>
              <a:ext cx="6896100" cy="9525"/>
            </a:xfrm>
            <a:custGeom>
              <a:avLst/>
              <a:gdLst/>
              <a:ahLst/>
              <a:cxnLst/>
              <a:rect l="l" t="t" r="r" b="b"/>
              <a:pathLst>
                <a:path w="6896100" h="9525">
                  <a:moveTo>
                    <a:pt x="0" y="0"/>
                  </a:moveTo>
                  <a:lnTo>
                    <a:pt x="68961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28" name="Line 28"/>
            <p:cNvSpPr/>
            <p:nvPr/>
          </p:nvSpPr>
          <p:spPr>
            <a:xfrm>
              <a:off x="4686300" y="3133725"/>
              <a:ext cx="6896100" cy="9525"/>
            </a:xfrm>
            <a:custGeom>
              <a:avLst/>
              <a:gdLst/>
              <a:ahLst/>
              <a:cxnLst/>
              <a:rect l="l" t="t" r="r" b="b"/>
              <a:pathLst>
                <a:path w="6896100" h="9525">
                  <a:moveTo>
                    <a:pt x="0" y="0"/>
                  </a:moveTo>
                  <a:lnTo>
                    <a:pt x="689610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29" name="Line 29"/>
            <p:cNvSpPr/>
            <p:nvPr/>
          </p:nvSpPr>
          <p:spPr>
            <a:xfrm>
              <a:off x="6381750" y="1847850"/>
              <a:ext cx="9525" cy="1924050"/>
            </a:xfrm>
            <a:custGeom>
              <a:avLst/>
              <a:gdLst/>
              <a:ahLst/>
              <a:cxnLst/>
              <a:rect l="l" t="t" r="r" b="b"/>
              <a:pathLst>
                <a:path w="9525" h="1924050">
                  <a:moveTo>
                    <a:pt x="0" y="0"/>
                  </a:moveTo>
                  <a:lnTo>
                    <a:pt x="0" y="192405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956810" y="2004060"/>
              <a:ext cx="10050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Sketch-only</a:t>
              </a:r>
              <a:endParaRPr lang="zh-CN" sz="12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15112" y="2012156"/>
              <a:ext cx="257889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只看空间结构，验证草图单模态短板。</a:t>
              </a:r>
              <a:endParaRPr lang="zh-CN" sz="112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956810" y="2432685"/>
              <a:ext cx="10050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Speech-only</a:t>
              </a:r>
              <a:endParaRPr lang="zh-CN" sz="12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15112" y="2440781"/>
              <a:ext cx="272891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只看语义顺序，验证语音补关系的价值。</a:t>
              </a:r>
              <a:endParaRPr lang="zh-CN" sz="112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956810" y="2861310"/>
              <a:ext cx="10134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Early Fusion</a:t>
              </a:r>
              <a:endParaRPr lang="zh-CN" sz="12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15112" y="2869406"/>
              <a:ext cx="30289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简单合并两模态，验证 one-shot 融合不足。</a:t>
              </a:r>
              <a:endParaRPr lang="zh-CN" sz="112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956810" y="3289935"/>
              <a:ext cx="121502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Greedy / MMSB</a:t>
              </a:r>
              <a:endParaRPr lang="zh-CN" sz="12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615112" y="3298031"/>
              <a:ext cx="242887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比较局部修复与全局约束编辑路径。</a:t>
              </a:r>
              <a:endParaRPr lang="zh-CN" sz="112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686300" y="4076700"/>
            <a:ext cx="6896100" cy="1352550"/>
            <a:chOff x="4686300" y="4076700"/>
            <a:chExt cx="6896100" cy="1352550"/>
          </a:xfrm>
        </p:grpSpPr>
        <p:sp>
          <p:nvSpPr>
            <p:cNvPr id="39" name="Rectangle 39"/>
            <p:cNvSpPr/>
            <p:nvPr/>
          </p:nvSpPr>
          <p:spPr>
            <a:xfrm>
              <a:off x="4686300" y="4076700"/>
              <a:ext cx="6896100" cy="1352550"/>
            </a:xfrm>
            <a:prstGeom prst="roundRect">
              <a:avLst>
                <a:gd name="adj" fmla="val 5634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sp>
          <p:nvSpPr>
            <p:cNvPr id="40" name="TextBox 40"/>
            <p:cNvSpPr txBox="1"/>
            <p:nvPr/>
          </p:nvSpPr>
          <p:spPr>
            <a:xfrm>
              <a:off x="4953000" y="4295775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指标组合</a:t>
              </a:r>
              <a:endParaRPr lang="zh-CN" sz="15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pic>
          <p:nvPicPr>
            <p:cNvPr id="41" name="Image 4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4972050" y="4648200"/>
              <a:ext cx="3429000" cy="361950"/>
            </a:xfrm>
            <a:prstGeom prst="rect">
              <a:avLst/>
            </a:prstGeom>
          </p:spPr>
        </p:pic>
        <p:pic>
          <p:nvPicPr>
            <p:cNvPr id="42" name="Image 4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72050" y="5010150"/>
              <a:ext cx="3790950" cy="314325"/>
            </a:xfrm>
            <a:prstGeom prst="rect">
              <a:avLst/>
            </a:prstGeom>
          </p:spPr>
        </p:pic>
        <p:sp>
          <p:nvSpPr>
            <p:cNvPr id="43" name="Rectangle 43"/>
            <p:cNvSpPr/>
            <p:nvPr/>
          </p:nvSpPr>
          <p:spPr>
            <a:xfrm>
              <a:off x="8743950" y="4324350"/>
              <a:ext cx="2266950" cy="381000"/>
            </a:xfrm>
            <a:prstGeom prst="roundRect">
              <a:avLst>
                <a:gd name="adj" fmla="val 2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918019" y="4450556"/>
              <a:ext cx="191881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59E0B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当前是合成条件图可控验证</a:t>
              </a:r>
              <a:endParaRPr lang="zh-CN" sz="1125" b="1" dirty="0">
                <a:solidFill>
                  <a:srgbClr val="F59E0B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46" name="TextBox 46"/>
            <p:cNvSpPr txBox="1"/>
            <p:nvPr/>
          </p:nvSpPr>
          <p:spPr>
            <a:xfrm>
              <a:off x="560070" y="6379845"/>
              <a:ext cx="272319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Evaluation Dataset and Protocol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11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38" grpId="0"/>
      <p:bldP spid="4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7" name="Group 7"/>
          <p:cNvGrpSpPr/>
          <p:nvPr/>
        </p:nvGrpSpPr>
        <p:grpSpPr>
          <a:xfrm>
            <a:off x="537210" y="323850"/>
            <a:ext cx="11083290" cy="814388"/>
            <a:chOff x="537210" y="323850"/>
            <a:chExt cx="11083290" cy="814388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827220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结果边界：验证的是图桥行为，不是大规模 SOTA</a:t>
              </a:r>
              <a:endParaRPr lang="zh-CN" sz="27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669512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我们已经做出了可评测成果，但必须把可控验证、真实场景和下一步训练清楚区分。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" name="Rectangle 5"/>
            <p:cNvSpPr/>
            <p:nvPr/>
          </p:nvSpPr>
          <p:spPr>
            <a:xfrm>
              <a:off x="9029700" y="323850"/>
              <a:ext cx="2590800" cy="323850"/>
            </a:xfrm>
            <a:prstGeom prst="roundRect">
              <a:avLst>
                <a:gd name="adj" fmla="val 23529"/>
              </a:avLst>
            </a:prstGeom>
            <a:solidFill>
              <a:srgbClr val="FEF3C7"/>
            </a:solidFill>
            <a:ln w="9525">
              <a:solidFill>
                <a:srgbClr val="F59E0B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9601974" y="421481"/>
              <a:ext cx="144625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合成条件图可控验证</a:t>
              </a:r>
              <a:endParaRPr lang="zh-CN" sz="1125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71500" y="1390650"/>
            <a:ext cx="6572250" cy="3943350"/>
            <a:chOff x="571500" y="1390650"/>
            <a:chExt cx="6572250" cy="3943350"/>
          </a:xfrm>
        </p:grpSpPr>
        <p:sp>
          <p:nvSpPr>
            <p:cNvPr id="8" name="Rectangle 8"/>
            <p:cNvSpPr/>
            <p:nvPr/>
          </p:nvSpPr>
          <p:spPr>
            <a:xfrm>
              <a:off x="571500" y="1390650"/>
              <a:ext cx="6572250" cy="3943350"/>
            </a:xfrm>
            <a:prstGeom prst="roundRect">
              <a:avLst>
                <a:gd name="adj" fmla="val 1932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9525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18" name="Group 18"/>
            <p:cNvGrpSpPr/>
            <p:nvPr/>
          </p:nvGrpSpPr>
          <p:grpSpPr>
            <a:xfrm>
              <a:off x="873919" y="1683544"/>
              <a:ext cx="5587343" cy="357187"/>
              <a:chOff x="873919" y="1683544"/>
              <a:chExt cx="5587343" cy="357187"/>
            </a:xfrm>
          </p:grpSpPr>
          <p:grpSp>
            <p:nvGrpSpPr>
              <p:cNvPr id="15" name="Group 15"/>
              <p:cNvGrpSpPr/>
              <p:nvPr/>
            </p:nvGrpSpPr>
            <p:grpSpPr>
              <a:xfrm>
                <a:off x="873919" y="1683544"/>
                <a:ext cx="214312" cy="214312"/>
                <a:chOff x="873919" y="1683544"/>
                <a:chExt cx="214312" cy="214312"/>
              </a:xfrm>
            </p:grpSpPr>
            <p:sp>
              <p:nvSpPr>
                <p:cNvPr id="9" name="Freeform 9"/>
                <p:cNvSpPr/>
                <p:nvPr/>
              </p:nvSpPr>
              <p:spPr>
                <a:xfrm>
                  <a:off x="873919" y="1683544"/>
                  <a:ext cx="214312" cy="2143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214312">
                      <a:moveTo>
                        <a:pt x="0" y="0"/>
                      </a:moveTo>
                      <a:lnTo>
                        <a:pt x="0" y="214312"/>
                      </a:lnTo>
                      <a:lnTo>
                        <a:pt x="214312" y="214312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10" name="Freeform 10"/>
                <p:cNvSpPr/>
                <p:nvPr/>
              </p:nvSpPr>
              <p:spPr>
                <a:xfrm>
                  <a:off x="921544" y="1731169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23812"/>
                      </a:moveTo>
                      <a:cubicBezTo>
                        <a:pt x="0" y="36964"/>
                        <a:pt x="10661" y="47625"/>
                        <a:pt x="23812" y="47625"/>
                      </a:cubicBezTo>
                      <a:cubicBezTo>
                        <a:pt x="36964" y="47625"/>
                        <a:pt x="47625" y="36964"/>
                        <a:pt x="47625" y="23812"/>
                      </a:cubicBezTo>
                      <a:cubicBezTo>
                        <a:pt x="47625" y="10661"/>
                        <a:pt x="36964" y="0"/>
                        <a:pt x="23812" y="0"/>
                      </a:cubicBezTo>
                      <a:cubicBezTo>
                        <a:pt x="10661" y="0"/>
                        <a:pt x="0" y="10661"/>
                        <a:pt x="0" y="23812"/>
                      </a:cubicBez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11" name="Freeform 11"/>
                <p:cNvSpPr/>
                <p:nvPr/>
              </p:nvSpPr>
              <p:spPr>
                <a:xfrm>
                  <a:off x="1040606" y="1707356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23812"/>
                      </a:moveTo>
                      <a:cubicBezTo>
                        <a:pt x="0" y="36964"/>
                        <a:pt x="10661" y="47625"/>
                        <a:pt x="23812" y="47625"/>
                      </a:cubicBezTo>
                      <a:cubicBezTo>
                        <a:pt x="36964" y="47625"/>
                        <a:pt x="47625" y="36964"/>
                        <a:pt x="47625" y="23812"/>
                      </a:cubicBezTo>
                      <a:cubicBezTo>
                        <a:pt x="47625" y="10661"/>
                        <a:pt x="36964" y="0"/>
                        <a:pt x="23812" y="0"/>
                      </a:cubicBezTo>
                      <a:cubicBezTo>
                        <a:pt x="10661" y="0"/>
                        <a:pt x="0" y="10661"/>
                        <a:pt x="0" y="23812"/>
                      </a:cubicBez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12" name="Freeform 12"/>
                <p:cNvSpPr/>
                <p:nvPr/>
              </p:nvSpPr>
              <p:spPr>
                <a:xfrm>
                  <a:off x="981075" y="1802606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23812"/>
                      </a:moveTo>
                      <a:cubicBezTo>
                        <a:pt x="0" y="36964"/>
                        <a:pt x="10661" y="47625"/>
                        <a:pt x="23812" y="47625"/>
                      </a:cubicBezTo>
                      <a:cubicBezTo>
                        <a:pt x="36964" y="47625"/>
                        <a:pt x="47625" y="36964"/>
                        <a:pt x="47625" y="23812"/>
                      </a:cubicBezTo>
                      <a:cubicBezTo>
                        <a:pt x="47625" y="10661"/>
                        <a:pt x="36964" y="0"/>
                        <a:pt x="23812" y="0"/>
                      </a:cubicBezTo>
                      <a:cubicBezTo>
                        <a:pt x="10661" y="0"/>
                        <a:pt x="0" y="10661"/>
                        <a:pt x="0" y="23812"/>
                      </a:cubicBez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13" name="Freeform 13"/>
                <p:cNvSpPr/>
                <p:nvPr/>
              </p:nvSpPr>
              <p:spPr>
                <a:xfrm>
                  <a:off x="959168" y="1774269"/>
                  <a:ext cx="27861" cy="342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861" h="34290">
                      <a:moveTo>
                        <a:pt x="0" y="0"/>
                      </a:moveTo>
                      <a:lnTo>
                        <a:pt x="27861" y="34290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14" name="Freeform 14"/>
                <p:cNvSpPr/>
                <p:nvPr/>
              </p:nvSpPr>
              <p:spPr>
                <a:xfrm>
                  <a:off x="1017842" y="1751909"/>
                  <a:ext cx="33778" cy="546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778" h="54602">
                      <a:moveTo>
                        <a:pt x="0" y="54602"/>
                      </a:moveTo>
                      <a:lnTo>
                        <a:pt x="33778" y="0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235392" y="1690211"/>
                <a:ext cx="1492996" cy="350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72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对照结果说明</a:t>
                </a:r>
                <a:endParaRPr lang="zh-CN" sz="172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5015865" y="1763078"/>
                <a:ext cx="144539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F766E"/>
                    </a:solidFill>
                    <a:latin typeface="Consolas" panose="020B0609020204030204"/>
                    <a:ea typeface="微软雅黑" panose="020B0503020204020204" charset="-122"/>
                    <a:cs typeface="Consolas" panose="020B0609020204030204"/>
                  </a:rPr>
                  <a:t>structure recovery</a:t>
                </a:r>
                <a:endParaRPr lang="zh-CN" sz="1050" b="1" dirty="0">
                  <a:solidFill>
                    <a:srgbClr val="0F766E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endParaRPr>
              </a:p>
            </p:txBody>
          </p:sp>
        </p:grpSp>
        <p:sp>
          <p:nvSpPr>
            <p:cNvPr id="19" name="Line 19"/>
            <p:cNvSpPr/>
            <p:nvPr/>
          </p:nvSpPr>
          <p:spPr>
            <a:xfrm>
              <a:off x="838200" y="2095500"/>
              <a:ext cx="6038850" cy="9525"/>
            </a:xfrm>
            <a:custGeom>
              <a:avLst/>
              <a:gdLst/>
              <a:ahLst/>
              <a:cxnLst/>
              <a:rect l="l" t="t" r="r" b="b"/>
              <a:pathLst>
                <a:path w="6038850" h="9525">
                  <a:moveTo>
                    <a:pt x="0" y="0"/>
                  </a:moveTo>
                  <a:lnTo>
                    <a:pt x="6038850" y="0"/>
                  </a:lnTo>
                </a:path>
              </a:pathLst>
            </a:custGeom>
            <a:noFill/>
            <a:ln w="9525">
              <a:solidFill>
                <a:srgbClr val="CBD5E1"/>
              </a:solidFill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838200" y="2247900"/>
              <a:ext cx="6038850" cy="342900"/>
              <a:chOff x="838200" y="2247900"/>
              <a:chExt cx="6038850" cy="3429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838200" y="2247900"/>
                <a:ext cx="6038850" cy="342900"/>
              </a:xfrm>
              <a:prstGeom prst="roundRect">
                <a:avLst>
                  <a:gd name="adj" fmla="val 22222"/>
                </a:avLst>
              </a:prstGeom>
              <a:solidFill>
                <a:srgbClr val="E0F2FE"/>
              </a:solidFill>
              <a:ln>
                <a:noFill/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1052512" y="2355056"/>
                <a:ext cx="34361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55E75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方法</a:t>
                </a:r>
                <a:endParaRPr lang="zh-CN" sz="1125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2576512" y="23550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55E75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关键结果</a:t>
                </a:r>
                <a:endParaRPr lang="zh-CN" sz="1125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4386262" y="23550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55E75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科研含义</a:t>
                </a:r>
                <a:endParaRPr lang="zh-CN" sz="1125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838200" y="2781300"/>
              <a:ext cx="6038850" cy="478631"/>
              <a:chOff x="838200" y="2781300"/>
              <a:chExt cx="6038850" cy="478631"/>
            </a:xfrm>
          </p:grpSpPr>
          <p:sp>
            <p:nvSpPr>
              <p:cNvPr id="25" name="Line 25"/>
              <p:cNvSpPr/>
              <p:nvPr/>
            </p:nvSpPr>
            <p:spPr>
              <a:xfrm>
                <a:off x="838200" y="2781300"/>
                <a:ext cx="6038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038850" h="9525">
                    <a:moveTo>
                      <a:pt x="0" y="0"/>
                    </a:moveTo>
                    <a:lnTo>
                      <a:pt x="603885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1051560" y="2842260"/>
                <a:ext cx="100500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Sketch-only</a:t>
                </a:r>
                <a:endParaRPr lang="zh-CN" sz="12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pic>
            <p:nvPicPr>
              <p:cNvPr id="27" name="Image 2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2607586" y="2869565"/>
                <a:ext cx="1224998" cy="161925"/>
              </a:xfrm>
              <a:prstGeom prst="rect">
                <a:avLst/>
              </a:prstGeom>
            </p:spPr>
          </p:pic>
          <p:sp>
            <p:nvSpPr>
              <p:cNvPr id="28" name="TextBox 28"/>
              <p:cNvSpPr txBox="1"/>
              <p:nvPr/>
            </p:nvSpPr>
            <p:spPr>
              <a:xfrm>
                <a:off x="4386262" y="2821781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草图保留空间先验，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386262" y="3031331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但语义与方向不足。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838200" y="3352800"/>
              <a:ext cx="6038850" cy="478631"/>
              <a:chOff x="838200" y="3352800"/>
              <a:chExt cx="6038850" cy="478631"/>
            </a:xfrm>
          </p:grpSpPr>
          <p:sp>
            <p:nvSpPr>
              <p:cNvPr id="31" name="Line 31"/>
              <p:cNvSpPr/>
              <p:nvPr/>
            </p:nvSpPr>
            <p:spPr>
              <a:xfrm>
                <a:off x="838200" y="3352800"/>
                <a:ext cx="6038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038850" h="9525">
                    <a:moveTo>
                      <a:pt x="0" y="0"/>
                    </a:moveTo>
                    <a:lnTo>
                      <a:pt x="603885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1051560" y="3413760"/>
                <a:ext cx="100500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Speech-only</a:t>
                </a:r>
                <a:endParaRPr lang="zh-CN" sz="12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pic>
            <p:nvPicPr>
              <p:cNvPr id="33" name="Image 33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607586" y="3460115"/>
                <a:ext cx="1224998" cy="161925"/>
              </a:xfrm>
              <a:prstGeom prst="rect">
                <a:avLst/>
              </a:prstGeom>
            </p:spPr>
          </p:pic>
          <p:sp>
            <p:nvSpPr>
              <p:cNvPr id="34" name="TextBox 34"/>
              <p:cNvSpPr txBox="1"/>
              <p:nvPr/>
            </p:nvSpPr>
            <p:spPr>
              <a:xfrm>
                <a:off x="4386262" y="3393281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语音能补关系，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4386262" y="3602831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但缺少二维布局约束。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838200" y="3924300"/>
              <a:ext cx="6038850" cy="537210"/>
              <a:chOff x="838200" y="3924300"/>
              <a:chExt cx="6038850" cy="537210"/>
            </a:xfrm>
          </p:grpSpPr>
          <p:sp>
            <p:nvSpPr>
              <p:cNvPr id="37" name="Line 37"/>
              <p:cNvSpPr/>
              <p:nvPr/>
            </p:nvSpPr>
            <p:spPr>
              <a:xfrm>
                <a:off x="838200" y="3924300"/>
                <a:ext cx="6038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038850" h="9525">
                    <a:moveTo>
                      <a:pt x="0" y="0"/>
                    </a:moveTo>
                    <a:lnTo>
                      <a:pt x="603885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38" name="TextBox 38"/>
              <p:cNvSpPr txBox="1"/>
              <p:nvPr/>
            </p:nvSpPr>
            <p:spPr>
              <a:xfrm>
                <a:off x="1051560" y="3985260"/>
                <a:ext cx="10134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Early Fusion</a:t>
                </a:r>
                <a:endParaRPr lang="zh-CN" sz="12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pic>
            <p:nvPicPr>
              <p:cNvPr id="39" name="Image 39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07310" y="4037572"/>
                <a:ext cx="1276350" cy="156362"/>
              </a:xfrm>
              <a:prstGeom prst="rect">
                <a:avLst/>
              </a:prstGeom>
            </p:spPr>
          </p:pic>
          <p:pic>
            <p:nvPicPr>
              <p:cNvPr id="40" name="Image 40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08856" y="4299585"/>
                <a:ext cx="1224998" cy="161925"/>
              </a:xfrm>
              <a:prstGeom prst="rect">
                <a:avLst/>
              </a:prstGeom>
            </p:spPr>
          </p:pic>
          <p:sp>
            <p:nvSpPr>
              <p:cNvPr id="41" name="TextBox 41"/>
              <p:cNvSpPr txBox="1"/>
              <p:nvPr/>
            </p:nvSpPr>
            <p:spPr>
              <a:xfrm>
                <a:off x="4386262" y="3964781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简单融合能补节点，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386262" y="4174331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结构冲突仍会残留。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838200" y="4552950"/>
              <a:ext cx="6038850" cy="488156"/>
              <a:chOff x="838200" y="4552950"/>
              <a:chExt cx="6038850" cy="488156"/>
            </a:xfrm>
          </p:grpSpPr>
          <p:sp>
            <p:nvSpPr>
              <p:cNvPr id="44" name="Line 44"/>
              <p:cNvSpPr/>
              <p:nvPr/>
            </p:nvSpPr>
            <p:spPr>
              <a:xfrm>
                <a:off x="838200" y="4552950"/>
                <a:ext cx="60388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038850" h="9525">
                    <a:moveTo>
                      <a:pt x="0" y="0"/>
                    </a:moveTo>
                    <a:lnTo>
                      <a:pt x="603885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45" name="TextBox 45"/>
              <p:cNvSpPr txBox="1"/>
              <p:nvPr/>
            </p:nvSpPr>
            <p:spPr>
              <a:xfrm>
                <a:off x="1051560" y="4623435"/>
                <a:ext cx="11478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Greedy Repair</a:t>
                </a:r>
                <a:endParaRPr lang="zh-CN" sz="12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pic>
            <p:nvPicPr>
              <p:cNvPr id="46" name="Image 46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626360" y="4660265"/>
                <a:ext cx="1257300" cy="171450"/>
              </a:xfrm>
              <a:prstGeom prst="rect">
                <a:avLst/>
              </a:prstGeom>
            </p:spPr>
          </p:pic>
          <p:sp>
            <p:nvSpPr>
              <p:cNvPr id="47" name="TextBox 47"/>
              <p:cNvSpPr txBox="1"/>
              <p:nvPr/>
            </p:nvSpPr>
            <p:spPr>
              <a:xfrm>
                <a:off x="4386262" y="4602956"/>
                <a:ext cx="107870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局部修复有效，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4386262" y="481250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但缺少全局路径诊断。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54" name="Group 54"/>
            <p:cNvGrpSpPr/>
            <p:nvPr/>
          </p:nvGrpSpPr>
          <p:grpSpPr>
            <a:xfrm>
              <a:off x="838200" y="5010150"/>
              <a:ext cx="6038850" cy="278606"/>
              <a:chOff x="838200" y="5010150"/>
              <a:chExt cx="6038850" cy="278606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838200" y="5010150"/>
                <a:ext cx="6038850" cy="228600"/>
              </a:xfrm>
              <a:prstGeom prst="roundRect">
                <a:avLst>
                  <a:gd name="adj" fmla="val 33333"/>
                </a:avLst>
              </a:prstGeom>
              <a:solidFill>
                <a:srgbClr val="CCFBF1"/>
              </a:solidFill>
              <a:ln>
                <a:noFill/>
              </a:ln>
            </p:spPr>
          </p:sp>
          <p:sp>
            <p:nvSpPr>
              <p:cNvPr id="51" name="TextBox 51"/>
              <p:cNvSpPr txBox="1"/>
              <p:nvPr/>
            </p:nvSpPr>
            <p:spPr>
              <a:xfrm>
                <a:off x="1052512" y="5060156"/>
                <a:ext cx="95794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155E75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MMSB-Graph</a:t>
                </a:r>
                <a:endParaRPr lang="zh-CN" sz="1125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pic>
            <p:nvPicPr>
              <p:cNvPr id="52" name="Image 52"/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590800" y="5038725"/>
                <a:ext cx="1466850" cy="152400"/>
              </a:xfrm>
              <a:prstGeom prst="rect">
                <a:avLst/>
              </a:prstGeom>
            </p:spPr>
          </p:pic>
          <p:sp>
            <p:nvSpPr>
              <p:cNvPr id="53" name="TextBox 53"/>
              <p:cNvSpPr txBox="1"/>
              <p:nvPr/>
            </p:nvSpPr>
            <p:spPr>
              <a:xfrm>
                <a:off x="4387215" y="5044757"/>
                <a:ext cx="179089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5E75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验证图桥可修复、可诊断。</a:t>
                </a:r>
                <a:endParaRPr lang="zh-CN" sz="1050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7524750" y="1390650"/>
            <a:ext cx="4095750" cy="3943350"/>
            <a:chOff x="7524750" y="1390650"/>
            <a:chExt cx="4095750" cy="3943350"/>
          </a:xfrm>
        </p:grpSpPr>
        <p:grpSp>
          <p:nvGrpSpPr>
            <p:cNvPr id="70" name="Group 70"/>
            <p:cNvGrpSpPr/>
            <p:nvPr/>
          </p:nvGrpSpPr>
          <p:grpSpPr>
            <a:xfrm>
              <a:off x="7524750" y="1390650"/>
              <a:ext cx="4095750" cy="1809750"/>
              <a:chOff x="7524750" y="1390650"/>
              <a:chExt cx="4095750" cy="1809750"/>
            </a:xfrm>
          </p:grpSpPr>
          <p:sp>
            <p:nvSpPr>
              <p:cNvPr id="56" name="Rectangle 56"/>
              <p:cNvSpPr/>
              <p:nvPr/>
            </p:nvSpPr>
            <p:spPr>
              <a:xfrm>
                <a:off x="7524750" y="1390650"/>
                <a:ext cx="409575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61" name="Group 61"/>
              <p:cNvGrpSpPr/>
              <p:nvPr/>
            </p:nvGrpSpPr>
            <p:grpSpPr>
              <a:xfrm>
                <a:off x="7842901" y="1693069"/>
                <a:ext cx="220120" cy="217647"/>
                <a:chOff x="7842901" y="1693069"/>
                <a:chExt cx="220120" cy="217647"/>
              </a:xfrm>
            </p:grpSpPr>
            <p:sp>
              <p:nvSpPr>
                <p:cNvPr id="57" name="Freeform 57"/>
                <p:cNvSpPr/>
                <p:nvPr/>
              </p:nvSpPr>
              <p:spPr>
                <a:xfrm>
                  <a:off x="7842901" y="1704975"/>
                  <a:ext cx="205724" cy="2057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724" h="205741">
                      <a:moveTo>
                        <a:pt x="205724" y="48101"/>
                      </a:moveTo>
                      <a:lnTo>
                        <a:pt x="61396" y="192453"/>
                      </a:lnTo>
                      <a:cubicBezTo>
                        <a:pt x="48113" y="205739"/>
                        <a:pt x="26575" y="205741"/>
                        <a:pt x="13289" y="192459"/>
                      </a:cubicBezTo>
                      <a:cubicBezTo>
                        <a:pt x="3" y="179176"/>
                        <a:pt x="0" y="157637"/>
                        <a:pt x="13283" y="144351"/>
                      </a:cubicBezTo>
                      <a:lnTo>
                        <a:pt x="157610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58" name="Freeform 58"/>
                <p:cNvSpPr/>
                <p:nvPr/>
              </p:nvSpPr>
              <p:spPr>
                <a:xfrm>
                  <a:off x="7893844" y="1812131"/>
                  <a:ext cx="952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59" name="Freeform 59"/>
                <p:cNvSpPr/>
                <p:nvPr/>
              </p:nvSpPr>
              <p:spPr>
                <a:xfrm>
                  <a:off x="8010416" y="1835944"/>
                  <a:ext cx="52605" cy="608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605" h="60822">
                      <a:moveTo>
                        <a:pt x="26302" y="0"/>
                      </a:moveTo>
                      <a:lnTo>
                        <a:pt x="44162" y="19050"/>
                      </a:lnTo>
                      <a:cubicBezTo>
                        <a:pt x="52605" y="28623"/>
                        <a:pt x="51997" y="43151"/>
                        <a:pt x="42785" y="51986"/>
                      </a:cubicBezTo>
                      <a:cubicBezTo>
                        <a:pt x="33573" y="60822"/>
                        <a:pt x="19032" y="60822"/>
                        <a:pt x="9820" y="51986"/>
                      </a:cubicBezTo>
                      <a:cubicBezTo>
                        <a:pt x="607" y="43151"/>
                        <a:pt x="0" y="28623"/>
                        <a:pt x="8443" y="19050"/>
                      </a:cubicBezTo>
                      <a:lnTo>
                        <a:pt x="26302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0" name="Freeform 60"/>
                <p:cNvSpPr/>
                <p:nvPr/>
              </p:nvSpPr>
              <p:spPr>
                <a:xfrm>
                  <a:off x="7989094" y="1693069"/>
                  <a:ext cx="71438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38" h="71438">
                      <a:moveTo>
                        <a:pt x="0" y="0"/>
                      </a:moveTo>
                      <a:lnTo>
                        <a:pt x="71438" y="71438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62" name="TextBox 62"/>
              <p:cNvSpPr txBox="1"/>
              <p:nvPr/>
            </p:nvSpPr>
            <p:spPr>
              <a:xfrm>
                <a:off x="8188642" y="1699736"/>
                <a:ext cx="1009936" cy="350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72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真实边界</a:t>
                </a:r>
                <a:endParaRPr lang="zh-CN" sz="172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3" name="Line 63"/>
              <p:cNvSpPr/>
              <p:nvPr/>
            </p:nvSpPr>
            <p:spPr>
              <a:xfrm>
                <a:off x="7810500" y="2095500"/>
                <a:ext cx="3505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505200" h="9525">
                    <a:moveTo>
                      <a:pt x="0" y="0"/>
                    </a:moveTo>
                    <a:lnTo>
                      <a:pt x="35052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64" name="Ellipse 64"/>
              <p:cNvSpPr/>
              <p:nvPr/>
            </p:nvSpPr>
            <p:spPr>
              <a:xfrm>
                <a:off x="7886700" y="2362200"/>
                <a:ext cx="76200" cy="762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</p:sp>
          <p:sp>
            <p:nvSpPr>
              <p:cNvPr id="65" name="TextBox 65"/>
              <p:cNvSpPr txBox="1"/>
              <p:nvPr/>
            </p:nvSpPr>
            <p:spPr>
              <a:xfrm>
                <a:off x="8081010" y="2327910"/>
                <a:ext cx="285483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当前不调用真实 ASR/VLM 大模型链路。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6" name="Ellipse 66"/>
              <p:cNvSpPr/>
              <p:nvPr/>
            </p:nvSpPr>
            <p:spPr>
              <a:xfrm>
                <a:off x="7886700" y="2705100"/>
                <a:ext cx="76200" cy="762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</p:sp>
          <p:sp>
            <p:nvSpPr>
              <p:cNvPr id="67" name="TextBox 67"/>
              <p:cNvSpPr txBox="1"/>
              <p:nvPr/>
            </p:nvSpPr>
            <p:spPr>
              <a:xfrm>
                <a:off x="8081010" y="2670810"/>
                <a:ext cx="30708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结果说明的是受控候选图上的编辑桥行为。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8" name="Ellipse 68"/>
              <p:cNvSpPr/>
              <p:nvPr/>
            </p:nvSpPr>
            <p:spPr>
              <a:xfrm>
                <a:off x="7886700" y="3048000"/>
                <a:ext cx="76200" cy="762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</p:sp>
          <p:sp>
            <p:nvSpPr>
              <p:cNvPr id="69" name="TextBox 69"/>
              <p:cNvSpPr txBox="1"/>
              <p:nvPr/>
            </p:nvSpPr>
            <p:spPr>
              <a:xfrm>
                <a:off x="8081010" y="2956560"/>
                <a:ext cx="27508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不能外推为真实世界端到端泛化性能。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7524750" y="3524250"/>
              <a:ext cx="4095750" cy="1809750"/>
              <a:chOff x="7524750" y="3524250"/>
              <a:chExt cx="4095750" cy="1809750"/>
            </a:xfrm>
          </p:grpSpPr>
          <p:sp>
            <p:nvSpPr>
              <p:cNvPr id="71" name="Rectangle 71"/>
              <p:cNvSpPr/>
              <p:nvPr/>
            </p:nvSpPr>
            <p:spPr>
              <a:xfrm>
                <a:off x="7524750" y="3524250"/>
                <a:ext cx="4095750" cy="1809750"/>
              </a:xfrm>
              <a:prstGeom prst="roundRect">
                <a:avLst>
                  <a:gd name="adj" fmla="val 4211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95250" dist="28575" dir="5400000" algn="ctr" rotWithShape="0">
                  <a:srgbClr val="172033">
                    <a:alpha val="6000"/>
                  </a:srgbClr>
                </a:outerShdw>
              </a:effectLst>
            </p:spPr>
          </p:sp>
          <p:grpSp>
            <p:nvGrpSpPr>
              <p:cNvPr id="75" name="Group 75"/>
              <p:cNvGrpSpPr/>
              <p:nvPr/>
            </p:nvGrpSpPr>
            <p:grpSpPr>
              <a:xfrm>
                <a:off x="7846219" y="3826669"/>
                <a:ext cx="214312" cy="214313"/>
                <a:chOff x="7846219" y="3826669"/>
                <a:chExt cx="214312" cy="214313"/>
              </a:xfrm>
            </p:grpSpPr>
            <p:sp>
              <p:nvSpPr>
                <p:cNvPr id="72" name="Freeform 72"/>
                <p:cNvSpPr/>
                <p:nvPr/>
              </p:nvSpPr>
              <p:spPr>
                <a:xfrm>
                  <a:off x="7846219" y="3826669"/>
                  <a:ext cx="214312" cy="1071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4312" h="107156">
                      <a:moveTo>
                        <a:pt x="0" y="107156"/>
                      </a:moveTo>
                      <a:lnTo>
                        <a:pt x="11906" y="107156"/>
                      </a:lnTo>
                      <a:moveTo>
                        <a:pt x="107156" y="0"/>
                      </a:moveTo>
                      <a:lnTo>
                        <a:pt x="107156" y="11906"/>
                      </a:lnTo>
                      <a:moveTo>
                        <a:pt x="202406" y="107156"/>
                      </a:moveTo>
                      <a:lnTo>
                        <a:pt x="214312" y="107156"/>
                      </a:lnTo>
                      <a:moveTo>
                        <a:pt x="30956" y="30956"/>
                      </a:moveTo>
                      <a:lnTo>
                        <a:pt x="39291" y="39291"/>
                      </a:lnTo>
                      <a:moveTo>
                        <a:pt x="183356" y="30956"/>
                      </a:moveTo>
                      <a:lnTo>
                        <a:pt x="175022" y="39291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73" name="Freeform 73"/>
                <p:cNvSpPr/>
                <p:nvPr/>
              </p:nvSpPr>
              <p:spPr>
                <a:xfrm>
                  <a:off x="7888796" y="3874294"/>
                  <a:ext cx="129159" cy="1666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159" h="166688">
                      <a:moveTo>
                        <a:pt x="28861" y="107156"/>
                      </a:moveTo>
                      <a:cubicBezTo>
                        <a:pt x="8361" y="91782"/>
                        <a:pt x="0" y="65015"/>
                        <a:pt x="8103" y="40706"/>
                      </a:cubicBezTo>
                      <a:cubicBezTo>
                        <a:pt x="16206" y="16397"/>
                        <a:pt x="38955" y="0"/>
                        <a:pt x="64579" y="0"/>
                      </a:cubicBezTo>
                      <a:cubicBezTo>
                        <a:pt x="90203" y="0"/>
                        <a:pt x="112953" y="16397"/>
                        <a:pt x="121056" y="40706"/>
                      </a:cubicBezTo>
                      <a:cubicBezTo>
                        <a:pt x="129159" y="65015"/>
                        <a:pt x="120797" y="91782"/>
                        <a:pt x="100298" y="107156"/>
                      </a:cubicBezTo>
                      <a:cubicBezTo>
                        <a:pt x="90870" y="116489"/>
                        <a:pt x="86449" y="129752"/>
                        <a:pt x="88392" y="142875"/>
                      </a:cubicBezTo>
                      <a:cubicBezTo>
                        <a:pt x="88392" y="156026"/>
                        <a:pt x="77731" y="166688"/>
                        <a:pt x="64579" y="166688"/>
                      </a:cubicBezTo>
                      <a:cubicBezTo>
                        <a:pt x="51428" y="166688"/>
                        <a:pt x="40767" y="156026"/>
                        <a:pt x="40767" y="142875"/>
                      </a:cubicBezTo>
                      <a:cubicBezTo>
                        <a:pt x="42710" y="129752"/>
                        <a:pt x="38288" y="116489"/>
                        <a:pt x="28861" y="107156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74" name="Freeform 74"/>
                <p:cNvSpPr/>
                <p:nvPr/>
              </p:nvSpPr>
              <p:spPr>
                <a:xfrm>
                  <a:off x="7925991" y="3993356"/>
                  <a:ext cx="54769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769" h="9525">
                      <a:moveTo>
                        <a:pt x="0" y="0"/>
                      </a:moveTo>
                      <a:lnTo>
                        <a:pt x="54769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</p:grpSp>
          <p:sp>
            <p:nvSpPr>
              <p:cNvPr id="76" name="TextBox 76"/>
              <p:cNvSpPr txBox="1"/>
              <p:nvPr/>
            </p:nvSpPr>
            <p:spPr>
              <a:xfrm>
                <a:off x="8188642" y="3833336"/>
                <a:ext cx="1009936" cy="3505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72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未来深化</a:t>
                </a:r>
                <a:endParaRPr lang="zh-CN" sz="172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77" name="Line 77"/>
              <p:cNvSpPr/>
              <p:nvPr/>
            </p:nvSpPr>
            <p:spPr>
              <a:xfrm>
                <a:off x="7810500" y="4229100"/>
                <a:ext cx="3505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505200" h="9525">
                    <a:moveTo>
                      <a:pt x="0" y="0"/>
                    </a:moveTo>
                    <a:lnTo>
                      <a:pt x="3505200" y="0"/>
                    </a:lnTo>
                  </a:path>
                </a:pathLst>
              </a:custGeom>
              <a:noFill/>
              <a:ln w="9525">
                <a:solidFill>
                  <a:srgbClr val="CBD5E1"/>
                </a:solidFill>
              </a:ln>
            </p:spPr>
          </p:sp>
          <p:sp>
            <p:nvSpPr>
              <p:cNvPr id="78" name="Ellipse 78"/>
              <p:cNvSpPr/>
              <p:nvPr/>
            </p:nvSpPr>
            <p:spPr>
              <a:xfrm>
                <a:off x="7886700" y="4495800"/>
                <a:ext cx="76200" cy="76200"/>
              </a:xfrm>
              <a:prstGeom prst="ellipse">
                <a:avLst/>
              </a:prstGeom>
              <a:solidFill>
                <a:srgbClr val="16A34A"/>
              </a:solidFill>
              <a:ln>
                <a:noFill/>
              </a:ln>
            </p:spPr>
          </p:sp>
          <p:sp>
            <p:nvSpPr>
              <p:cNvPr id="79" name="TextBox 79"/>
              <p:cNvSpPr txBox="1"/>
              <p:nvPr/>
            </p:nvSpPr>
            <p:spPr>
              <a:xfrm>
                <a:off x="8081010" y="4461510"/>
                <a:ext cx="269481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接入真实 ASR/VLM 与真人草图采集。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0" name="Ellipse 80"/>
              <p:cNvSpPr/>
              <p:nvPr/>
            </p:nvSpPr>
            <p:spPr>
              <a:xfrm>
                <a:off x="7886700" y="4838700"/>
                <a:ext cx="76200" cy="76200"/>
              </a:xfrm>
              <a:prstGeom prst="ellipse">
                <a:avLst/>
              </a:prstGeom>
              <a:solidFill>
                <a:srgbClr val="16A34A"/>
              </a:solidFill>
              <a:ln>
                <a:noFill/>
              </a:ln>
            </p:spPr>
          </p:sp>
          <p:sp>
            <p:nvSpPr>
              <p:cNvPr id="81" name="TextBox 81"/>
              <p:cNvSpPr txBox="1"/>
              <p:nvPr/>
            </p:nvSpPr>
            <p:spPr>
              <a:xfrm>
                <a:off x="8081010" y="4804410"/>
                <a:ext cx="2806827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记录用户修改轨迹，训练 edit policy。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82" name="Ellipse 82"/>
              <p:cNvSpPr/>
              <p:nvPr/>
            </p:nvSpPr>
            <p:spPr>
              <a:xfrm>
                <a:off x="7886700" y="5181600"/>
                <a:ext cx="76200" cy="76200"/>
              </a:xfrm>
              <a:prstGeom prst="ellipse">
                <a:avLst/>
              </a:prstGeom>
              <a:solidFill>
                <a:srgbClr val="16A34A"/>
              </a:solidFill>
              <a:ln>
                <a:noFill/>
              </a:ln>
            </p:spPr>
          </p:sp>
          <p:sp>
            <p:nvSpPr>
              <p:cNvPr id="83" name="TextBox 83"/>
              <p:cNvSpPr txBox="1"/>
              <p:nvPr/>
            </p:nvSpPr>
            <p:spPr>
              <a:xfrm>
                <a:off x="8081010" y="5090160"/>
                <a:ext cx="275082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用路径能量做排序、诊断和主动交互。</a:t>
                </a:r>
                <a:endParaRPr lang="zh-CN" sz="120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88" name="Group 88"/>
          <p:cNvGrpSpPr/>
          <p:nvPr/>
        </p:nvGrpSpPr>
        <p:grpSpPr>
          <a:xfrm>
            <a:off x="1409700" y="5772150"/>
            <a:ext cx="9372600" cy="476250"/>
            <a:chOff x="1409700" y="5772150"/>
            <a:chExt cx="9372600" cy="476250"/>
          </a:xfrm>
        </p:grpSpPr>
        <p:sp>
          <p:nvSpPr>
            <p:cNvPr id="86" name="Rectangle 86"/>
            <p:cNvSpPr/>
            <p:nvPr/>
          </p:nvSpPr>
          <p:spPr>
            <a:xfrm>
              <a:off x="1409700" y="5772150"/>
              <a:ext cx="9372600" cy="476250"/>
            </a:xfrm>
            <a:prstGeom prst="roundRect">
              <a:avLst>
                <a:gd name="adj" fmla="val 16000"/>
              </a:avLst>
            </a:prstGeom>
            <a:solidFill>
              <a:srgbClr val="155E75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2014847" y="5921692"/>
              <a:ext cx="816230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价值不在夸大数字，而在把语音草图恢复变成可定义、可评测、可诊断、可继续训练的科研问题。</a:t>
              </a:r>
              <a:endParaRPr lang="zh-CN" sz="135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79845"/>
              <a:ext cx="18530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Results Boundary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12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/>
      <p:bldP spid="85" grpId="0"/>
      <p:bldP spid="8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7210" y="375285"/>
            <a:ext cx="6873430" cy="762953"/>
            <a:chOff x="537210" y="375285"/>
            <a:chExt cx="6873430" cy="762953"/>
          </a:xfrm>
        </p:grpSpPr>
        <p:sp>
          <p:nvSpPr>
            <p:cNvPr id="3" name="TextBox 3"/>
            <p:cNvSpPr txBox="1"/>
            <p:nvPr/>
          </p:nvSpPr>
          <p:spPr>
            <a:xfrm>
              <a:off x="537210" y="375285"/>
              <a:ext cx="687343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项目知识图谱：我们实际完成了哪些节点</a:t>
              </a:r>
              <a:endParaRPr lang="zh-CN" sz="27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54355" y="863918"/>
              <a:ext cx="579501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把应用侧、科研侧和工程侧放到同一张图里，展示成果之间的依赖关系。</a:t>
              </a:r>
              <a:endParaRPr lang="zh-CN" sz="13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676400" y="1104900"/>
            <a:ext cx="8839200" cy="4705350"/>
            <a:chOff x="1676400" y="1104900"/>
            <a:chExt cx="8839200" cy="4705350"/>
          </a:xfrm>
        </p:grpSpPr>
        <p:sp>
          <p:nvSpPr>
            <p:cNvPr id="6" name="Line 6"/>
            <p:cNvSpPr/>
            <p:nvPr/>
          </p:nvSpPr>
          <p:spPr>
            <a:xfrm flipH="1" flipV="1">
              <a:off x="2286000" y="1809750"/>
              <a:ext cx="3810000" cy="150495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7" name="Line 7"/>
            <p:cNvSpPr/>
            <p:nvPr/>
          </p:nvSpPr>
          <p:spPr>
            <a:xfrm flipH="1" flipV="1">
              <a:off x="1676400" y="3200400"/>
              <a:ext cx="4419600" cy="11430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8" name="Line 8"/>
            <p:cNvSpPr/>
            <p:nvPr/>
          </p:nvSpPr>
          <p:spPr>
            <a:xfrm flipH="1">
              <a:off x="2324100" y="3314700"/>
              <a:ext cx="3771900" cy="148590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9" name="Line 9"/>
            <p:cNvSpPr/>
            <p:nvPr/>
          </p:nvSpPr>
          <p:spPr>
            <a:xfrm flipH="1" flipV="1">
              <a:off x="4857750" y="1581150"/>
              <a:ext cx="1238250" cy="173355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0" name="Line 10"/>
            <p:cNvSpPr/>
            <p:nvPr/>
          </p:nvSpPr>
          <p:spPr>
            <a:xfrm flipV="1">
              <a:off x="6096000" y="1581150"/>
              <a:ext cx="1238250" cy="173355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1" name="Line 11"/>
            <p:cNvSpPr/>
            <p:nvPr/>
          </p:nvSpPr>
          <p:spPr>
            <a:xfrm flipV="1">
              <a:off x="6096000" y="1809750"/>
              <a:ext cx="3771900" cy="150495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2" name="Line 12"/>
            <p:cNvSpPr/>
            <p:nvPr/>
          </p:nvSpPr>
          <p:spPr>
            <a:xfrm flipV="1">
              <a:off x="6096000" y="3200400"/>
              <a:ext cx="4419600" cy="11430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3" name="Line 13"/>
            <p:cNvSpPr/>
            <p:nvPr/>
          </p:nvSpPr>
          <p:spPr>
            <a:xfrm>
              <a:off x="6096000" y="3314700"/>
              <a:ext cx="3752850" cy="150495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4" name="Line 14"/>
            <p:cNvSpPr/>
            <p:nvPr/>
          </p:nvSpPr>
          <p:spPr>
            <a:xfrm>
              <a:off x="6096000" y="3314700"/>
              <a:ext cx="1" cy="1828800"/>
            </a:xfrm>
            <a:prstGeom prst="line">
              <a:avLst/>
            </a:prstGeom>
            <a:noFill/>
            <a:ln w="20955">
              <a:solidFill>
                <a:srgbClr val="CBD5E1"/>
              </a:solidFill>
              <a:tailEnd type="triangle" w="lg" len="lg"/>
            </a:ln>
          </p:spPr>
        </p:sp>
        <p:sp>
          <p:nvSpPr>
            <p:cNvPr id="15" name="Freeform 15"/>
            <p:cNvSpPr/>
            <p:nvPr/>
          </p:nvSpPr>
          <p:spPr>
            <a:xfrm>
              <a:off x="3028950" y="1104900"/>
              <a:ext cx="2171700" cy="704850"/>
            </a:xfrm>
            <a:custGeom>
              <a:avLst/>
              <a:gdLst/>
              <a:ahLst/>
              <a:cxnLst/>
              <a:rect l="l" t="t" r="r" b="b"/>
              <a:pathLst>
                <a:path w="2171700" h="704850">
                  <a:moveTo>
                    <a:pt x="0" y="704850"/>
                  </a:moveTo>
                  <a:cubicBezTo>
                    <a:pt x="704850" y="0"/>
                    <a:pt x="1581150" y="19050"/>
                    <a:pt x="2171700" y="457200"/>
                  </a:cubicBezTo>
                </a:path>
              </a:pathLst>
            </a:custGeom>
            <a:noFill/>
            <a:ln w="15240">
              <a:solidFill>
                <a:srgbClr val="94A3B8"/>
              </a:solidFill>
              <a:custDash>
                <a:ds d="375000" sp="312500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7696200" y="1123950"/>
              <a:ext cx="2419350" cy="628650"/>
            </a:xfrm>
            <a:custGeom>
              <a:avLst/>
              <a:gdLst/>
              <a:ahLst/>
              <a:cxnLst/>
              <a:rect l="l" t="t" r="r" b="b"/>
              <a:pathLst>
                <a:path w="2419350" h="628650">
                  <a:moveTo>
                    <a:pt x="0" y="457200"/>
                  </a:moveTo>
                  <a:cubicBezTo>
                    <a:pt x="838200" y="0"/>
                    <a:pt x="1790700" y="19050"/>
                    <a:pt x="2419350" y="628650"/>
                  </a:cubicBezTo>
                </a:path>
              </a:pathLst>
            </a:custGeom>
            <a:noFill/>
            <a:ln w="15240">
              <a:solidFill>
                <a:srgbClr val="94A3B8"/>
              </a:solidFill>
              <a:custDash>
                <a:ds d="375000" sp="312500"/>
              </a:custDash>
            </a:ln>
          </p:spPr>
        </p:sp>
        <p:sp>
          <p:nvSpPr>
            <p:cNvPr id="17" name="Freeform 17"/>
            <p:cNvSpPr/>
            <p:nvPr/>
          </p:nvSpPr>
          <p:spPr>
            <a:xfrm>
              <a:off x="2895600" y="4838700"/>
              <a:ext cx="6381750" cy="971550"/>
            </a:xfrm>
            <a:custGeom>
              <a:avLst/>
              <a:gdLst/>
              <a:ahLst/>
              <a:cxnLst/>
              <a:rect l="l" t="t" r="r" b="b"/>
              <a:pathLst>
                <a:path w="6381750" h="971550">
                  <a:moveTo>
                    <a:pt x="0" y="0"/>
                  </a:moveTo>
                  <a:cubicBezTo>
                    <a:pt x="1200150" y="971550"/>
                    <a:pt x="4914900" y="971550"/>
                    <a:pt x="6381750" y="19050"/>
                  </a:cubicBezTo>
                </a:path>
              </a:pathLst>
            </a:custGeom>
            <a:noFill/>
            <a:ln w="15240">
              <a:solidFill>
                <a:srgbClr val="94A3B8"/>
              </a:solidFill>
              <a:custDash>
                <a:ds d="375000" sp="312500"/>
              </a:custDash>
            </a:ln>
          </p:spPr>
        </p:sp>
      </p:grpSp>
      <p:grpSp>
        <p:nvGrpSpPr>
          <p:cNvPr id="31" name="Group 31"/>
          <p:cNvGrpSpPr/>
          <p:nvPr/>
        </p:nvGrpSpPr>
        <p:grpSpPr>
          <a:xfrm>
            <a:off x="5105400" y="2781300"/>
            <a:ext cx="1981200" cy="1083469"/>
            <a:chOff x="5105400" y="2781300"/>
            <a:chExt cx="1981200" cy="1083469"/>
          </a:xfrm>
        </p:grpSpPr>
        <p:sp>
          <p:nvSpPr>
            <p:cNvPr id="19" name="Rectangle 19"/>
            <p:cNvSpPr/>
            <p:nvPr/>
          </p:nvSpPr>
          <p:spPr>
            <a:xfrm>
              <a:off x="5105400" y="2781300"/>
              <a:ext cx="1981200" cy="1066800"/>
            </a:xfrm>
            <a:prstGeom prst="roundRect">
              <a:avLst>
                <a:gd name="adj" fmla="val 7143"/>
              </a:avLst>
            </a:prstGeom>
            <a:solidFill>
              <a:srgbClr val="155E75"/>
            </a:solidFill>
            <a:ln>
              <a:noFill/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28" name="Group 28"/>
            <p:cNvGrpSpPr/>
            <p:nvPr/>
          </p:nvGrpSpPr>
          <p:grpSpPr>
            <a:xfrm>
              <a:off x="5857875" y="3038475"/>
              <a:ext cx="285750" cy="301625"/>
              <a:chOff x="5857875" y="3038475"/>
              <a:chExt cx="285750" cy="3016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5905500" y="3038475"/>
                <a:ext cx="1905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90500">
                    <a:moveTo>
                      <a:pt x="0" y="95250"/>
                    </a:moveTo>
                    <a:cubicBezTo>
                      <a:pt x="0" y="147855"/>
                      <a:pt x="42645" y="190500"/>
                      <a:pt x="95250" y="190500"/>
                    </a:cubicBezTo>
                    <a:cubicBezTo>
                      <a:pt x="147855" y="190500"/>
                      <a:pt x="190500" y="147855"/>
                      <a:pt x="190500" y="95250"/>
                    </a:cubicBezTo>
                    <a:cubicBezTo>
                      <a:pt x="190500" y="42645"/>
                      <a:pt x="147855" y="0"/>
                      <a:pt x="95250" y="0"/>
                    </a:cubicBezTo>
                    <a:cubicBezTo>
                      <a:pt x="42645" y="0"/>
                      <a:pt x="0" y="42645"/>
                      <a:pt x="0" y="952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6000750" y="3038475"/>
                <a:ext cx="3175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190500">
                    <a:moveTo>
                      <a:pt x="0" y="0"/>
                    </a:moveTo>
                    <a:cubicBezTo>
                      <a:pt x="21161" y="5286"/>
                      <a:pt x="31750" y="37036"/>
                      <a:pt x="31750" y="95250"/>
                    </a:cubicBezTo>
                    <a:cubicBezTo>
                      <a:pt x="31750" y="153464"/>
                      <a:pt x="21161" y="185214"/>
                      <a:pt x="0" y="19050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5969000" y="3038475"/>
                <a:ext cx="3175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1750" h="190500">
                    <a:moveTo>
                      <a:pt x="31750" y="0"/>
                    </a:moveTo>
                    <a:cubicBezTo>
                      <a:pt x="10589" y="5286"/>
                      <a:pt x="0" y="37036"/>
                      <a:pt x="0" y="95250"/>
                    </a:cubicBezTo>
                    <a:cubicBezTo>
                      <a:pt x="0" y="153464"/>
                      <a:pt x="10589" y="185214"/>
                      <a:pt x="31750" y="19050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5905500" y="3133725"/>
                <a:ext cx="190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9525">
                    <a:moveTo>
                      <a:pt x="0" y="0"/>
                    </a:moveTo>
                    <a:lnTo>
                      <a:pt x="190500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5857875" y="3308350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6032500" y="3308350"/>
                <a:ext cx="111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9525">
                    <a:moveTo>
                      <a:pt x="0" y="0"/>
                    </a:moveTo>
                    <a:lnTo>
                      <a:pt x="111125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5969000" y="327660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31750"/>
                    </a:moveTo>
                    <a:cubicBezTo>
                      <a:pt x="0" y="49285"/>
                      <a:pt x="14215" y="63500"/>
                      <a:pt x="31750" y="63500"/>
                    </a:cubicBezTo>
                    <a:cubicBezTo>
                      <a:pt x="49285" y="63500"/>
                      <a:pt x="63500" y="49285"/>
                      <a:pt x="63500" y="31750"/>
                    </a:cubicBezTo>
                    <a:cubicBezTo>
                      <a:pt x="63500" y="14215"/>
                      <a:pt x="49285" y="0"/>
                      <a:pt x="31750" y="0"/>
                    </a:cubicBezTo>
                    <a:cubicBezTo>
                      <a:pt x="14215" y="0"/>
                      <a:pt x="0" y="14215"/>
                      <a:pt x="0" y="31750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6000750" y="3228975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29" name="TextBox 29"/>
            <p:cNvSpPr txBox="1"/>
            <p:nvPr/>
          </p:nvSpPr>
          <p:spPr>
            <a:xfrm>
              <a:off x="5279436" y="3351848"/>
              <a:ext cx="1633128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95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</a:t>
              </a:r>
              <a:endParaRPr lang="zh-CN" sz="195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63490" y="3666649"/>
              <a:ext cx="146502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CCFBF1"/>
                  </a:solidFill>
                  <a:latin typeface="Consolas" panose="020B0609020204030204"/>
                  <a:ea typeface="微软雅黑" panose="020B0503020204020204" charset="-122"/>
                  <a:cs typeface="Consolas" panose="020B0609020204030204"/>
                </a:rPr>
                <a:t>speech + sketch to KG</a:t>
              </a:r>
              <a:endParaRPr lang="zh-CN" sz="975" b="1" dirty="0">
                <a:solidFill>
                  <a:srgbClr val="CCFBF1"/>
                </a:solidFill>
                <a:latin typeface="Consolas" panose="020B0609020204030204"/>
                <a:ea typeface="微软雅黑" panose="020B0503020204020204" charset="-122"/>
                <a:cs typeface="Consolas" panose="020B0609020204030204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819150" y="1390650"/>
            <a:ext cx="2371773" cy="876300"/>
            <a:chOff x="819150" y="1390650"/>
            <a:chExt cx="2371773" cy="876300"/>
          </a:xfrm>
        </p:grpSpPr>
        <p:sp>
          <p:nvSpPr>
            <p:cNvPr id="32" name="Rectangle 32"/>
            <p:cNvSpPr/>
            <p:nvPr/>
          </p:nvSpPr>
          <p:spPr>
            <a:xfrm>
              <a:off x="819150" y="1390650"/>
              <a:ext cx="23241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37" name="Group 37"/>
            <p:cNvGrpSpPr/>
            <p:nvPr/>
          </p:nvGrpSpPr>
          <p:grpSpPr>
            <a:xfrm>
              <a:off x="1066800" y="1708150"/>
              <a:ext cx="228600" cy="212725"/>
              <a:chOff x="1066800" y="1708150"/>
              <a:chExt cx="228600" cy="212725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1066800" y="1708150"/>
                <a:ext cx="2286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52400">
                    <a:moveTo>
                      <a:pt x="0" y="12700"/>
                    </a:moveTo>
                    <a:cubicBezTo>
                      <a:pt x="0" y="5686"/>
                      <a:pt x="5686" y="0"/>
                      <a:pt x="12700" y="0"/>
                    </a:cubicBezTo>
                    <a:lnTo>
                      <a:pt x="215900" y="0"/>
                    </a:lnTo>
                    <a:cubicBezTo>
                      <a:pt x="222914" y="0"/>
                      <a:pt x="228600" y="5686"/>
                      <a:pt x="228600" y="12700"/>
                    </a:cubicBezTo>
                    <a:lnTo>
                      <a:pt x="228600" y="139700"/>
                    </a:lnTo>
                    <a:cubicBezTo>
                      <a:pt x="228600" y="146714"/>
                      <a:pt x="222914" y="152400"/>
                      <a:pt x="215900" y="152400"/>
                    </a:cubicBezTo>
                    <a:lnTo>
                      <a:pt x="12700" y="152400"/>
                    </a:lnTo>
                    <a:cubicBezTo>
                      <a:pt x="5686" y="152400"/>
                      <a:pt x="0" y="146714"/>
                      <a:pt x="0" y="139700"/>
                    </a:cubicBezTo>
                    <a:lnTo>
                      <a:pt x="0" y="12700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117600" y="1911350"/>
                <a:ext cx="127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9525">
                    <a:moveTo>
                      <a:pt x="0" y="0"/>
                    </a:moveTo>
                    <a:lnTo>
                      <a:pt x="127000" y="0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43000" y="186055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0"/>
                    </a:moveTo>
                    <a:lnTo>
                      <a:pt x="0" y="50800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1219200" y="1860550"/>
                <a:ext cx="9525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50800">
                    <a:moveTo>
                      <a:pt x="0" y="0"/>
                    </a:moveTo>
                    <a:lnTo>
                      <a:pt x="0" y="50800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449705" y="157829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产品原型</a:t>
              </a:r>
              <a:endParaRPr lang="zh-CN" sz="135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83005" y="1931353"/>
              <a:ext cx="200791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Web 工作台、画布、录音、上传</a:t>
              </a:r>
              <a:endParaRPr lang="zh-CN" sz="10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552450" y="2857500"/>
            <a:ext cx="2247900" cy="876300"/>
            <a:chOff x="552450" y="2857500"/>
            <a:chExt cx="2247900" cy="876300"/>
          </a:xfrm>
        </p:grpSpPr>
        <p:sp>
          <p:nvSpPr>
            <p:cNvPr id="41" name="Rectangle 41"/>
            <p:cNvSpPr/>
            <p:nvPr/>
          </p:nvSpPr>
          <p:spPr>
            <a:xfrm>
              <a:off x="552450" y="2857500"/>
              <a:ext cx="22479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46" name="Group 46"/>
            <p:cNvGrpSpPr/>
            <p:nvPr/>
          </p:nvGrpSpPr>
          <p:grpSpPr>
            <a:xfrm>
              <a:off x="774700" y="3225800"/>
              <a:ext cx="279400" cy="101600"/>
              <a:chOff x="774700" y="3225800"/>
              <a:chExt cx="279400" cy="1016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1016000" y="3225800"/>
                <a:ext cx="381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01600">
                    <a:moveTo>
                      <a:pt x="0" y="101600"/>
                    </a:moveTo>
                    <a:lnTo>
                      <a:pt x="0" y="0"/>
                    </a:lnTo>
                    <a:lnTo>
                      <a:pt x="38100" y="101600"/>
                    </a:ln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927100" y="3225800"/>
                <a:ext cx="508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101600">
                    <a:moveTo>
                      <a:pt x="25400" y="0"/>
                    </a:moveTo>
                    <a:cubicBezTo>
                      <a:pt x="39428" y="0"/>
                      <a:pt x="50800" y="11372"/>
                      <a:pt x="50800" y="25400"/>
                    </a:cubicBezTo>
                    <a:lnTo>
                      <a:pt x="50800" y="76200"/>
                    </a:lnTo>
                    <a:cubicBezTo>
                      <a:pt x="50800" y="90228"/>
                      <a:pt x="39428" y="101600"/>
                      <a:pt x="25400" y="101600"/>
                    </a:cubicBezTo>
                    <a:cubicBezTo>
                      <a:pt x="11372" y="101600"/>
                      <a:pt x="0" y="90228"/>
                      <a:pt x="0" y="76200"/>
                    </a:cubicBezTo>
                    <a:lnTo>
                      <a:pt x="0" y="25400"/>
                    </a:lnTo>
                    <a:cubicBezTo>
                      <a:pt x="0" y="11372"/>
                      <a:pt x="11372" y="0"/>
                      <a:pt x="25400" y="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774700" y="3225800"/>
                <a:ext cx="381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01600">
                    <a:moveTo>
                      <a:pt x="0" y="0"/>
                    </a:moveTo>
                    <a:lnTo>
                      <a:pt x="38100" y="0"/>
                    </a:lnTo>
                    <a:lnTo>
                      <a:pt x="38100" y="82550"/>
                    </a:lnTo>
                    <a:cubicBezTo>
                      <a:pt x="38100" y="93071"/>
                      <a:pt x="29571" y="101600"/>
                      <a:pt x="19050" y="101600"/>
                    </a:cubicBezTo>
                    <a:cubicBezTo>
                      <a:pt x="8529" y="101600"/>
                      <a:pt x="0" y="93071"/>
                      <a:pt x="0" y="82550"/>
                    </a:cubicBezTo>
                    <a:lnTo>
                      <a:pt x="0" y="7620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50900" y="3225800"/>
                <a:ext cx="381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01600">
                    <a:moveTo>
                      <a:pt x="0" y="88900"/>
                    </a:moveTo>
                    <a:cubicBezTo>
                      <a:pt x="0" y="95914"/>
                      <a:pt x="5686" y="101600"/>
                      <a:pt x="12700" y="101600"/>
                    </a:cubicBezTo>
                    <a:lnTo>
                      <a:pt x="25400" y="101600"/>
                    </a:lnTo>
                    <a:cubicBezTo>
                      <a:pt x="32414" y="101600"/>
                      <a:pt x="38100" y="95914"/>
                      <a:pt x="38100" y="88900"/>
                    </a:cubicBezTo>
                    <a:lnTo>
                      <a:pt x="38100" y="63500"/>
                    </a:lnTo>
                    <a:cubicBezTo>
                      <a:pt x="38100" y="56486"/>
                      <a:pt x="32414" y="50800"/>
                      <a:pt x="25400" y="50800"/>
                    </a:cubicBezTo>
                    <a:lnTo>
                      <a:pt x="12700" y="50800"/>
                    </a:lnTo>
                    <a:cubicBezTo>
                      <a:pt x="5686" y="50800"/>
                      <a:pt x="0" y="45114"/>
                      <a:pt x="0" y="38100"/>
                    </a:cubicBez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lnTo>
                      <a:pt x="25400" y="0"/>
                    </a:lnTo>
                    <a:cubicBezTo>
                      <a:pt x="32414" y="0"/>
                      <a:pt x="38100" y="5686"/>
                      <a:pt x="38100" y="127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1183005" y="304514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结构输出</a:t>
              </a:r>
              <a:endParaRPr lang="zh-CN" sz="135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74700" y="3390583"/>
              <a:ext cx="189590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Mermaid、SVG、JSON 可下载</a:t>
              </a:r>
              <a:endParaRPr lang="zh-CN" sz="10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38200" y="4476750"/>
            <a:ext cx="2400300" cy="876300"/>
            <a:chOff x="838200" y="4476750"/>
            <a:chExt cx="2400300" cy="876300"/>
          </a:xfrm>
        </p:grpSpPr>
        <p:sp>
          <p:nvSpPr>
            <p:cNvPr id="50" name="Rectangle 50"/>
            <p:cNvSpPr/>
            <p:nvPr/>
          </p:nvSpPr>
          <p:spPr>
            <a:xfrm>
              <a:off x="838200" y="4476750"/>
              <a:ext cx="24003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53" name="Group 53"/>
            <p:cNvGrpSpPr/>
            <p:nvPr/>
          </p:nvGrpSpPr>
          <p:grpSpPr>
            <a:xfrm>
              <a:off x="1085850" y="4819650"/>
              <a:ext cx="228600" cy="152400"/>
              <a:chOff x="1085850" y="4819650"/>
              <a:chExt cx="228600" cy="15240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1238250" y="4839578"/>
                <a:ext cx="76200" cy="112544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12544">
                    <a:moveTo>
                      <a:pt x="0" y="30872"/>
                    </a:moveTo>
                    <a:lnTo>
                      <a:pt x="57823" y="1967"/>
                    </a:lnTo>
                    <a:cubicBezTo>
                      <a:pt x="61759" y="0"/>
                      <a:pt x="66432" y="210"/>
                      <a:pt x="70175" y="2523"/>
                    </a:cubicBezTo>
                    <a:cubicBezTo>
                      <a:pt x="73918" y="4836"/>
                      <a:pt x="76198" y="8921"/>
                      <a:pt x="76200" y="13321"/>
                    </a:cubicBezTo>
                    <a:lnTo>
                      <a:pt x="76200" y="99223"/>
                    </a:lnTo>
                    <a:cubicBezTo>
                      <a:pt x="76198" y="103623"/>
                      <a:pt x="73918" y="107708"/>
                      <a:pt x="70175" y="110021"/>
                    </a:cubicBezTo>
                    <a:cubicBezTo>
                      <a:pt x="66432" y="112333"/>
                      <a:pt x="61759" y="112544"/>
                      <a:pt x="57823" y="110577"/>
                    </a:cubicBezTo>
                    <a:lnTo>
                      <a:pt x="0" y="81672"/>
                    </a:lnTo>
                    <a:lnTo>
                      <a:pt x="0" y="30872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1085850" y="481965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27000" y="0"/>
                    </a:lnTo>
                    <a:cubicBezTo>
                      <a:pt x="141028" y="0"/>
                      <a:pt x="152400" y="11372"/>
                      <a:pt x="152400" y="25400"/>
                    </a:cubicBezTo>
                    <a:lnTo>
                      <a:pt x="152400" y="127000"/>
                    </a:lnTo>
                    <a:cubicBezTo>
                      <a:pt x="152400" y="141028"/>
                      <a:pt x="141028" y="152400"/>
                      <a:pt x="127000" y="152400"/>
                    </a:cubicBezTo>
                    <a:lnTo>
                      <a:pt x="25400" y="152400"/>
                    </a:lnTo>
                    <a:cubicBezTo>
                      <a:pt x="11372" y="152400"/>
                      <a:pt x="0" y="141028"/>
                      <a:pt x="0" y="1270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19050">
                <a:solidFill>
                  <a:srgbClr val="F59E0B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468755" y="4664392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终稿与讲解</a:t>
              </a:r>
              <a:endParaRPr lang="zh-CN" sz="135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66800" y="5039678"/>
              <a:ext cx="206392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图像生成、TTS、光标讲解 WebM</a:t>
              </a:r>
              <a:endParaRPr lang="zh-CN" sz="10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3905250" y="1219200"/>
            <a:ext cx="2190750" cy="800100"/>
            <a:chOff x="3905250" y="1219200"/>
            <a:chExt cx="2190750" cy="800100"/>
          </a:xfrm>
        </p:grpSpPr>
        <p:sp>
          <p:nvSpPr>
            <p:cNvPr id="57" name="Rectangle 57"/>
            <p:cNvSpPr/>
            <p:nvPr/>
          </p:nvSpPr>
          <p:spPr>
            <a:xfrm>
              <a:off x="3905250" y="1219200"/>
              <a:ext cx="2190750" cy="800100"/>
            </a:xfrm>
            <a:prstGeom prst="roundRect">
              <a:avLst>
                <a:gd name="adj" fmla="val 9524"/>
              </a:avLst>
            </a:prstGeom>
            <a:solidFill>
              <a:srgbClr val="E0F2FE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61" name="Group 61"/>
            <p:cNvGrpSpPr/>
            <p:nvPr/>
          </p:nvGrpSpPr>
          <p:grpSpPr>
            <a:xfrm>
              <a:off x="4150519" y="1502569"/>
              <a:ext cx="214312" cy="214312"/>
              <a:chOff x="4150519" y="1502569"/>
              <a:chExt cx="214312" cy="214312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4245769" y="1597819"/>
                <a:ext cx="23812" cy="23812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23812">
                    <a:moveTo>
                      <a:pt x="0" y="11906"/>
                    </a:moveTo>
                    <a:cubicBezTo>
                      <a:pt x="0" y="18482"/>
                      <a:pt x="5331" y="23812"/>
                      <a:pt x="11906" y="23812"/>
                    </a:cubicBezTo>
                    <a:cubicBezTo>
                      <a:pt x="18482" y="23812"/>
                      <a:pt x="23812" y="18482"/>
                      <a:pt x="23812" y="11906"/>
                    </a:cubicBezTo>
                    <a:cubicBezTo>
                      <a:pt x="23812" y="5331"/>
                      <a:pt x="18482" y="0"/>
                      <a:pt x="11906" y="0"/>
                    </a:cubicBezTo>
                    <a:cubicBezTo>
                      <a:pt x="5331" y="0"/>
                      <a:pt x="0" y="5331"/>
                      <a:pt x="0" y="11906"/>
                    </a:cubicBez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4198144" y="1550194"/>
                <a:ext cx="119062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119062">
                    <a:moveTo>
                      <a:pt x="0" y="59531"/>
                    </a:moveTo>
                    <a:cubicBezTo>
                      <a:pt x="0" y="92409"/>
                      <a:pt x="26653" y="119062"/>
                      <a:pt x="59531" y="119062"/>
                    </a:cubicBezTo>
                    <a:cubicBezTo>
                      <a:pt x="92409" y="119062"/>
                      <a:pt x="119062" y="92409"/>
                      <a:pt x="119062" y="59531"/>
                    </a:cubicBezTo>
                    <a:cubicBezTo>
                      <a:pt x="119062" y="26653"/>
                      <a:pt x="92409" y="0"/>
                      <a:pt x="59531" y="0"/>
                    </a:cubicBezTo>
                    <a:cubicBezTo>
                      <a:pt x="26653" y="0"/>
                      <a:pt x="0" y="26653"/>
                      <a:pt x="0" y="59531"/>
                    </a:cubicBez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4150519" y="1502569"/>
                <a:ext cx="214312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214312" h="214312">
                    <a:moveTo>
                      <a:pt x="0" y="107156"/>
                    </a:moveTo>
                    <a:cubicBezTo>
                      <a:pt x="0" y="166337"/>
                      <a:pt x="47975" y="214312"/>
                      <a:pt x="107156" y="214312"/>
                    </a:cubicBezTo>
                    <a:cubicBezTo>
                      <a:pt x="166337" y="214312"/>
                      <a:pt x="214312" y="166337"/>
                      <a:pt x="214312" y="107156"/>
                    </a:cubicBezTo>
                    <a:cubicBezTo>
                      <a:pt x="214312" y="47975"/>
                      <a:pt x="166337" y="0"/>
                      <a:pt x="107156" y="0"/>
                    </a:cubicBezTo>
                    <a:cubicBezTo>
                      <a:pt x="47975" y="0"/>
                      <a:pt x="0" y="47975"/>
                      <a:pt x="0" y="107156"/>
                    </a:cubicBez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4517708" y="138636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科研任务</a:t>
              </a:r>
              <a:endParaRPr lang="zh-CN" sz="1275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450398" y="1733709"/>
              <a:ext cx="145494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语音引导知识草图结构化</a:t>
              </a:r>
              <a:endParaRPr lang="zh-CN" sz="97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6096000" y="1219200"/>
            <a:ext cx="2245376" cy="800100"/>
            <a:chOff x="6096000" y="1219200"/>
            <a:chExt cx="2245376" cy="800100"/>
          </a:xfrm>
        </p:grpSpPr>
        <p:sp>
          <p:nvSpPr>
            <p:cNvPr id="65" name="Rectangle 65"/>
            <p:cNvSpPr/>
            <p:nvPr/>
          </p:nvSpPr>
          <p:spPr>
            <a:xfrm>
              <a:off x="6096000" y="1219200"/>
              <a:ext cx="2190750" cy="800100"/>
            </a:xfrm>
            <a:prstGeom prst="roundRect">
              <a:avLst>
                <a:gd name="adj" fmla="val 9524"/>
              </a:avLst>
            </a:prstGeom>
            <a:solidFill>
              <a:srgbClr val="CCFBF1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72" name="Group 72"/>
            <p:cNvGrpSpPr/>
            <p:nvPr/>
          </p:nvGrpSpPr>
          <p:grpSpPr>
            <a:xfrm>
              <a:off x="6365081" y="1514475"/>
              <a:ext cx="178595" cy="190500"/>
              <a:chOff x="6365081" y="1514475"/>
              <a:chExt cx="178595" cy="190500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6365081" y="1657350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6365081" y="1514475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6484144" y="1514475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6388894" y="1562100"/>
                <a:ext cx="9525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0">
                    <a:moveTo>
                      <a:pt x="0" y="0"/>
                    </a:moveTo>
                    <a:lnTo>
                      <a:pt x="0" y="9525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6412706" y="1597819"/>
                <a:ext cx="95250" cy="83344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83344">
                    <a:moveTo>
                      <a:pt x="0" y="83344"/>
                    </a:moveTo>
                    <a:lnTo>
                      <a:pt x="71438" y="83344"/>
                    </a:lnTo>
                    <a:cubicBezTo>
                      <a:pt x="84589" y="83344"/>
                      <a:pt x="95250" y="72683"/>
                      <a:pt x="95250" y="59531"/>
                    </a:cubicBezTo>
                    <a:lnTo>
                      <a:pt x="9525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6472238" y="1597819"/>
                <a:ext cx="71438" cy="3571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35719">
                    <a:moveTo>
                      <a:pt x="0" y="35719"/>
                    </a:moveTo>
                    <a:lnTo>
                      <a:pt x="35719" y="0"/>
                    </a:lnTo>
                    <a:lnTo>
                      <a:pt x="71438" y="35719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6708458" y="1386364"/>
              <a:ext cx="74647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方法模型</a:t>
              </a:r>
              <a:endParaRPr lang="zh-CN" sz="1275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6249353" y="1733709"/>
              <a:ext cx="20920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MMSB-Graph、图编辑桥、路径能量</a:t>
              </a:r>
              <a:endParaRPr lang="zh-CN" sz="97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9048750" y="1390650"/>
            <a:ext cx="2376535" cy="876300"/>
            <a:chOff x="9048750" y="1390650"/>
            <a:chExt cx="2376535" cy="876300"/>
          </a:xfrm>
        </p:grpSpPr>
        <p:sp>
          <p:nvSpPr>
            <p:cNvPr id="76" name="Rectangle 76"/>
            <p:cNvSpPr/>
            <p:nvPr/>
          </p:nvSpPr>
          <p:spPr>
            <a:xfrm>
              <a:off x="9048750" y="1390650"/>
              <a:ext cx="23241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80" name="Group 80"/>
            <p:cNvGrpSpPr/>
            <p:nvPr/>
          </p:nvGrpSpPr>
          <p:grpSpPr>
            <a:xfrm>
              <a:off x="9309100" y="1695450"/>
              <a:ext cx="203200" cy="228600"/>
              <a:chOff x="9309100" y="1695450"/>
              <a:chExt cx="203200" cy="22860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9309100" y="1695450"/>
                <a:ext cx="203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76200">
                    <a:moveTo>
                      <a:pt x="0" y="38100"/>
                    </a:moveTo>
                    <a:cubicBezTo>
                      <a:pt x="0" y="59142"/>
                      <a:pt x="45488" y="76200"/>
                      <a:pt x="101600" y="76200"/>
                    </a:cubicBezTo>
                    <a:cubicBezTo>
                      <a:pt x="157712" y="76200"/>
                      <a:pt x="203200" y="59142"/>
                      <a:pt x="203200" y="38100"/>
                    </a:cubicBezTo>
                    <a:cubicBezTo>
                      <a:pt x="203200" y="17058"/>
                      <a:pt x="157712" y="0"/>
                      <a:pt x="101600" y="0"/>
                    </a:cubicBezTo>
                    <a:cubicBezTo>
                      <a:pt x="45488" y="0"/>
                      <a:pt x="0" y="17058"/>
                      <a:pt x="0" y="38100"/>
                    </a:cubicBez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9309100" y="1733550"/>
                <a:ext cx="2032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114300">
                    <a:moveTo>
                      <a:pt x="0" y="0"/>
                    </a:moveTo>
                    <a:lnTo>
                      <a:pt x="0" y="76200"/>
                    </a:lnTo>
                    <a:cubicBezTo>
                      <a:pt x="0" y="97242"/>
                      <a:pt x="45488" y="114300"/>
                      <a:pt x="101600" y="114300"/>
                    </a:cubicBezTo>
                    <a:cubicBezTo>
                      <a:pt x="157712" y="114300"/>
                      <a:pt x="203200" y="97242"/>
                      <a:pt x="203200" y="76200"/>
                    </a:cubicBezTo>
                    <a:lnTo>
                      <a:pt x="203200" y="0"/>
                    </a:ln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9309100" y="1809750"/>
                <a:ext cx="2032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114300">
                    <a:moveTo>
                      <a:pt x="0" y="0"/>
                    </a:moveTo>
                    <a:lnTo>
                      <a:pt x="0" y="76200"/>
                    </a:lnTo>
                    <a:cubicBezTo>
                      <a:pt x="0" y="97242"/>
                      <a:pt x="45488" y="114300"/>
                      <a:pt x="101600" y="114300"/>
                    </a:cubicBezTo>
                    <a:cubicBezTo>
                      <a:pt x="157712" y="114300"/>
                      <a:pt x="203200" y="97242"/>
                      <a:pt x="203200" y="76200"/>
                    </a:cubicBezTo>
                    <a:lnTo>
                      <a:pt x="203200" y="0"/>
                    </a:lnTo>
                  </a:path>
                </a:pathLst>
              </a:custGeom>
              <a:noFill/>
              <a:ln w="19050">
                <a:solidFill>
                  <a:srgbClr val="155E75"/>
                </a:solidFill>
              </a:ln>
            </p:spPr>
          </p:sp>
        </p:grpSp>
        <p:sp>
          <p:nvSpPr>
            <p:cNvPr id="81" name="TextBox 81"/>
            <p:cNvSpPr txBox="1"/>
            <p:nvPr/>
          </p:nvSpPr>
          <p:spPr>
            <a:xfrm>
              <a:off x="9679305" y="157829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数据资产</a:t>
              </a:r>
              <a:endParaRPr lang="zh-CN" sz="135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9277350" y="2018983"/>
              <a:ext cx="214793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24 cases、gold graph、语音锚点</a:t>
              </a:r>
              <a:endParaRPr lang="zh-CN" sz="10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9391650" y="2857500"/>
            <a:ext cx="2247900" cy="876300"/>
            <a:chOff x="9391650" y="2857500"/>
            <a:chExt cx="2247900" cy="876300"/>
          </a:xfrm>
        </p:grpSpPr>
        <p:sp>
          <p:nvSpPr>
            <p:cNvPr id="84" name="Rectangle 84"/>
            <p:cNvSpPr/>
            <p:nvPr/>
          </p:nvSpPr>
          <p:spPr>
            <a:xfrm>
              <a:off x="9391650" y="2857500"/>
              <a:ext cx="22479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91" name="Group 91"/>
            <p:cNvGrpSpPr/>
            <p:nvPr/>
          </p:nvGrpSpPr>
          <p:grpSpPr>
            <a:xfrm>
              <a:off x="9639300" y="3162300"/>
              <a:ext cx="228600" cy="228600"/>
              <a:chOff x="9639300" y="3162300"/>
              <a:chExt cx="228600" cy="22860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9639300" y="3162300"/>
                <a:ext cx="228600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228600">
                    <a:moveTo>
                      <a:pt x="0" y="0"/>
                    </a:moveTo>
                    <a:lnTo>
                      <a:pt x="0" y="228600"/>
                    </a:lnTo>
                    <a:lnTo>
                      <a:pt x="228600" y="228600"/>
                    </a:lnTo>
                  </a:path>
                </a:pathLst>
              </a:custGeom>
              <a:noFill/>
              <a:ln w="19050">
                <a:solidFill>
                  <a:srgbClr val="16A34A"/>
                </a:solidFill>
              </a:ln>
            </p:spPr>
          </p:sp>
          <p:sp>
            <p:nvSpPr>
              <p:cNvPr id="86" name="Freeform 86"/>
              <p:cNvSpPr/>
              <p:nvPr/>
            </p:nvSpPr>
            <p:spPr>
              <a:xfrm>
                <a:off x="9690100" y="321310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19050">
                <a:solidFill>
                  <a:srgbClr val="16A34A"/>
                </a:solidFill>
              </a:ln>
            </p:spPr>
          </p:sp>
          <p:sp>
            <p:nvSpPr>
              <p:cNvPr id="87" name="Freeform 87"/>
              <p:cNvSpPr/>
              <p:nvPr/>
            </p:nvSpPr>
            <p:spPr>
              <a:xfrm>
                <a:off x="9817100" y="318770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19050">
                <a:solidFill>
                  <a:srgbClr val="16A34A"/>
                </a:solidFill>
              </a:ln>
            </p:spPr>
          </p:sp>
          <p:sp>
            <p:nvSpPr>
              <p:cNvPr id="88" name="Freeform 88"/>
              <p:cNvSpPr/>
              <p:nvPr/>
            </p:nvSpPr>
            <p:spPr>
              <a:xfrm>
                <a:off x="9753600" y="328930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19050">
                <a:solidFill>
                  <a:srgbClr val="16A34A"/>
                </a:solidFill>
              </a:ln>
            </p:spPr>
          </p:sp>
          <p:sp>
            <p:nvSpPr>
              <p:cNvPr id="89" name="Freeform 89"/>
              <p:cNvSpPr/>
              <p:nvPr/>
            </p:nvSpPr>
            <p:spPr>
              <a:xfrm>
                <a:off x="9730232" y="3259074"/>
                <a:ext cx="29718" cy="36576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36576">
                    <a:moveTo>
                      <a:pt x="0" y="0"/>
                    </a:moveTo>
                    <a:lnTo>
                      <a:pt x="29718" y="36576"/>
                    </a:lnTo>
                  </a:path>
                </a:pathLst>
              </a:custGeom>
              <a:noFill/>
              <a:ln w="19050">
                <a:solidFill>
                  <a:srgbClr val="16A34A"/>
                </a:solidFill>
              </a:ln>
            </p:spPr>
          </p:sp>
          <p:sp>
            <p:nvSpPr>
              <p:cNvPr id="90" name="Freeform 90"/>
              <p:cNvSpPr/>
              <p:nvPr/>
            </p:nvSpPr>
            <p:spPr>
              <a:xfrm>
                <a:off x="9792818" y="3235223"/>
                <a:ext cx="36030" cy="58242"/>
              </a:xfrm>
              <a:custGeom>
                <a:avLst/>
                <a:gdLst/>
                <a:ahLst/>
                <a:cxnLst/>
                <a:rect l="l" t="t" r="r" b="b"/>
                <a:pathLst>
                  <a:path w="36030" h="58242">
                    <a:moveTo>
                      <a:pt x="0" y="58242"/>
                    </a:moveTo>
                    <a:lnTo>
                      <a:pt x="36030" y="0"/>
                    </a:lnTo>
                  </a:path>
                </a:pathLst>
              </a:custGeom>
              <a:noFill/>
              <a:ln w="19050">
                <a:solidFill>
                  <a:srgbClr val="16A34A"/>
                </a:solidFill>
              </a:ln>
            </p:spPr>
          </p:sp>
        </p:grpSp>
        <p:sp>
          <p:nvSpPr>
            <p:cNvPr id="92" name="TextBox 92"/>
            <p:cNvSpPr txBox="1"/>
            <p:nvPr/>
          </p:nvSpPr>
          <p:spPr>
            <a:xfrm>
              <a:off x="10022205" y="304514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评测结果</a:t>
              </a:r>
              <a:endParaRPr lang="zh-CN" sz="135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pic>
          <p:nvPicPr>
            <p:cNvPr id="93" name="Image 9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0039350" y="3295650"/>
              <a:ext cx="1524000" cy="209550"/>
            </a:xfrm>
            <a:prstGeom prst="rect">
              <a:avLst/>
            </a:prstGeom>
          </p:spPr>
        </p:pic>
      </p:grpSp>
      <p:grpSp>
        <p:nvGrpSpPr>
          <p:cNvPr id="103" name="Group 103"/>
          <p:cNvGrpSpPr/>
          <p:nvPr/>
        </p:nvGrpSpPr>
        <p:grpSpPr>
          <a:xfrm>
            <a:off x="8953500" y="4476750"/>
            <a:ext cx="2542604" cy="876300"/>
            <a:chOff x="8953500" y="4476750"/>
            <a:chExt cx="2542604" cy="876300"/>
          </a:xfrm>
        </p:grpSpPr>
        <p:sp>
          <p:nvSpPr>
            <p:cNvPr id="95" name="Rectangle 95"/>
            <p:cNvSpPr/>
            <p:nvPr/>
          </p:nvSpPr>
          <p:spPr>
            <a:xfrm>
              <a:off x="8953500" y="4476750"/>
              <a:ext cx="24003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100" name="Group 100"/>
            <p:cNvGrpSpPr/>
            <p:nvPr/>
          </p:nvGrpSpPr>
          <p:grpSpPr>
            <a:xfrm>
              <a:off x="9201150" y="4794250"/>
              <a:ext cx="228600" cy="203200"/>
              <a:chOff x="9201150" y="4794250"/>
              <a:chExt cx="228600" cy="203200"/>
            </a:xfrm>
          </p:grpSpPr>
          <p:sp>
            <p:nvSpPr>
              <p:cNvPr id="96" name="Freeform 96"/>
              <p:cNvSpPr/>
              <p:nvPr/>
            </p:nvSpPr>
            <p:spPr>
              <a:xfrm>
                <a:off x="9201150" y="4794250"/>
                <a:ext cx="2286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01600">
                    <a:moveTo>
                      <a:pt x="0" y="38100"/>
                    </a:moveTo>
                    <a:cubicBezTo>
                      <a:pt x="0" y="17058"/>
                      <a:pt x="17058" y="0"/>
                      <a:pt x="38100" y="0"/>
                    </a:cubicBezTo>
                    <a:lnTo>
                      <a:pt x="190500" y="0"/>
                    </a:lnTo>
                    <a:cubicBezTo>
                      <a:pt x="211542" y="0"/>
                      <a:pt x="228600" y="17058"/>
                      <a:pt x="228600" y="38100"/>
                    </a:cubicBezTo>
                    <a:lnTo>
                      <a:pt x="228600" y="63500"/>
                    </a:lnTo>
                    <a:cubicBezTo>
                      <a:pt x="228600" y="84542"/>
                      <a:pt x="211542" y="101600"/>
                      <a:pt x="190500" y="101600"/>
                    </a:cubicBezTo>
                    <a:lnTo>
                      <a:pt x="38100" y="101600"/>
                    </a:lnTo>
                    <a:cubicBezTo>
                      <a:pt x="17058" y="101600"/>
                      <a:pt x="0" y="84542"/>
                      <a:pt x="0" y="63500"/>
                    </a:cubicBez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97" name="Freeform 97"/>
              <p:cNvSpPr/>
              <p:nvPr/>
            </p:nvSpPr>
            <p:spPr>
              <a:xfrm>
                <a:off x="9201150" y="4895850"/>
                <a:ext cx="2286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01600">
                    <a:moveTo>
                      <a:pt x="0" y="38100"/>
                    </a:moveTo>
                    <a:cubicBezTo>
                      <a:pt x="0" y="17058"/>
                      <a:pt x="17058" y="0"/>
                      <a:pt x="38100" y="0"/>
                    </a:cubicBezTo>
                    <a:lnTo>
                      <a:pt x="190500" y="0"/>
                    </a:lnTo>
                    <a:cubicBezTo>
                      <a:pt x="211542" y="0"/>
                      <a:pt x="228600" y="17058"/>
                      <a:pt x="228600" y="38100"/>
                    </a:cubicBezTo>
                    <a:lnTo>
                      <a:pt x="228600" y="63500"/>
                    </a:lnTo>
                    <a:cubicBezTo>
                      <a:pt x="228600" y="84542"/>
                      <a:pt x="211542" y="101600"/>
                      <a:pt x="190500" y="101600"/>
                    </a:cubicBezTo>
                    <a:lnTo>
                      <a:pt x="38100" y="101600"/>
                    </a:lnTo>
                    <a:cubicBezTo>
                      <a:pt x="17058" y="101600"/>
                      <a:pt x="0" y="84542"/>
                      <a:pt x="0" y="63500"/>
                    </a:cubicBezTo>
                    <a:lnTo>
                      <a:pt x="0" y="38100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98" name="Freeform 98"/>
              <p:cNvSpPr/>
              <p:nvPr/>
            </p:nvSpPr>
            <p:spPr>
              <a:xfrm>
                <a:off x="9251950" y="48450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27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  <p:sp>
            <p:nvSpPr>
              <p:cNvPr id="99" name="Freeform 99"/>
              <p:cNvSpPr/>
              <p:nvPr/>
            </p:nvSpPr>
            <p:spPr>
              <a:xfrm>
                <a:off x="9251950" y="4946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27"/>
                    </a:lnTo>
                  </a:path>
                </a:pathLst>
              </a:custGeom>
              <a:noFill/>
              <a:ln w="19050">
                <a:solidFill>
                  <a:srgbClr val="2563EB"/>
                </a:solidFill>
              </a:ln>
            </p:spPr>
          </p:sp>
        </p:grpSp>
        <p:sp>
          <p:nvSpPr>
            <p:cNvPr id="101" name="TextBox 101"/>
            <p:cNvSpPr txBox="1"/>
            <p:nvPr/>
          </p:nvSpPr>
          <p:spPr>
            <a:xfrm>
              <a:off x="9584055" y="4664392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工程保障</a:t>
              </a:r>
              <a:endParaRPr lang="zh-CN" sz="135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02" name="TextBox 102"/>
            <p:cNvSpPr txBox="1"/>
            <p:nvPr/>
          </p:nvSpPr>
          <p:spPr>
            <a:xfrm>
              <a:off x="9201150" y="5039678"/>
              <a:ext cx="2294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FastAPI、mock fallback、分层服务</a:t>
              </a:r>
              <a:endParaRPr lang="zh-CN" sz="10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13" name="Group 113"/>
          <p:cNvGrpSpPr/>
          <p:nvPr/>
        </p:nvGrpSpPr>
        <p:grpSpPr>
          <a:xfrm>
            <a:off x="4857750" y="4953000"/>
            <a:ext cx="2476500" cy="876300"/>
            <a:chOff x="4857750" y="4953000"/>
            <a:chExt cx="2476500" cy="876300"/>
          </a:xfrm>
        </p:grpSpPr>
        <p:sp>
          <p:nvSpPr>
            <p:cNvPr id="104" name="Rectangle 104"/>
            <p:cNvSpPr/>
            <p:nvPr/>
          </p:nvSpPr>
          <p:spPr>
            <a:xfrm>
              <a:off x="4857750" y="4953000"/>
              <a:ext cx="2476500" cy="87630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  <a:effectLst>
              <a:outerShdw blurRad="76200" dist="28575" dir="5400000" algn="ctr" rotWithShape="0">
                <a:srgbClr val="172033">
                  <a:alpha val="6000"/>
                </a:srgbClr>
              </a:outerShdw>
            </a:effectLst>
          </p:spPr>
        </p:sp>
        <p:grpSp>
          <p:nvGrpSpPr>
            <p:cNvPr id="110" name="Group 110"/>
            <p:cNvGrpSpPr/>
            <p:nvPr/>
          </p:nvGrpSpPr>
          <p:grpSpPr>
            <a:xfrm>
              <a:off x="5105400" y="5308600"/>
              <a:ext cx="228600" cy="127000"/>
              <a:chOff x="5105400" y="5308600"/>
              <a:chExt cx="228600" cy="127000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5118100" y="5321300"/>
                <a:ext cx="203200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203200" h="101600">
                    <a:moveTo>
                      <a:pt x="0" y="101600"/>
                    </a:moveTo>
                    <a:lnTo>
                      <a:pt x="76200" y="12700"/>
                    </a:lnTo>
                    <a:lnTo>
                      <a:pt x="139700" y="76200"/>
                    </a:lnTo>
                    <a:lnTo>
                      <a:pt x="203200" y="0"/>
                    </a:ln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106" name="Freeform 106"/>
              <p:cNvSpPr/>
              <p:nvPr/>
            </p:nvSpPr>
            <p:spPr>
              <a:xfrm>
                <a:off x="5245100" y="538480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107" name="Freeform 107"/>
              <p:cNvSpPr/>
              <p:nvPr/>
            </p:nvSpPr>
            <p:spPr>
              <a:xfrm>
                <a:off x="5181600" y="532130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108" name="Freeform 108"/>
              <p:cNvSpPr/>
              <p:nvPr/>
            </p:nvSpPr>
            <p:spPr>
              <a:xfrm>
                <a:off x="5105400" y="541020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  <p:sp>
            <p:nvSpPr>
              <p:cNvPr id="109" name="Freeform 109"/>
              <p:cNvSpPr/>
              <p:nvPr/>
            </p:nvSpPr>
            <p:spPr>
              <a:xfrm>
                <a:off x="5308600" y="5308600"/>
                <a:ext cx="2540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25400">
                    <a:moveTo>
                      <a:pt x="0" y="12700"/>
                    </a:moveTo>
                    <a:cubicBezTo>
                      <a:pt x="0" y="19714"/>
                      <a:pt x="5686" y="25400"/>
                      <a:pt x="12700" y="25400"/>
                    </a:cubicBezTo>
                    <a:cubicBezTo>
                      <a:pt x="19714" y="25400"/>
                      <a:pt x="25400" y="19714"/>
                      <a:pt x="25400" y="12700"/>
                    </a:cubicBezTo>
                    <a:cubicBezTo>
                      <a:pt x="25400" y="5686"/>
                      <a:pt x="19714" y="0"/>
                      <a:pt x="12700" y="0"/>
                    </a:cubicBezTo>
                    <a:cubicBezTo>
                      <a:pt x="5686" y="0"/>
                      <a:pt x="0" y="5686"/>
                      <a:pt x="0" y="12700"/>
                    </a:cubicBezTo>
                  </a:path>
                </a:pathLst>
              </a:custGeom>
              <a:noFill/>
              <a:ln w="19050">
                <a:solidFill>
                  <a:srgbClr val="0F766E"/>
                </a:solidFill>
              </a:ln>
            </p:spPr>
          </p:sp>
        </p:grpSp>
        <p:sp>
          <p:nvSpPr>
            <p:cNvPr id="111" name="TextBox 111"/>
            <p:cNvSpPr txBox="1"/>
            <p:nvPr/>
          </p:nvSpPr>
          <p:spPr>
            <a:xfrm>
              <a:off x="5488305" y="5140642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可解释轨迹</a:t>
              </a:r>
              <a:endParaRPr lang="zh-CN" sz="135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2" name="TextBox 112"/>
            <p:cNvSpPr txBox="1"/>
            <p:nvPr/>
          </p:nvSpPr>
          <p:spPr>
            <a:xfrm>
              <a:off x="5181600" y="5529263"/>
              <a:ext cx="21269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中间图、编辑序列、路径能量诊断</a:t>
              </a:r>
              <a:endParaRPr lang="zh-CN" sz="1050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16" name="Group 116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114" name="TextBox 114"/>
            <p:cNvSpPr txBox="1"/>
            <p:nvPr/>
          </p:nvSpPr>
          <p:spPr>
            <a:xfrm>
              <a:off x="560070" y="6379845"/>
              <a:ext cx="22791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Project Knowledge Graph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15" name="TextBox 115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13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5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39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1" grpId="0"/>
      <p:bldP spid="40" grpId="0"/>
      <p:bldP spid="49" grpId="0"/>
      <p:bldP spid="56" grpId="0"/>
      <p:bldP spid="64" grpId="0"/>
      <p:bldP spid="75" grpId="0"/>
      <p:bldP spid="83" grpId="0"/>
      <p:bldP spid="94" grpId="0"/>
      <p:bldP spid="103" grpId="0"/>
      <p:bldP spid="1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171450"/>
            </a:xfrm>
            <a:prstGeom prst="rect">
              <a:avLst/>
            </a:prstGeom>
            <a:solidFill>
              <a:srgbClr val="155E75"/>
            </a:solidFill>
            <a:ln>
              <a:noFill/>
            </a:ln>
          </p:spPr>
        </p:sp>
      </p:grpSp>
      <p:grpSp>
        <p:nvGrpSpPr>
          <p:cNvPr id="7" name="Group 7"/>
          <p:cNvGrpSpPr/>
          <p:nvPr/>
        </p:nvGrpSpPr>
        <p:grpSpPr>
          <a:xfrm>
            <a:off x="1437322" y="495300"/>
            <a:ext cx="9317355" cy="821531"/>
            <a:chOff x="1437322" y="495300"/>
            <a:chExt cx="9317355" cy="821531"/>
          </a:xfrm>
        </p:grpSpPr>
        <p:sp>
          <p:nvSpPr>
            <p:cNvPr id="5" name="TextBox 5"/>
            <p:cNvSpPr txBox="1"/>
            <p:nvPr/>
          </p:nvSpPr>
          <p:spPr>
            <a:xfrm>
              <a:off x="1437322" y="495300"/>
              <a:ext cx="931735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00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总结：把自然表达升级为可研究的知识结构生产线</a:t>
              </a:r>
              <a:endParaRPr lang="zh-CN" sz="3000" b="1" dirty="0">
                <a:solidFill>
                  <a:srgbClr val="172033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959138" y="1027271"/>
              <a:ext cx="8273725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不是单点 demo，而是“应用闭环 + 科研模型 + 评测协议 + 可解释诊断”的完整链路。</a:t>
              </a:r>
              <a:endParaRPr lang="zh-CN" sz="1425" dirty="0">
                <a:solidFill>
                  <a:srgbClr val="475569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28750" y="1485900"/>
            <a:ext cx="9334500" cy="781050"/>
            <a:chOff x="1428750" y="1485900"/>
            <a:chExt cx="9334500" cy="781050"/>
          </a:xfrm>
        </p:grpSpPr>
        <p:sp>
          <p:nvSpPr>
            <p:cNvPr id="8" name="Rectangle 8"/>
            <p:cNvSpPr/>
            <p:nvPr/>
          </p:nvSpPr>
          <p:spPr>
            <a:xfrm>
              <a:off x="1428750" y="1485900"/>
              <a:ext cx="9334500" cy="781050"/>
            </a:xfrm>
            <a:prstGeom prst="roundRect">
              <a:avLst>
                <a:gd name="adj" fmla="val 9756"/>
              </a:avLst>
            </a:prstGeom>
            <a:solidFill>
              <a:srgbClr val="155E75"/>
            </a:solidFill>
            <a:ln>
              <a:noFill/>
            </a:ln>
            <a:effectLst>
              <a:outerShdw blurRad="114300" dist="38100" dir="5400000" algn="ctr" rotWithShape="0">
                <a:srgbClr val="172033">
                  <a:alpha val="6750"/>
                </a:srgbClr>
              </a:outerShdw>
            </a:effectLst>
          </p:spPr>
        </p:sp>
        <p:grpSp>
          <p:nvGrpSpPr>
            <p:cNvPr id="12" name="Group 12"/>
            <p:cNvGrpSpPr/>
            <p:nvPr/>
          </p:nvGrpSpPr>
          <p:grpSpPr>
            <a:xfrm>
              <a:off x="1857375" y="1733550"/>
              <a:ext cx="285750" cy="285750"/>
              <a:chOff x="1857375" y="1733550"/>
              <a:chExt cx="285750" cy="2857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857375" y="1733550"/>
                <a:ext cx="28575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285750" h="142875">
                    <a:moveTo>
                      <a:pt x="0" y="142875"/>
                    </a:moveTo>
                    <a:lnTo>
                      <a:pt x="15875" y="142875"/>
                    </a:lnTo>
                    <a:moveTo>
                      <a:pt x="142875" y="0"/>
                    </a:moveTo>
                    <a:lnTo>
                      <a:pt x="142875" y="15875"/>
                    </a:lnTo>
                    <a:moveTo>
                      <a:pt x="269875" y="142875"/>
                    </a:moveTo>
                    <a:lnTo>
                      <a:pt x="285750" y="142875"/>
                    </a:lnTo>
                    <a:moveTo>
                      <a:pt x="41275" y="41275"/>
                    </a:moveTo>
                    <a:lnTo>
                      <a:pt x="52388" y="52388"/>
                    </a:lnTo>
                    <a:moveTo>
                      <a:pt x="244475" y="41275"/>
                    </a:moveTo>
                    <a:lnTo>
                      <a:pt x="233362" y="52388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914144" y="1797050"/>
                <a:ext cx="172212" cy="222250"/>
              </a:xfrm>
              <a:custGeom>
                <a:avLst/>
                <a:gdLst/>
                <a:ahLst/>
                <a:cxnLst/>
                <a:rect l="l" t="t" r="r" b="b"/>
                <a:pathLst>
                  <a:path w="172212" h="222250">
                    <a:moveTo>
                      <a:pt x="38481" y="142875"/>
                    </a:moveTo>
                    <a:cubicBezTo>
                      <a:pt x="11148" y="122376"/>
                      <a:pt x="0" y="86687"/>
                      <a:pt x="10804" y="54274"/>
                    </a:cubicBezTo>
                    <a:cubicBezTo>
                      <a:pt x="21608" y="21862"/>
                      <a:pt x="51940" y="0"/>
                      <a:pt x="86106" y="0"/>
                    </a:cubicBezTo>
                    <a:cubicBezTo>
                      <a:pt x="120271" y="0"/>
                      <a:pt x="150603" y="21862"/>
                      <a:pt x="161408" y="54274"/>
                    </a:cubicBezTo>
                    <a:cubicBezTo>
                      <a:pt x="172212" y="86687"/>
                      <a:pt x="161063" y="122376"/>
                      <a:pt x="133731" y="142875"/>
                    </a:cubicBezTo>
                    <a:cubicBezTo>
                      <a:pt x="121160" y="155318"/>
                      <a:pt x="115265" y="173003"/>
                      <a:pt x="117856" y="190500"/>
                    </a:cubicBezTo>
                    <a:cubicBezTo>
                      <a:pt x="117856" y="208035"/>
                      <a:pt x="103641" y="222250"/>
                      <a:pt x="86106" y="222250"/>
                    </a:cubicBezTo>
                    <a:cubicBezTo>
                      <a:pt x="68571" y="222250"/>
                      <a:pt x="54356" y="208035"/>
                      <a:pt x="54356" y="190500"/>
                    </a:cubicBezTo>
                    <a:cubicBezTo>
                      <a:pt x="56946" y="173003"/>
                      <a:pt x="51051" y="155318"/>
                      <a:pt x="38481" y="142875"/>
                    </a:cubicBez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963738" y="1955800"/>
                <a:ext cx="730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3025" h="9525">
                    <a:moveTo>
                      <a:pt x="0" y="0"/>
                    </a:moveTo>
                    <a:lnTo>
                      <a:pt x="73025" y="0"/>
                    </a:lnTo>
                  </a:path>
                </a:pathLst>
              </a:custGeom>
              <a:noFill/>
              <a:ln w="19050">
                <a:solidFill>
                  <a:srgbClr val="FFFFFF"/>
                </a:solidFill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2358390" y="1624965"/>
              <a:ext cx="130587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FFFFFF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一句话结论</a:t>
              </a:r>
              <a:endParaRPr lang="zh-CN" sz="1800" b="1" dirty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64105" y="1940242"/>
              <a:ext cx="833332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E0F2FE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我们把“边说边画”的低结构表达，转化为可编辑、可导出、可评测、可诊断的多模态科研表达基础设施。</a:t>
              </a:r>
              <a:endParaRPr lang="zh-CN" sz="1350" dirty="0">
                <a:solidFill>
                  <a:srgbClr val="E0F2FE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66750" y="2781300"/>
            <a:ext cx="10858500" cy="1695450"/>
            <a:chOff x="666750" y="2781300"/>
            <a:chExt cx="10858500" cy="1695450"/>
          </a:xfrm>
        </p:grpSpPr>
        <p:grpSp>
          <p:nvGrpSpPr>
            <p:cNvPr id="25" name="Group 25"/>
            <p:cNvGrpSpPr/>
            <p:nvPr/>
          </p:nvGrpSpPr>
          <p:grpSpPr>
            <a:xfrm>
              <a:off x="666750" y="2781300"/>
              <a:ext cx="2343150" cy="1695450"/>
              <a:chOff x="666750" y="2781300"/>
              <a:chExt cx="2343150" cy="1695450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666750" y="2781300"/>
                <a:ext cx="201930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114300" dist="38100" dir="5400000" algn="ctr" rotWithShape="0">
                  <a:srgbClr val="172033">
                    <a:alpha val="6750"/>
                  </a:srgbClr>
                </a:outerShdw>
              </a:effectLst>
            </p:spPr>
          </p:sp>
          <p:grpSp>
            <p:nvGrpSpPr>
              <p:cNvPr id="21" name="Group 21"/>
              <p:cNvGrpSpPr/>
              <p:nvPr/>
            </p:nvGrpSpPr>
            <p:grpSpPr>
              <a:xfrm>
                <a:off x="938212" y="3067050"/>
                <a:ext cx="257175" cy="238125"/>
                <a:chOff x="938212" y="3067050"/>
                <a:chExt cx="257175" cy="238125"/>
              </a:xfrm>
            </p:grpSpPr>
            <p:sp>
              <p:nvSpPr>
                <p:cNvPr id="17" name="Freeform 17"/>
                <p:cNvSpPr/>
                <p:nvPr/>
              </p:nvSpPr>
              <p:spPr>
                <a:xfrm>
                  <a:off x="938212" y="3067050"/>
                  <a:ext cx="25717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7145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lnTo>
                        <a:pt x="242888" y="0"/>
                      </a:lnTo>
                      <a:cubicBezTo>
                        <a:pt x="250778" y="0"/>
                        <a:pt x="257175" y="6397"/>
                        <a:pt x="257175" y="14288"/>
                      </a:cubicBezTo>
                      <a:lnTo>
                        <a:pt x="257175" y="157162"/>
                      </a:lnTo>
                      <a:cubicBezTo>
                        <a:pt x="257175" y="165053"/>
                        <a:pt x="250778" y="171450"/>
                        <a:pt x="242888" y="171450"/>
                      </a:cubicBezTo>
                      <a:lnTo>
                        <a:pt x="14288" y="171450"/>
                      </a:lnTo>
                      <a:cubicBezTo>
                        <a:pt x="6397" y="171450"/>
                        <a:pt x="0" y="165053"/>
                        <a:pt x="0" y="157162"/>
                      </a:cubicBezTo>
                      <a:lnTo>
                        <a:pt x="0" y="14288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995362" y="3295650"/>
                  <a:ext cx="1428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9525">
                      <a:moveTo>
                        <a:pt x="0" y="0"/>
                      </a:moveTo>
                      <a:lnTo>
                        <a:pt x="142875" y="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1023938" y="323850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  <p:sp>
              <p:nvSpPr>
                <p:cNvPr id="20" name="Freeform 20"/>
                <p:cNvSpPr/>
                <p:nvPr/>
              </p:nvSpPr>
              <p:spPr>
                <a:xfrm>
                  <a:off x="1109662" y="323850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19050">
                  <a:solidFill>
                    <a:srgbClr val="2563EB"/>
                  </a:solidFill>
                </a:ln>
              </p:spPr>
            </p:sp>
          </p:grpSp>
          <p:sp>
            <p:nvSpPr>
              <p:cNvPr id="22" name="TextBox 22"/>
              <p:cNvSpPr txBox="1"/>
              <p:nvPr/>
            </p:nvSpPr>
            <p:spPr>
              <a:xfrm>
                <a:off x="875348" y="346852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产品价值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81062" y="386000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完成可操作工作台，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81062" y="4107656"/>
                <a:ext cx="212883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覆盖输入、预览、下载、讲解。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2914650" y="2781300"/>
              <a:ext cx="2019300" cy="1695450"/>
              <a:chOff x="2914650" y="2781300"/>
              <a:chExt cx="2019300" cy="169545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2914650" y="2781300"/>
                <a:ext cx="201930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114300" dist="38100" dir="5400000" algn="ctr" rotWithShape="0">
                  <a:srgbClr val="172033">
                    <a:alpha val="6750"/>
                  </a:srgbClr>
                </a:outerShdw>
              </a:effectLst>
            </p:spPr>
          </p:sp>
          <p:grpSp>
            <p:nvGrpSpPr>
              <p:cNvPr id="33" name="Group 33"/>
              <p:cNvGrpSpPr/>
              <p:nvPr/>
            </p:nvGrpSpPr>
            <p:grpSpPr>
              <a:xfrm>
                <a:off x="3214688" y="3067050"/>
                <a:ext cx="214312" cy="228600"/>
                <a:chOff x="3214688" y="3067050"/>
                <a:chExt cx="214312" cy="228600"/>
              </a:xfrm>
            </p:grpSpPr>
            <p:sp>
              <p:nvSpPr>
                <p:cNvPr id="27" name="Freeform 27"/>
                <p:cNvSpPr/>
                <p:nvPr/>
              </p:nvSpPr>
              <p:spPr>
                <a:xfrm>
                  <a:off x="3214688" y="32385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3214688" y="306705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3357562" y="306705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3243262" y="3124200"/>
                  <a:ext cx="952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14300">
                      <a:moveTo>
                        <a:pt x="0" y="0"/>
                      </a:moveTo>
                      <a:lnTo>
                        <a:pt x="0" y="11430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3271838" y="3167062"/>
                  <a:ext cx="1143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00012">
                      <a:moveTo>
                        <a:pt x="0" y="100012"/>
                      </a:moveTo>
                      <a:lnTo>
                        <a:pt x="85725" y="100012"/>
                      </a:lnTo>
                      <a:cubicBezTo>
                        <a:pt x="101507" y="100012"/>
                        <a:pt x="114300" y="87219"/>
                        <a:pt x="114300" y="71438"/>
                      </a:cubicBezTo>
                      <a:lnTo>
                        <a:pt x="114300" y="0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  <p:sp>
              <p:nvSpPr>
                <p:cNvPr id="32" name="Freeform 32"/>
                <p:cNvSpPr/>
                <p:nvPr/>
              </p:nvSpPr>
              <p:spPr>
                <a:xfrm>
                  <a:off x="3343275" y="3167062"/>
                  <a:ext cx="85725" cy="428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42862">
                      <a:moveTo>
                        <a:pt x="0" y="42862"/>
                      </a:moveTo>
                      <a:lnTo>
                        <a:pt x="42862" y="0"/>
                      </a:lnTo>
                      <a:lnTo>
                        <a:pt x="85725" y="42862"/>
                      </a:lnTo>
                    </a:path>
                  </a:pathLst>
                </a:custGeom>
                <a:noFill/>
                <a:ln w="19050">
                  <a:solidFill>
                    <a:srgbClr val="0F766E"/>
                  </a:solidFill>
                </a:ln>
              </p:spPr>
            </p:sp>
          </p:grpSp>
          <p:sp>
            <p:nvSpPr>
              <p:cNvPr id="34" name="TextBox 34"/>
              <p:cNvSpPr txBox="1"/>
              <p:nvPr/>
            </p:nvSpPr>
            <p:spPr>
              <a:xfrm>
                <a:off x="3123248" y="346852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科研价值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3128962" y="386000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定义语音引导知识草图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3128962" y="4107656"/>
                <a:ext cx="170878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结构化与 MMSB-Graph。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5162550" y="2781300"/>
              <a:ext cx="2019300" cy="1695450"/>
              <a:chOff x="5162550" y="2781300"/>
              <a:chExt cx="2019300" cy="169545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162550" y="2781300"/>
                <a:ext cx="201930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114300" dist="38100" dir="5400000" algn="ctr" rotWithShape="0">
                  <a:srgbClr val="172033">
                    <a:alpha val="6750"/>
                  </a:srgbClr>
                </a:outerShdw>
              </a:effectLst>
            </p:spPr>
          </p:sp>
          <p:grpSp>
            <p:nvGrpSpPr>
              <p:cNvPr id="45" name="Group 45"/>
              <p:cNvGrpSpPr/>
              <p:nvPr/>
            </p:nvGrpSpPr>
            <p:grpSpPr>
              <a:xfrm>
                <a:off x="5434012" y="3052762"/>
                <a:ext cx="257176" cy="257175"/>
                <a:chOff x="5434012" y="3052762"/>
                <a:chExt cx="257176" cy="257175"/>
              </a:xfrm>
            </p:grpSpPr>
            <p:sp>
              <p:nvSpPr>
                <p:cNvPr id="39" name="Freeform 39"/>
                <p:cNvSpPr/>
                <p:nvPr/>
              </p:nvSpPr>
              <p:spPr>
                <a:xfrm>
                  <a:off x="5434012" y="3052762"/>
                  <a:ext cx="257175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257175">
                      <a:moveTo>
                        <a:pt x="0" y="0"/>
                      </a:moveTo>
                      <a:lnTo>
                        <a:pt x="0" y="257175"/>
                      </a:lnTo>
                      <a:lnTo>
                        <a:pt x="257175" y="257175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5491162" y="3109912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5634038" y="308133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2" name="Freeform 42"/>
                <p:cNvSpPr/>
                <p:nvPr/>
              </p:nvSpPr>
              <p:spPr>
                <a:xfrm>
                  <a:off x="5562600" y="319563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5536311" y="3161633"/>
                  <a:ext cx="33433" cy="411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433" h="41148">
                      <a:moveTo>
                        <a:pt x="0" y="0"/>
                      </a:moveTo>
                      <a:lnTo>
                        <a:pt x="33433" y="41148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  <p:sp>
              <p:nvSpPr>
                <p:cNvPr id="44" name="Freeform 44"/>
                <p:cNvSpPr/>
                <p:nvPr/>
              </p:nvSpPr>
              <p:spPr>
                <a:xfrm>
                  <a:off x="5606720" y="3134801"/>
                  <a:ext cx="40534" cy="655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534" h="65522">
                      <a:moveTo>
                        <a:pt x="0" y="65522"/>
                      </a:moveTo>
                      <a:lnTo>
                        <a:pt x="40534" y="0"/>
                      </a:lnTo>
                    </a:path>
                  </a:pathLst>
                </a:custGeom>
                <a:noFill/>
                <a:ln w="19050">
                  <a:solidFill>
                    <a:srgbClr val="16A34A"/>
                  </a:solidFill>
                </a:ln>
              </p:spPr>
            </p:sp>
          </p:grpSp>
          <p:sp>
            <p:nvSpPr>
              <p:cNvPr id="46" name="TextBox 46"/>
              <p:cNvSpPr txBox="1"/>
              <p:nvPr/>
            </p:nvSpPr>
            <p:spPr>
              <a:xfrm>
                <a:off x="5371148" y="346852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评测价值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5376862" y="3860006"/>
                <a:ext cx="158877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24 个样例、对照基线、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pic>
            <p:nvPicPr>
              <p:cNvPr id="48" name="Image 48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5391150" y="4076700"/>
                <a:ext cx="1428750" cy="180975"/>
              </a:xfrm>
              <a:prstGeom prst="rect">
                <a:avLst/>
              </a:prstGeom>
            </p:spPr>
          </p:pic>
        </p:grpSp>
        <p:grpSp>
          <p:nvGrpSpPr>
            <p:cNvPr id="59" name="Group 59"/>
            <p:cNvGrpSpPr/>
            <p:nvPr/>
          </p:nvGrpSpPr>
          <p:grpSpPr>
            <a:xfrm>
              <a:off x="7410450" y="2781300"/>
              <a:ext cx="2019300" cy="1695450"/>
              <a:chOff x="7410450" y="2781300"/>
              <a:chExt cx="2019300" cy="169545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7410450" y="2781300"/>
                <a:ext cx="201930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114300" dist="38100" dir="5400000" algn="ctr" rotWithShape="0">
                  <a:srgbClr val="172033">
                    <a:alpha val="6750"/>
                  </a:srgbClr>
                </a:outerShdw>
              </a:effectLst>
            </p:spPr>
          </p:sp>
          <p:grpSp>
            <p:nvGrpSpPr>
              <p:cNvPr id="55" name="Group 55"/>
              <p:cNvGrpSpPr/>
              <p:nvPr/>
            </p:nvGrpSpPr>
            <p:grpSpPr>
              <a:xfrm>
                <a:off x="7681912" y="3067050"/>
                <a:ext cx="257175" cy="228600"/>
                <a:chOff x="7681912" y="3067050"/>
                <a:chExt cx="257175" cy="228600"/>
              </a:xfrm>
            </p:grpSpPr>
            <p:sp>
              <p:nvSpPr>
                <p:cNvPr id="51" name="Freeform 51"/>
                <p:cNvSpPr/>
                <p:nvPr/>
              </p:nvSpPr>
              <p:spPr>
                <a:xfrm>
                  <a:off x="7681912" y="3067050"/>
                  <a:ext cx="25717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14300">
                      <a:moveTo>
                        <a:pt x="0" y="42862"/>
                      </a:moveTo>
                      <a:cubicBezTo>
                        <a:pt x="0" y="19190"/>
                        <a:pt x="19190" y="0"/>
                        <a:pt x="42862" y="0"/>
                      </a:cubicBezTo>
                      <a:lnTo>
                        <a:pt x="214312" y="0"/>
                      </a:lnTo>
                      <a:cubicBezTo>
                        <a:pt x="237985" y="0"/>
                        <a:pt x="257175" y="19190"/>
                        <a:pt x="257175" y="42862"/>
                      </a:cubicBezTo>
                      <a:lnTo>
                        <a:pt x="257175" y="71438"/>
                      </a:lnTo>
                      <a:cubicBezTo>
                        <a:pt x="257175" y="95110"/>
                        <a:pt x="237985" y="114300"/>
                        <a:pt x="214312" y="114300"/>
                      </a:cubicBezTo>
                      <a:lnTo>
                        <a:pt x="42862" y="114300"/>
                      </a:lnTo>
                      <a:cubicBezTo>
                        <a:pt x="19190" y="114300"/>
                        <a:pt x="0" y="95110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52" name="Freeform 52"/>
                <p:cNvSpPr/>
                <p:nvPr/>
              </p:nvSpPr>
              <p:spPr>
                <a:xfrm>
                  <a:off x="7681912" y="3181350"/>
                  <a:ext cx="257175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14300">
                      <a:moveTo>
                        <a:pt x="0" y="42862"/>
                      </a:moveTo>
                      <a:cubicBezTo>
                        <a:pt x="0" y="19190"/>
                        <a:pt x="19190" y="0"/>
                        <a:pt x="42862" y="0"/>
                      </a:cubicBezTo>
                      <a:lnTo>
                        <a:pt x="214312" y="0"/>
                      </a:lnTo>
                      <a:cubicBezTo>
                        <a:pt x="237985" y="0"/>
                        <a:pt x="257175" y="19190"/>
                        <a:pt x="257175" y="42862"/>
                      </a:cubicBezTo>
                      <a:lnTo>
                        <a:pt x="257175" y="71438"/>
                      </a:lnTo>
                      <a:cubicBezTo>
                        <a:pt x="257175" y="95110"/>
                        <a:pt x="237985" y="114300"/>
                        <a:pt x="214312" y="114300"/>
                      </a:cubicBezTo>
                      <a:lnTo>
                        <a:pt x="42862" y="114300"/>
                      </a:lnTo>
                      <a:cubicBezTo>
                        <a:pt x="19190" y="114300"/>
                        <a:pt x="0" y="95110"/>
                        <a:pt x="0" y="71438"/>
                      </a:cubicBezTo>
                      <a:lnTo>
                        <a:pt x="0" y="42862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53" name="Freeform 53"/>
                <p:cNvSpPr/>
                <p:nvPr/>
              </p:nvSpPr>
              <p:spPr>
                <a:xfrm>
                  <a:off x="7739062" y="31242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43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  <p:sp>
              <p:nvSpPr>
                <p:cNvPr id="54" name="Freeform 54"/>
                <p:cNvSpPr/>
                <p:nvPr/>
              </p:nvSpPr>
              <p:spPr>
                <a:xfrm>
                  <a:off x="7739062" y="32385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43"/>
                      </a:lnTo>
                    </a:path>
                  </a:pathLst>
                </a:custGeom>
                <a:noFill/>
                <a:ln w="19050">
                  <a:solidFill>
                    <a:srgbClr val="155E75"/>
                  </a:solidFill>
                </a:ln>
              </p:spPr>
            </p:sp>
          </p:grpSp>
          <p:sp>
            <p:nvSpPr>
              <p:cNvPr id="56" name="TextBox 56"/>
              <p:cNvSpPr txBox="1"/>
              <p:nvPr/>
            </p:nvSpPr>
            <p:spPr>
              <a:xfrm>
                <a:off x="7619048" y="346852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工程价值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624762" y="3860006"/>
                <a:ext cx="158877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模型服务可替换，mock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7624762" y="41076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保障展示和复现实验。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70" name="Group 70"/>
            <p:cNvGrpSpPr/>
            <p:nvPr/>
          </p:nvGrpSpPr>
          <p:grpSpPr>
            <a:xfrm>
              <a:off x="9658350" y="2781300"/>
              <a:ext cx="1866900" cy="1695450"/>
              <a:chOff x="9658350" y="2781300"/>
              <a:chExt cx="1866900" cy="1695450"/>
            </a:xfrm>
          </p:grpSpPr>
          <p:sp>
            <p:nvSpPr>
              <p:cNvPr id="60" name="Rectangle 60"/>
              <p:cNvSpPr/>
              <p:nvPr/>
            </p:nvSpPr>
            <p:spPr>
              <a:xfrm>
                <a:off x="9658350" y="2781300"/>
                <a:ext cx="1866900" cy="1695450"/>
              </a:xfrm>
              <a:prstGeom prst="roundRect">
                <a:avLst>
                  <a:gd name="adj" fmla="val 4494"/>
                </a:avLst>
              </a:prstGeom>
              <a:solidFill>
                <a:srgbClr val="FFFFFF"/>
              </a:solidFill>
              <a:ln w="9525">
                <a:solidFill>
                  <a:srgbClr val="CBD5E1"/>
                </a:solidFill>
              </a:ln>
              <a:effectLst>
                <a:outerShdw blurRad="114300" dist="38100" dir="5400000" algn="ctr" rotWithShape="0">
                  <a:srgbClr val="172033">
                    <a:alpha val="6750"/>
                  </a:srgbClr>
                </a:outerShdw>
              </a:effectLst>
            </p:spPr>
          </p:sp>
          <p:grpSp>
            <p:nvGrpSpPr>
              <p:cNvPr id="66" name="Group 66"/>
              <p:cNvGrpSpPr/>
              <p:nvPr/>
            </p:nvGrpSpPr>
            <p:grpSpPr>
              <a:xfrm>
                <a:off x="9929812" y="3067050"/>
                <a:ext cx="257175" cy="238125"/>
                <a:chOff x="9929812" y="3067050"/>
                <a:chExt cx="257175" cy="238125"/>
              </a:xfrm>
            </p:grpSpPr>
            <p:sp>
              <p:nvSpPr>
                <p:cNvPr id="61" name="Freeform 61"/>
                <p:cNvSpPr/>
                <p:nvPr/>
              </p:nvSpPr>
              <p:spPr>
                <a:xfrm>
                  <a:off x="9929812" y="3067050"/>
                  <a:ext cx="2571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9525">
                      <a:moveTo>
                        <a:pt x="0" y="0"/>
                      </a:moveTo>
                      <a:lnTo>
                        <a:pt x="257175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2" name="Freeform 62"/>
                <p:cNvSpPr/>
                <p:nvPr/>
              </p:nvSpPr>
              <p:spPr>
                <a:xfrm>
                  <a:off x="9944100" y="3067050"/>
                  <a:ext cx="22860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600" h="171450">
                      <a:moveTo>
                        <a:pt x="0" y="0"/>
                      </a:moveTo>
                      <a:lnTo>
                        <a:pt x="0" y="142875"/>
                      </a:lnTo>
                      <a:cubicBezTo>
                        <a:pt x="0" y="158657"/>
                        <a:pt x="12793" y="171450"/>
                        <a:pt x="28575" y="171450"/>
                      </a:cubicBezTo>
                      <a:lnTo>
                        <a:pt x="200025" y="171450"/>
                      </a:lnTo>
                      <a:cubicBezTo>
                        <a:pt x="215807" y="171450"/>
                        <a:pt x="228600" y="158657"/>
                        <a:pt x="228600" y="142875"/>
                      </a:cubicBezTo>
                      <a:lnTo>
                        <a:pt x="228600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10058400" y="3238500"/>
                  <a:ext cx="9525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57150">
                      <a:moveTo>
                        <a:pt x="0" y="0"/>
                      </a:moveTo>
                      <a:lnTo>
                        <a:pt x="0" y="5715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4" name="Freeform 64"/>
                <p:cNvSpPr/>
                <p:nvPr/>
              </p:nvSpPr>
              <p:spPr>
                <a:xfrm>
                  <a:off x="10015538" y="3295650"/>
                  <a:ext cx="857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9525">
                      <a:moveTo>
                        <a:pt x="0" y="0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  <p:sp>
              <p:nvSpPr>
                <p:cNvPr id="65" name="Freeform 65"/>
                <p:cNvSpPr/>
                <p:nvPr/>
              </p:nvSpPr>
              <p:spPr>
                <a:xfrm>
                  <a:off x="10001250" y="3124200"/>
                  <a:ext cx="1143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57150">
                      <a:moveTo>
                        <a:pt x="0" y="57150"/>
                      </a:moveTo>
                      <a:lnTo>
                        <a:pt x="42862" y="14288"/>
                      </a:lnTo>
                      <a:lnTo>
                        <a:pt x="71438" y="42862"/>
                      </a:lnTo>
                      <a:lnTo>
                        <a:pt x="114300" y="0"/>
                      </a:lnTo>
                    </a:path>
                  </a:pathLst>
                </a:custGeom>
                <a:noFill/>
                <a:ln w="19050">
                  <a:solidFill>
                    <a:srgbClr val="F59E0B"/>
                  </a:solidFill>
                </a:ln>
              </p:spPr>
            </p:sp>
          </p:grpSp>
          <p:sp>
            <p:nvSpPr>
              <p:cNvPr id="67" name="TextBox 67"/>
              <p:cNvSpPr txBox="1"/>
              <p:nvPr/>
            </p:nvSpPr>
            <p:spPr>
              <a:xfrm>
                <a:off x="9866948" y="3468529"/>
                <a:ext cx="922115" cy="3200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75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表达价值</a:t>
                </a:r>
                <a:endParaRPr lang="zh-CN" sz="1575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9872662" y="3860006"/>
                <a:ext cx="116121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把课堂/科研讲解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9872662" y="41076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475569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沉淀为结构化资产。</a:t>
                </a:r>
                <a:endParaRPr lang="zh-CN" sz="1125" dirty="0">
                  <a:solidFill>
                    <a:srgbClr val="475569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85" name="Group 85"/>
          <p:cNvGrpSpPr/>
          <p:nvPr/>
        </p:nvGrpSpPr>
        <p:grpSpPr>
          <a:xfrm>
            <a:off x="1885950" y="4657725"/>
            <a:ext cx="8305800" cy="509587"/>
            <a:chOff x="1885950" y="4657725"/>
            <a:chExt cx="8305800" cy="509587"/>
          </a:xfrm>
        </p:grpSpPr>
        <p:sp>
          <p:nvSpPr>
            <p:cNvPr id="72" name="Line 72"/>
            <p:cNvSpPr/>
            <p:nvPr/>
          </p:nvSpPr>
          <p:spPr>
            <a:xfrm>
              <a:off x="1885950" y="4762500"/>
              <a:ext cx="8305800" cy="1"/>
            </a:xfrm>
            <a:prstGeom prst="line">
              <a:avLst/>
            </a:prstGeom>
            <a:noFill/>
            <a:ln w="28575">
              <a:solidFill>
                <a:srgbClr val="0F766E"/>
              </a:solidFill>
              <a:tailEnd type="triangle" w="lg" len="lg"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1926860" y="4657725"/>
              <a:ext cx="908780" cy="509587"/>
              <a:chOff x="1926860" y="4657725"/>
              <a:chExt cx="908780" cy="509587"/>
            </a:xfrm>
          </p:grpSpPr>
          <p:sp>
            <p:nvSpPr>
              <p:cNvPr id="73" name="Ellipse 73"/>
              <p:cNvSpPr/>
              <p:nvPr/>
            </p:nvSpPr>
            <p:spPr>
              <a:xfrm>
                <a:off x="2276475" y="4657725"/>
                <a:ext cx="209550" cy="209550"/>
              </a:xfrm>
              <a:prstGeom prst="ellipse">
                <a:avLst/>
              </a:pr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74" name="TextBox 74"/>
              <p:cNvSpPr txBox="1"/>
              <p:nvPr/>
            </p:nvSpPr>
            <p:spPr>
              <a:xfrm>
                <a:off x="1926860" y="4953952"/>
                <a:ext cx="9087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真实用户数据</a:t>
                </a:r>
                <a:endParaRPr lang="zh-CN" sz="10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78" name="Group 78"/>
            <p:cNvGrpSpPr/>
            <p:nvPr/>
          </p:nvGrpSpPr>
          <p:grpSpPr>
            <a:xfrm>
              <a:off x="4041410" y="4657725"/>
              <a:ext cx="908780" cy="509587"/>
              <a:chOff x="4041410" y="4657725"/>
              <a:chExt cx="908780" cy="509587"/>
            </a:xfrm>
          </p:grpSpPr>
          <p:sp>
            <p:nvSpPr>
              <p:cNvPr id="76" name="Ellipse 76"/>
              <p:cNvSpPr/>
              <p:nvPr/>
            </p:nvSpPr>
            <p:spPr>
              <a:xfrm>
                <a:off x="4391025" y="4657725"/>
                <a:ext cx="209550" cy="209550"/>
              </a:xfrm>
              <a:prstGeom prst="ellipse">
                <a:avLst/>
              </a:pr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77" name="TextBox 77"/>
              <p:cNvSpPr txBox="1"/>
              <p:nvPr/>
            </p:nvSpPr>
            <p:spPr>
              <a:xfrm>
                <a:off x="4041410" y="4953952"/>
                <a:ext cx="9087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草图解析增强</a:t>
                </a:r>
                <a:endParaRPr lang="zh-CN" sz="10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6155960" y="4657725"/>
              <a:ext cx="908780" cy="509587"/>
              <a:chOff x="6155960" y="4657725"/>
              <a:chExt cx="908780" cy="509587"/>
            </a:xfrm>
          </p:grpSpPr>
          <p:sp>
            <p:nvSpPr>
              <p:cNvPr id="79" name="Ellipse 79"/>
              <p:cNvSpPr/>
              <p:nvPr/>
            </p:nvSpPr>
            <p:spPr>
              <a:xfrm>
                <a:off x="6505575" y="4657725"/>
                <a:ext cx="209550" cy="209550"/>
              </a:xfrm>
              <a:prstGeom prst="ellipse">
                <a:avLst/>
              </a:pr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80" name="TextBox 80"/>
              <p:cNvSpPr txBox="1"/>
              <p:nvPr/>
            </p:nvSpPr>
            <p:spPr>
              <a:xfrm>
                <a:off x="6155960" y="4953952"/>
                <a:ext cx="9087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编辑策略训练</a:t>
                </a:r>
                <a:endParaRPr lang="zh-CN" sz="10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8270510" y="4657725"/>
              <a:ext cx="908780" cy="509587"/>
              <a:chOff x="8270510" y="4657725"/>
              <a:chExt cx="908780" cy="509587"/>
            </a:xfrm>
          </p:grpSpPr>
          <p:sp>
            <p:nvSpPr>
              <p:cNvPr id="82" name="Ellipse 82"/>
              <p:cNvSpPr/>
              <p:nvPr/>
            </p:nvSpPr>
            <p:spPr>
              <a:xfrm>
                <a:off x="8620125" y="4657725"/>
                <a:ext cx="209550" cy="209550"/>
              </a:xfrm>
              <a:prstGeom prst="ellipse">
                <a:avLst/>
              </a:prstGeom>
              <a:solidFill>
                <a:srgbClr val="0F766E"/>
              </a:solidFill>
              <a:ln>
                <a:noFill/>
              </a:ln>
            </p:spPr>
          </p:sp>
          <p:sp>
            <p:nvSpPr>
              <p:cNvPr id="83" name="TextBox 83"/>
              <p:cNvSpPr txBox="1"/>
              <p:nvPr/>
            </p:nvSpPr>
            <p:spPr>
              <a:xfrm>
                <a:off x="8270510" y="4953952"/>
                <a:ext cx="9087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72033"/>
                    </a:solidFill>
                    <a:latin typeface="Arial" panose="020B0604020202020204"/>
                    <a:ea typeface="微软雅黑" panose="020B0503020204020204" charset="-122"/>
                    <a:cs typeface="Arial" panose="020B0604020202020204"/>
                  </a:rPr>
                  <a:t>前端诊断反馈</a:t>
                </a:r>
                <a:endParaRPr lang="zh-CN" sz="1050" b="1" dirty="0">
                  <a:solidFill>
                    <a:srgbClr val="172033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endParaRPr>
              </a:p>
            </p:txBody>
          </p:sp>
        </p:grpSp>
      </p:grpSp>
      <p:grpSp>
        <p:nvGrpSpPr>
          <p:cNvPr id="88" name="Group 88"/>
          <p:cNvGrpSpPr/>
          <p:nvPr/>
        </p:nvGrpSpPr>
        <p:grpSpPr>
          <a:xfrm>
            <a:off x="2038350" y="5524500"/>
            <a:ext cx="8115300" cy="495300"/>
            <a:chOff x="2038350" y="5524500"/>
            <a:chExt cx="8115300" cy="495300"/>
          </a:xfrm>
        </p:grpSpPr>
        <p:sp>
          <p:nvSpPr>
            <p:cNvPr id="86" name="Rectangle 86"/>
            <p:cNvSpPr/>
            <p:nvPr/>
          </p:nvSpPr>
          <p:spPr>
            <a:xfrm>
              <a:off x="2038350" y="5524500"/>
              <a:ext cx="8115300" cy="4953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CBD5E1"/>
              </a:solidFill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2486454" y="5684996"/>
              <a:ext cx="7219093" cy="289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5" b="1" dirty="0">
                  <a:solidFill>
                    <a:srgbClr val="155E75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所以，这个项目既有能演示的应用成果，也有可继续深化的科研问题和实验框架。</a:t>
              </a:r>
              <a:endParaRPr lang="zh-CN" sz="1425" b="1" dirty="0">
                <a:solidFill>
                  <a:srgbClr val="155E75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79845"/>
            <a:ext cx="11071860" cy="182880"/>
            <a:chOff x="560070" y="63798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79845"/>
              <a:ext cx="145703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SketchVoice · Conclusion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798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94A3B8"/>
                  </a:solidFill>
                  <a:latin typeface="Arial" panose="020B0604020202020204"/>
                  <a:ea typeface="微软雅黑" panose="020B0503020204020204" charset="-122"/>
                  <a:cs typeface="Arial" panose="020B0604020202020204"/>
                </a:rPr>
                <a:t>14 / 14</a:t>
              </a:r>
              <a:endParaRPr lang="zh-CN" sz="900" dirty="0">
                <a:solidFill>
                  <a:srgbClr val="94A3B8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5" grpId="0"/>
      <p:bldP spid="71" grpId="0"/>
      <p:bldP spid="85" grpId="0"/>
      <p:bldP spid="88" grpId="0"/>
    </p:bldLst>
  </p:timing>
</p:sld>
</file>

<file path=ppt/tags/tag1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2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3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4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5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6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7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8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9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10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11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12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13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14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15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16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17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18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19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20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21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22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23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24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25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26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27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28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29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30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31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32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33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34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35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36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37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38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39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40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41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42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43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44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45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46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47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48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49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50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51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52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53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54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55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56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57.xml><?xml version="1.0" encoding="utf-8"?>
<p:tagLst xmlns:p="http://schemas.openxmlformats.org/presentationml/2006/main">
  <p:tag name="KSO_WM_DIAGRAM_VIRTUALLY_FRAME" val="{&quot;height&quot;:315,&quot;left&quot;:45,&quot;top&quot;:112.5,&quot;width&quot;:942.9056692913385}"/>
</p:tagLst>
</file>

<file path=ppt/tags/tag58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59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60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61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62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63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64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65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66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67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68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69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70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71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72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73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74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75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76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77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78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79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80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81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82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83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84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85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86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ags/tag87.xml><?xml version="1.0" encoding="utf-8"?>
<p:tagLst xmlns:p="http://schemas.openxmlformats.org/presentationml/2006/main">
  <p:tag name="KSO_WM_DIAGRAM_VIRTUALLY_FRAME" val="{&quot;height&quot;:133.5,&quot;left&quot;:52.5,&quot;top&quot;:228,&quot;width&quot;:85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4717</Words>
  <Application>WPS 演示</Application>
  <PresentationFormat>On-screen Show (16:9)</PresentationFormat>
  <Paragraphs>608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3" baseType="lpstr">
      <vt:lpstr>Arial</vt:lpstr>
      <vt:lpstr>宋体</vt:lpstr>
      <vt:lpstr>Wingdings</vt:lpstr>
      <vt:lpstr>Arial</vt:lpstr>
      <vt:lpstr>微软雅黑</vt:lpstr>
      <vt:lpstr>Consolas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future</cp:lastModifiedBy>
  <cp:revision>18</cp:revision>
  <dcterms:created xsi:type="dcterms:W3CDTF">2026-06-14T08:26:00Z</dcterms:created>
  <dcterms:modified xsi:type="dcterms:W3CDTF">2026-06-14T12:50:30Z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160A312486D54F9788479FB10583248A_12</vt:lpwstr>
  </property>
</Properties>
</file>