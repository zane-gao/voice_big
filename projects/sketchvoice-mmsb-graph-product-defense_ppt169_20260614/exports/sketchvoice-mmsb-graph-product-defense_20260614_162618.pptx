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大家好，我汇报的项目是 SketchVoice，核心目标是把“边说边画”的自然表达转成可编辑知识图。这里既有一个可演示的产品闭环，也有背后的结构恢复方法 MMSB-Graph。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真实讨论里，很多有效信息不是写在规范文档里，而是散落在白板草图、口头解释和临时补充中。问题是这些内容会很快消失，后续复盘、整理和复用都需要大量人工成本。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所以产品侧先从用户旅程出发：用户在画布上画草图，同时录入语音说明，系统把这些输入整理成结构化图。最后输出的不只是图片，而是 Mermaid、JSON、SVG 和可继续编辑的终稿。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这个原型的重点是把课堂展示需要的主链路跑通。它支持草图输入、语音转写、图结构生成、图片渲染、语音讲解和导出，让“记录想法”变成“交付结构化结果”。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这一页对应现场演示流程。我们会先画一个很简单的科研流程草图，比如输入数据、模型和评测指标，然后用语音补充中间的真实含义和关系方向。系统生成后，我会展示 Mermaid、SVG 和 JSON，再生成论文风格终稿图和带光标讲解的 WebM，说明这个项目不是静态 demo，而是一条从输入到交付的完整链路。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工程实现上，前端承担交互画布、语音录入和结果展示，后端组织转写、结构生成、渲染和讲解服务。这样的分层设计让 mock fallback、外部模型服务和评测模块都可以替换。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从这里进入科研侧。产品上看，我们做的是边说边画生成知识图；科研上更准确的定义，是语音引导的知识草图结构化。输入不是干净文本，而是手绘草图 $S$ 和同步语音 $U$；输出也不是一张好看的图片，而是可编辑、可评测、可渲染的知识图 $\hat{G}$。这里的关键假设是：草图给空间先验，语音给语义锚点和关系顺序，两者合起来才能恢复节点、边和方向。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相关工作可以分成三路。第一路是草图到结构图，比如 SketchAgent 或 Sketch2Diagram，它们能利用视觉结构，但通常没有同步语音。第二路是静态图到可编辑代码，比如 Flowchart2Mermaid，场景相对封闭。第三路是 Schrödinger Bridge 或 DDSBM 这类图结构迁移方法，它们给了我们理论支点，但不是直接解决这个语音草图任务。所以我们的切入点，是 Sketch + Speech 到 Structured Knowledge Graph，再进一步做 Graph Editing Diagnosis。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这一页给出任务定义。输入 $S$ 包括框、箭头、布局和手写文字，输入 $U$ 包括节点名称、关系顺序和设计意图。系统先恢复候选节点和候选边，再输出 $\hat{G}=(\hat{V},\hat{E})$。评测时我们不只看视觉效果，而是看 $\mathrm{Node}\ F_1$、$\mathrm{Edge}\ F_1$、$\mathrm{Direction\ Accuracy}$、$\mathrm{Speech\ Coverage}$、$\mathrm{Layout\ Preservation}$、$\mathrm{Normalized\ GED}$ 和 $\mathrm{Edit\ Cost}$。这样任务从一个 demo 变成了可以比较、可以复现实验的结构恢复问题。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方法上，我们不把它说成一次性生成，而是拆成四步：先从草图得到 $G_s$，从语音得到 $G_u$，再融合成 $G_f$，最后通过 Graph Editing Bridge 得到 $\hat{G}$。这个桥允许删除多余节点、插入缺失节点、删除错误边、补目标边和修正方向。单步代价 $c(G_t,G_{t+1})$ 由图编辑距离、标签相似度、方向惩罚、布局保持和语音覆盖奖励组成；路径能量 $E(G_{0:T})=\frac{1}{T}\sum_{t=0}^{T-1}c(G_t,G_{t+1})^2$ 可以解释这条修复路径是不是过于费力，从而把模型错误转化为可诊断证据。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实验部分我们做了 24 个可控知识草图样例，覆盖线性流程、多分支融合、反馈闭环、模型架构和实验流程。每个样例都有草图、语音转写、目标节点边、语音锚点、草图区、布局坐标和难度标签。对照方法包括 Sketch-only、Speech-only、Early Fusion、Greedy Repair 和 MMSB-Graph。这里要强调，当前实验验证的是条件图和图编辑桥行为，不是宣称真实世界端到端性能。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结果上，草图单模态的 $\mathrm{Edge}\ F_1=0.387$，说明缺语义；语音单模态达到 $\mathrm{Edge}\ F_1=0.564$，说明它能补关系但缺布局；Early Fusion 能把 $\mathrm{Node}\ F_1$ 提到 $0.929$，但边结构仍不稳；Greedy Repair 达到 $\mathrm{Edge}\ F_1=0.842$，证明局部修复有效。MMSB-Graph 在可控条件下做到 $N/E/D=1$，$\mathrm{GED}=0$，$\mathrm{Edit\ Cost}=0$。这个结果的价值不是夸大成 SOTA，而是证明我们已经把语音草图恢复变成了可定义、可评测、可诊断，并且未来可以接入真实 ASR/VLM、用户修改轨迹和可训练 edit policy 的科研问题。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这一页把项目已经完成的内容放到一张知识图谱里。左侧是应用成果，包括 Web 工作台、结构输出和终稿讲解；右侧是科研成果，包括任务定义、MMSB-Graph、数据资产、评测结果和可解释轨迹。这样可以看出我们不是只讲一个故事，而是确实做出了一组互相支撑的成果。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最后从更高层面总结：SketchVoice 把自然表达升级成一条可研究的知识结构生产线。产品上它能演示和交付，科研上它提出任务和模型，评测上它有样例与指标，工程上它可替换可复现，应用上它能把课堂和科研讲解沉淀为结构化资产。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9" Type="http://schemas.openxmlformats.org/officeDocument/2006/relationships/notesSlide" Target="../notesSlides/notesSlide4.xml"/><Relationship Id="rId58" Type="http://schemas.openxmlformats.org/officeDocument/2006/relationships/slideLayout" Target="../slideLayouts/slideLayout1.xml"/><Relationship Id="rId57" Type="http://schemas.openxmlformats.org/officeDocument/2006/relationships/tags" Target="../tags/tag57.xml"/><Relationship Id="rId56" Type="http://schemas.openxmlformats.org/officeDocument/2006/relationships/tags" Target="../tags/tag56.xml"/><Relationship Id="rId55" Type="http://schemas.openxmlformats.org/officeDocument/2006/relationships/tags" Target="../tags/tag55.xml"/><Relationship Id="rId54" Type="http://schemas.openxmlformats.org/officeDocument/2006/relationships/tags" Target="../tags/tag54.xml"/><Relationship Id="rId53" Type="http://schemas.openxmlformats.org/officeDocument/2006/relationships/tags" Target="../tags/tag53.xml"/><Relationship Id="rId52" Type="http://schemas.openxmlformats.org/officeDocument/2006/relationships/tags" Target="../tags/tag52.xml"/><Relationship Id="rId51" Type="http://schemas.openxmlformats.org/officeDocument/2006/relationships/tags" Target="../tags/tag51.xml"/><Relationship Id="rId50" Type="http://schemas.openxmlformats.org/officeDocument/2006/relationships/tags" Target="../tags/tag50.xml"/><Relationship Id="rId5" Type="http://schemas.openxmlformats.org/officeDocument/2006/relationships/tags" Target="../tags/tag5.xml"/><Relationship Id="rId49" Type="http://schemas.openxmlformats.org/officeDocument/2006/relationships/tags" Target="../tags/tag49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3" Type="http://schemas.openxmlformats.org/officeDocument/2006/relationships/notesSlide" Target="../notesSlides/notesSlide7.xml"/><Relationship Id="rId32" Type="http://schemas.openxmlformats.org/officeDocument/2006/relationships/slideLayout" Target="../slideLayouts/slideLayout1.xml"/><Relationship Id="rId31" Type="http://schemas.openxmlformats.org/officeDocument/2006/relationships/tags" Target="../tags/tag87.xml"/><Relationship Id="rId30" Type="http://schemas.openxmlformats.org/officeDocument/2006/relationships/tags" Target="../tags/tag86.xml"/><Relationship Id="rId3" Type="http://schemas.openxmlformats.org/officeDocument/2006/relationships/tags" Target="../tags/tag59.xml"/><Relationship Id="rId29" Type="http://schemas.openxmlformats.org/officeDocument/2006/relationships/tags" Target="../tags/tag85.xml"/><Relationship Id="rId28" Type="http://schemas.openxmlformats.org/officeDocument/2006/relationships/tags" Target="../tags/tag84.xml"/><Relationship Id="rId27" Type="http://schemas.openxmlformats.org/officeDocument/2006/relationships/tags" Target="../tags/tag83.xml"/><Relationship Id="rId26" Type="http://schemas.openxmlformats.org/officeDocument/2006/relationships/tags" Target="../tags/tag82.xml"/><Relationship Id="rId25" Type="http://schemas.openxmlformats.org/officeDocument/2006/relationships/tags" Target="../tags/tag81.xml"/><Relationship Id="rId24" Type="http://schemas.openxmlformats.org/officeDocument/2006/relationships/tags" Target="../tags/tag80.xml"/><Relationship Id="rId23" Type="http://schemas.openxmlformats.org/officeDocument/2006/relationships/tags" Target="../tags/tag79.xml"/><Relationship Id="rId22" Type="http://schemas.openxmlformats.org/officeDocument/2006/relationships/tags" Target="../tags/tag78.xml"/><Relationship Id="rId21" Type="http://schemas.openxmlformats.org/officeDocument/2006/relationships/tags" Target="../tags/tag77.xml"/><Relationship Id="rId20" Type="http://schemas.openxmlformats.org/officeDocument/2006/relationships/tags" Target="../tags/tag76.xml"/><Relationship Id="rId2" Type="http://schemas.openxmlformats.org/officeDocument/2006/relationships/tags" Target="../tags/tag58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342900"/>
            <a:ext cx="12230100" cy="7200900"/>
            <a:chOff x="0" y="-342900"/>
            <a:chExt cx="12230100" cy="72009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029700" y="-342900"/>
              <a:ext cx="3200400" cy="32004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639300" y="266700"/>
              <a:ext cx="1981200" cy="1981200"/>
            </a:xfrm>
            <a:prstGeom prst="ellipse">
              <a:avLst/>
            </a:prstGeom>
            <a:solidFill>
              <a:srgbClr val="CCFBF1">
                <a:alpha val="85000"/>
              </a:srgbClr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571500" y="514350"/>
              <a:ext cx="819150" cy="76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5E75"/>
                </a:gs>
                <a:gs pos="100000">
                  <a:srgbClr val="0F766E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15340" y="1272540"/>
            <a:ext cx="7430834" cy="2575560"/>
            <a:chOff x="815340" y="1272540"/>
            <a:chExt cx="7430834" cy="2575560"/>
          </a:xfrm>
        </p:grpSpPr>
        <p:sp>
          <p:nvSpPr>
            <p:cNvPr id="7" name="TextBox 7"/>
            <p:cNvSpPr txBox="1"/>
            <p:nvPr/>
          </p:nvSpPr>
          <p:spPr>
            <a:xfrm>
              <a:off x="815340" y="1272540"/>
              <a:ext cx="4020007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SketchVoice</a:t>
              </a:r>
              <a:endParaRPr lang="zh-CN" sz="48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6295" y="2079308"/>
              <a:ext cx="506393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5E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语音 + 草图 → 科研方法图</a:t>
              </a:r>
              <a:endParaRPr lang="zh-CN" sz="3150" b="1" dirty="0">
                <a:solidFill>
                  <a:srgbClr val="155E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1540" y="2796540"/>
              <a:ext cx="735463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一个可演示的 AI 产品原型，也是一个可继续研究的多模态结构化任务</a:t>
              </a:r>
              <a:endParaRPr lang="zh-CN" sz="180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14400" y="3371850"/>
              <a:ext cx="685800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44905" y="3530918"/>
              <a:ext cx="66951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把课堂、科研讨论和白板草稿，一键转化为可编辑、可展示、可讲解的结构化方法图</a:t>
              </a:r>
              <a:endParaRPr lang="zh-CN" sz="13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524750" y="2089150"/>
            <a:ext cx="3790950" cy="2959100"/>
            <a:chOff x="7524750" y="2089150"/>
            <a:chExt cx="3790950" cy="2959100"/>
          </a:xfrm>
        </p:grpSpPr>
        <p:sp>
          <p:nvSpPr>
            <p:cNvPr id="13" name="Rectangle 13"/>
            <p:cNvSpPr/>
            <p:nvPr/>
          </p:nvSpPr>
          <p:spPr>
            <a:xfrm>
              <a:off x="7524750" y="2089150"/>
              <a:ext cx="321945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grpSp>
          <p:nvGrpSpPr>
            <p:cNvPr id="16" name="Group 16"/>
            <p:cNvGrpSpPr/>
            <p:nvPr/>
          </p:nvGrpSpPr>
          <p:grpSpPr>
            <a:xfrm>
              <a:off x="7840345" y="2373709"/>
              <a:ext cx="210564" cy="213281"/>
              <a:chOff x="7840345" y="2373709"/>
              <a:chExt cx="210564" cy="21328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840345" y="2376426"/>
                <a:ext cx="210564" cy="210564"/>
              </a:xfrm>
              <a:custGeom>
                <a:avLst/>
                <a:gdLst/>
                <a:ahLst/>
                <a:cxnLst/>
                <a:rect l="l" t="t" r="r" b="b"/>
                <a:pathLst>
                  <a:path w="210564" h="210564">
                    <a:moveTo>
                      <a:pt x="0" y="210564"/>
                    </a:moveTo>
                    <a:lnTo>
                      <a:pt x="53975" y="210564"/>
                    </a:lnTo>
                    <a:lnTo>
                      <a:pt x="195659" y="68880"/>
                    </a:lnTo>
                    <a:cubicBezTo>
                      <a:pt x="210564" y="53975"/>
                      <a:pt x="210564" y="29810"/>
                      <a:pt x="195659" y="14905"/>
                    </a:cubicBezTo>
                    <a:cubicBezTo>
                      <a:pt x="180755" y="0"/>
                      <a:pt x="156589" y="0"/>
                      <a:pt x="141684" y="14905"/>
                    </a:cubicBezTo>
                    <a:lnTo>
                      <a:pt x="0" y="156589"/>
                    </a:lnTo>
                    <a:lnTo>
                      <a:pt x="0" y="210564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891701" y="237370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180705" y="2282190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手绘草图：空间结构</a:t>
              </a:r>
              <a:endParaRPr lang="zh-CN" sz="15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96250" y="3219450"/>
              <a:ext cx="321945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grpSp>
          <p:nvGrpSpPr>
            <p:cNvPr id="23" name="Group 23"/>
            <p:cNvGrpSpPr/>
            <p:nvPr/>
          </p:nvGrpSpPr>
          <p:grpSpPr>
            <a:xfrm>
              <a:off x="8449469" y="3417888"/>
              <a:ext cx="188912" cy="265906"/>
              <a:chOff x="8449469" y="3417888"/>
              <a:chExt cx="188912" cy="26590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503444" y="3417888"/>
                <a:ext cx="80962" cy="148431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148431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cubicBezTo>
                      <a:pt x="62838" y="0"/>
                      <a:pt x="80962" y="18124"/>
                      <a:pt x="80962" y="40481"/>
                    </a:cubicBezTo>
                    <a:lnTo>
                      <a:pt x="80962" y="107950"/>
                    </a:lnTo>
                    <a:cubicBezTo>
                      <a:pt x="80962" y="130307"/>
                      <a:pt x="62838" y="148431"/>
                      <a:pt x="40481" y="148431"/>
                    </a:cubicBezTo>
                    <a:cubicBezTo>
                      <a:pt x="18124" y="148431"/>
                      <a:pt x="0" y="130307"/>
                      <a:pt x="0" y="107950"/>
                    </a:cubicBez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449469" y="3525838"/>
                <a:ext cx="188912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88912" h="94456">
                    <a:moveTo>
                      <a:pt x="0" y="0"/>
                    </a:moveTo>
                    <a:cubicBezTo>
                      <a:pt x="0" y="52167"/>
                      <a:pt x="42290" y="94456"/>
                      <a:pt x="94456" y="94456"/>
                    </a:cubicBezTo>
                    <a:cubicBezTo>
                      <a:pt x="146623" y="94456"/>
                      <a:pt x="188912" y="52167"/>
                      <a:pt x="188912" y="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489950" y="3674269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543925" y="3620294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8877300" y="3486150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同步语音：语义锚点</a:t>
              </a:r>
              <a:endParaRPr lang="zh-CN" sz="15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24750" y="4305300"/>
              <a:ext cx="3219450" cy="742950"/>
            </a:xfrm>
            <a:prstGeom prst="roundRect">
              <a:avLst>
                <a:gd name="adj" fmla="val 10256"/>
              </a:avLst>
            </a:prstGeom>
            <a:solidFill>
              <a:srgbClr val="155E75"/>
            </a:solidFill>
            <a:ln>
              <a:noFill/>
            </a:ln>
            <a:effectLst>
              <a:outerShdw blurRad="152400" dist="38100" dir="5400000" algn="ctr" rotWithShape="0">
                <a:srgbClr val="172033">
                  <a:alpha val="7500"/>
                </a:srgbClr>
              </a:outerShdw>
            </a:effectLst>
          </p:spPr>
        </p:sp>
        <p:grpSp>
          <p:nvGrpSpPr>
            <p:cNvPr id="34" name="Group 34"/>
            <p:cNvGrpSpPr/>
            <p:nvPr/>
          </p:nvGrpSpPr>
          <p:grpSpPr>
            <a:xfrm>
              <a:off x="7850981" y="4555331"/>
              <a:ext cx="242887" cy="256382"/>
              <a:chOff x="7850981" y="4555331"/>
              <a:chExt cx="242887" cy="25638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1462" y="4555331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80962"/>
                    </a:moveTo>
                    <a:cubicBezTo>
                      <a:pt x="0" y="125677"/>
                      <a:pt x="36248" y="161925"/>
                      <a:pt x="80962" y="161925"/>
                    </a:cubicBezTo>
                    <a:cubicBezTo>
                      <a:pt x="125677" y="161925"/>
                      <a:pt x="161925" y="125677"/>
                      <a:pt x="161925" y="80962"/>
                    </a:cubicBezTo>
                    <a:cubicBezTo>
                      <a:pt x="161925" y="36248"/>
                      <a:pt x="125677" y="0"/>
                      <a:pt x="80962" y="0"/>
                    </a:cubicBezTo>
                    <a:cubicBezTo>
                      <a:pt x="36248" y="0"/>
                      <a:pt x="0" y="36248"/>
                      <a:pt x="0" y="8096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972425" y="4555331"/>
                <a:ext cx="269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61925">
                    <a:moveTo>
                      <a:pt x="0" y="0"/>
                    </a:moveTo>
                    <a:cubicBezTo>
                      <a:pt x="17987" y="4493"/>
                      <a:pt x="26988" y="31481"/>
                      <a:pt x="26988" y="80962"/>
                    </a:cubicBezTo>
                    <a:cubicBezTo>
                      <a:pt x="26988" y="130444"/>
                      <a:pt x="17987" y="157432"/>
                      <a:pt x="0" y="1619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945438" y="4555331"/>
                <a:ext cx="269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61925">
                    <a:moveTo>
                      <a:pt x="26988" y="0"/>
                    </a:moveTo>
                    <a:cubicBezTo>
                      <a:pt x="9000" y="4493"/>
                      <a:pt x="0" y="31481"/>
                      <a:pt x="0" y="80962"/>
                    </a:cubicBezTo>
                    <a:cubicBezTo>
                      <a:pt x="0" y="130444"/>
                      <a:pt x="9000" y="157432"/>
                      <a:pt x="26988" y="1619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891462" y="4636294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850981" y="4784725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999412" y="4784725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945438" y="475773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972425" y="4717256"/>
                <a:ext cx="95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481">
                    <a:moveTo>
                      <a:pt x="0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304848" y="4602004"/>
              <a:ext cx="18042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结构化知识图资产</a:t>
              </a:r>
              <a:endParaRPr lang="zh-CN" sz="15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Freeform 36"/>
            <p:cNvSpPr/>
            <p:nvPr/>
          </p:nvSpPr>
          <p:spPr>
            <a:xfrm>
              <a:off x="9124950" y="2876550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28575">
              <a:solidFill>
                <a:srgbClr val="0F766E"/>
              </a:solidFill>
              <a:custDash>
                <a:ds d="233333" sp="200000"/>
              </a:custDash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9124950" y="3924300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28575">
              <a:solidFill>
                <a:srgbClr val="0F766E"/>
              </a:solidFill>
              <a:custDash>
                <a:ds d="233333" sp="200000"/>
              </a:custDash>
              <a:tailEnd type="triangle" w="lg" len="lg"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862012" y="6069806"/>
            <a:ext cx="10465118" cy="228600"/>
            <a:chOff x="862012" y="6069806"/>
            <a:chExt cx="10465118" cy="228600"/>
          </a:xfrm>
        </p:grpSpPr>
        <p:sp>
          <p:nvSpPr>
            <p:cNvPr id="39" name="TextBox 39"/>
            <p:cNvSpPr txBox="1"/>
            <p:nvPr/>
          </p:nvSpPr>
          <p:spPr>
            <a:xfrm>
              <a:off x="862012" y="6069806"/>
              <a:ext cx="23313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语音信息处理课程结项答辩 · 2026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02220" y="6094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 / 14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451485"/>
            <a:ext cx="8007572" cy="762953"/>
            <a:chOff x="537210" y="451485"/>
            <a:chExt cx="8007572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451485"/>
              <a:ext cx="80075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应用出发点：真实工作流是边说、边画、边补充</a:t>
              </a:r>
              <a:endParaRPr lang="zh-CN" sz="27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940118"/>
              <a:ext cx="70371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普通“文本生成图”工具不完全匹配科研学习场景，因为原始思考过程不是完整 prompt。</a:t>
              </a:r>
              <a:endParaRPr lang="zh-CN" sz="13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76300" y="1581150"/>
            <a:ext cx="10439400" cy="1143000"/>
            <a:chOff x="876300" y="1581150"/>
            <a:chExt cx="10439400" cy="1143000"/>
          </a:xfrm>
        </p:grpSpPr>
        <p:sp>
          <p:nvSpPr>
            <p:cNvPr id="6" name="Rectangle 6"/>
            <p:cNvSpPr/>
            <p:nvPr/>
          </p:nvSpPr>
          <p:spPr>
            <a:xfrm>
              <a:off x="876300" y="1581150"/>
              <a:ext cx="1043940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10" name="Group 10"/>
            <p:cNvGrpSpPr/>
            <p:nvPr/>
          </p:nvGrpSpPr>
          <p:grpSpPr>
            <a:xfrm>
              <a:off x="1257300" y="1943100"/>
              <a:ext cx="342900" cy="342900"/>
              <a:chOff x="1257300" y="1943100"/>
              <a:chExt cx="342900" cy="3429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257300" y="22098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524000" y="19431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38100" y="76200"/>
                    </a:move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  <a:cubicBezTo>
                      <a:pt x="0" y="59142"/>
                      <a:pt x="17058" y="76200"/>
                      <a:pt x="38100" y="762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390650" y="1981200"/>
                <a:ext cx="762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66700">
                    <a:moveTo>
                      <a:pt x="76200" y="0"/>
                    </a:moveTo>
                    <a:cubicBezTo>
                      <a:pt x="55158" y="0"/>
                      <a:pt x="38100" y="17058"/>
                      <a:pt x="38100" y="38100"/>
                    </a:cubicBezTo>
                    <a:lnTo>
                      <a:pt x="38100" y="228600"/>
                    </a:lnTo>
                    <a:cubicBezTo>
                      <a:pt x="38100" y="249642"/>
                      <a:pt x="21042" y="266700"/>
                      <a:pt x="0" y="2667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920240" y="1844040"/>
              <a:ext cx="66237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5E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痛点不是“不会画图”，而是讨论过程很难沉淀为结构化资产</a:t>
              </a:r>
              <a:endParaRPr lang="zh-CN" sz="1800" b="1" dirty="0">
                <a:solidFill>
                  <a:srgbClr val="155E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25955" y="2254568"/>
              <a:ext cx="74152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草图留下布局和箭头，语音留下节点名称、关系方向和设计意图；但会后往往还要重新整理。</a:t>
              </a:r>
              <a:endParaRPr lang="zh-CN" sz="13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66850" y="3068479"/>
            <a:ext cx="8845868" cy="1472565"/>
            <a:chOff x="1466850" y="3068479"/>
            <a:chExt cx="8845868" cy="1472565"/>
          </a:xfrm>
        </p:grpSpPr>
        <p:grpSp>
          <p:nvGrpSpPr>
            <p:cNvPr id="19" name="Group 19"/>
            <p:cNvGrpSpPr/>
            <p:nvPr/>
          </p:nvGrpSpPr>
          <p:grpSpPr>
            <a:xfrm>
              <a:off x="1466850" y="3068479"/>
              <a:ext cx="2967990" cy="615315"/>
              <a:chOff x="1466850" y="3068479"/>
              <a:chExt cx="2967990" cy="615315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1466850" y="3143250"/>
                <a:ext cx="342900" cy="342900"/>
              </a:xfrm>
              <a:prstGeom prst="ellipse">
                <a:avLst/>
              </a:prstGeom>
              <a:solidFill>
                <a:srgbClr val="155E75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580695" y="325040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1</a:t>
                </a:r>
                <a:endParaRPr lang="zh-CN" sz="112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018348" y="3068479"/>
                <a:ext cx="1230854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AI/科研学生</a:t>
                </a:r>
                <a:endParaRPr lang="zh-CN" sz="15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022158" y="3424714"/>
                <a:ext cx="24126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读论文、做组会、快速画方法图</a:t>
                </a:r>
                <a:endPara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466850" y="3925729"/>
              <a:ext cx="3648076" cy="615315"/>
              <a:chOff x="1466850" y="3925729"/>
              <a:chExt cx="3648076" cy="615315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1466850" y="4000500"/>
                <a:ext cx="342900" cy="342900"/>
              </a:xfrm>
              <a:prstGeom prst="ellipse">
                <a:avLst/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580695" y="410765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2</a:t>
                </a:r>
                <a:endParaRPr lang="zh-CN" sz="112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018348" y="3925729"/>
                <a:ext cx="104340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教师/助教</a:t>
                </a:r>
                <a:endParaRPr lang="zh-CN" sz="15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022158" y="4281964"/>
                <a:ext cx="309276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课堂讲解和知识路线需要留下结构化材料</a:t>
                </a:r>
                <a:endPara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324600" y="3068479"/>
              <a:ext cx="3894606" cy="615315"/>
              <a:chOff x="6324600" y="3068479"/>
              <a:chExt cx="3894606" cy="615315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6324600" y="3143250"/>
                <a:ext cx="342900" cy="342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438445" y="325040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3</a:t>
                </a:r>
                <a:endParaRPr lang="zh-CN" sz="112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876098" y="306847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科研团队</a:t>
                </a:r>
                <a:endParaRPr lang="zh-CN" sz="15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879908" y="3424714"/>
                <a:ext cx="333929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白板 brainstorming 容易丢失，复盘成本高</a:t>
                </a:r>
                <a:endPara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324600" y="3925729"/>
              <a:ext cx="3988118" cy="615315"/>
              <a:chOff x="6324600" y="3925729"/>
              <a:chExt cx="3988118" cy="615315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6324600" y="4000500"/>
                <a:ext cx="342900" cy="3429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438445" y="4107656"/>
                <a:ext cx="11521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4</a:t>
                </a:r>
                <a:endParaRPr lang="zh-CN" sz="1125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876098" y="3925729"/>
                <a:ext cx="1484461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双创/产品团队</a:t>
                </a:r>
                <a:endParaRPr lang="zh-CN" sz="15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879908" y="4281964"/>
                <a:ext cx="343281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想法表达很快，但图形产物和讲解材料生成慢</a:t>
                </a:r>
                <a:endPara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1581150" y="5334000"/>
            <a:ext cx="9029700" cy="457200"/>
            <a:chOff x="1581150" y="5334000"/>
            <a:chExt cx="9029700" cy="457200"/>
          </a:xfrm>
        </p:grpSpPr>
        <p:sp>
          <p:nvSpPr>
            <p:cNvPr id="36" name="Rectangle 36"/>
            <p:cNvSpPr/>
            <p:nvPr/>
          </p:nvSpPr>
          <p:spPr>
            <a:xfrm>
              <a:off x="1581150" y="5334000"/>
              <a:ext cx="9029700" cy="457200"/>
            </a:xfrm>
            <a:prstGeom prst="roundRect">
              <a:avLst>
                <a:gd name="adj" fmla="val 16667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77903" y="5475446"/>
              <a:ext cx="84361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SketchVoice 的切入点：保留自然表达方式，同时输出可编辑、可复用、可展示的结构化结果。</a:t>
              </a:r>
              <a:endParaRPr lang="zh-CN" sz="14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39" name="TextBox 39"/>
            <p:cNvSpPr txBox="1"/>
            <p:nvPr/>
          </p:nvSpPr>
          <p:spPr>
            <a:xfrm>
              <a:off x="560070" y="6379845"/>
              <a:ext cx="20271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SketchVoice · Application Scenario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 / 14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8423424" cy="743903"/>
            <a:chOff x="537210" y="394335"/>
            <a:chExt cx="8423424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842342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竞品定位：我们解决的是“自然表达过程到科研图”</a:t>
              </a:r>
              <a:endParaRPr lang="zh-CN" sz="27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73071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现有工具大多做文本到图或画布协作，SketchVoice 聚焦草图 + 语音 + 结构化科研方法图。</a:t>
              </a:r>
              <a:endParaRPr lang="zh-CN" sz="13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1352550"/>
            <a:ext cx="11049000" cy="3429000"/>
            <a:chOff x="571500" y="1352550"/>
            <a:chExt cx="11049000" cy="3429000"/>
          </a:xfrm>
        </p:grpSpPr>
        <p:sp>
          <p:nvSpPr>
            <p:cNvPr id="6" name="Rectangle 6"/>
            <p:cNvSpPr/>
            <p:nvPr/>
          </p:nvSpPr>
          <p:spPr>
            <a:xfrm>
              <a:off x="571500" y="1352550"/>
              <a:ext cx="110490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19050" dir="5400000" algn="ctr" rotWithShape="0">
                <a:srgbClr val="172033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571500" y="1352550"/>
              <a:ext cx="11049000" cy="495300"/>
            </a:xfrm>
            <a:prstGeom prst="roundRect">
              <a:avLst>
                <a:gd name="adj" fmla="val 15385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2010" y="1546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类型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55139" y="1546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代表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79239" y="1546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优势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12889" y="1546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不足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3847" y="15468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我们的切入点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1657350" y="184785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238500" y="184785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191250" y="184785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8382000" y="184785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71500" y="257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71500" y="3295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71500" y="4019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42010" y="1993106"/>
              <a:ext cx="9276754" cy="476250"/>
              <a:chOff x="842010" y="1993106"/>
              <a:chExt cx="9276754" cy="47625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842010" y="210883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在线白板</a:t>
                </a:r>
                <a:endParaRPr lang="zh-CN" sz="12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871996" y="2125028"/>
                <a:ext cx="113280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Miro / Whimsical</a:t>
                </a:r>
                <a:endParaRPr lang="zh-CN" sz="1050" dirty="0">
                  <a:solidFill>
                    <a:srgbClr val="47556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09962" y="19931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协作、画布、流程图成熟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509962" y="2240756"/>
                <a:ext cx="14012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AI 可利用画布上下文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62712" y="199310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偏通用协作资产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62712" y="224075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不专注科研方法图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672512" y="2116931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766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科研知识草图结构化</a:t>
                </a:r>
                <a:endParaRPr lang="zh-CN" sz="1125" b="1" dirty="0">
                  <a:solidFill>
                    <a:srgbClr val="0F76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42010" y="2717006"/>
              <a:ext cx="9119234" cy="476250"/>
              <a:chOff x="842010" y="2717006"/>
              <a:chExt cx="9119234" cy="476250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42010" y="2832735"/>
                <a:ext cx="89578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AI 图示生成</a:t>
                </a:r>
                <a:endParaRPr lang="zh-CN" sz="12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131028" y="28489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Napkin AI</a:t>
                </a:r>
                <a:endParaRPr lang="zh-CN" sz="1050" dirty="0">
                  <a:solidFill>
                    <a:srgbClr val="47556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509962" y="27170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文本转图方便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509962" y="2964656"/>
                <a:ext cx="18137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支持 PPT、PNG、PDF、SVG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462712" y="27170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输入多为文本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62712" y="29646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弱化草图和语音过程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672512" y="2840831"/>
                <a:ext cx="12887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766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保留原始思考过程</a:t>
                </a:r>
                <a:endParaRPr lang="zh-CN" sz="1125" b="1" dirty="0">
                  <a:solidFill>
                    <a:srgbClr val="0F76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42010" y="3440906"/>
              <a:ext cx="9544538" cy="476250"/>
              <a:chOff x="842010" y="3440906"/>
              <a:chExt cx="9544538" cy="476250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842010" y="3556635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代码图工具</a:t>
                </a:r>
                <a:endParaRPr lang="zh-CN" sz="12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773984" y="3572828"/>
                <a:ext cx="13288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Mermaid / Graphviz</a:t>
                </a:r>
                <a:endParaRPr lang="zh-CN" sz="1050" dirty="0">
                  <a:solidFill>
                    <a:srgbClr val="47556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509962" y="344090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可编辑、可版本管理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509962" y="36885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适合工程化复用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462712" y="34409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非技术用户门槛高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462712" y="36885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需要手写图代码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672512" y="3564731"/>
                <a:ext cx="171403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766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自动生成图代码和 JSON</a:t>
                </a:r>
                <a:endParaRPr lang="zh-CN" sz="1125" b="1" dirty="0">
                  <a:solidFill>
                    <a:srgbClr val="0F76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42010" y="4164806"/>
              <a:ext cx="9906833" cy="476250"/>
              <a:chOff x="842010" y="4164806"/>
              <a:chExt cx="9906833" cy="476250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842010" y="4280535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草图转图研究</a:t>
                </a:r>
                <a:endParaRPr lang="zh-CN" sz="12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910501" y="4296728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SketchAgent 等</a:t>
                </a:r>
                <a:endParaRPr lang="zh-CN" sz="1050" dirty="0">
                  <a:solidFill>
                    <a:srgbClr val="47556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3509962" y="41648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关注结构化图恢复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509962" y="4412456"/>
                <a:ext cx="16187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可转 Mermaid 或图代码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462712" y="416480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多聚焦静态图像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462712" y="441245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同步语音反馈较少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672512" y="4288631"/>
                <a:ext cx="20763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766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语音作为语义锚点和方向约束</a:t>
                </a:r>
                <a:endParaRPr lang="zh-CN" sz="1125" b="1" dirty="0">
                  <a:solidFill>
                    <a:srgbClr val="0F76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1428750" y="5219700"/>
            <a:ext cx="9587498" cy="533400"/>
            <a:chOff x="1428750" y="5219700"/>
            <a:chExt cx="9587498" cy="533400"/>
          </a:xfrm>
        </p:grpSpPr>
        <p:sp>
          <p:nvSpPr>
            <p:cNvPr id="53" name="Rectangle 53"/>
            <p:cNvSpPr/>
            <p:nvPr/>
          </p:nvSpPr>
          <p:spPr>
            <a:xfrm>
              <a:off x="1428750" y="5219700"/>
              <a:ext cx="9334500" cy="533400"/>
            </a:xfrm>
            <a:prstGeom prst="roundRect">
              <a:avLst>
                <a:gd name="adj" fmla="val 14286"/>
              </a:avLst>
            </a:prstGeom>
            <a:solidFill>
              <a:srgbClr val="CCFBF1"/>
            </a:solidFill>
            <a:ln w="9525">
              <a:solidFill>
                <a:srgbClr val="0F766E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1733550" y="5372100"/>
              <a:ext cx="228600" cy="228600"/>
              <a:chOff x="1733550" y="5372100"/>
              <a:chExt cx="228600" cy="2286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1835150" y="54737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784350" y="542290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733550" y="53721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2154555" y="5416868"/>
              <a:ext cx="88616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5E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差异化：草图保留空间结构，语音补全语义和方向，输出 Mermaid / SVG / JSON / WebM 等结构化资产。</a:t>
              </a:r>
              <a:endParaRPr lang="zh-CN" sz="1350" b="1" dirty="0">
                <a:solidFill>
                  <a:srgbClr val="155E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60" name="TextBox 60"/>
            <p:cNvSpPr txBox="1"/>
            <p:nvPr/>
          </p:nvSpPr>
          <p:spPr>
            <a:xfrm>
              <a:off x="560070" y="6379845"/>
              <a:ext cx="20511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SketchVoice · Competitive Position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/ 14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7667330" cy="743903"/>
            <a:chOff x="537210" y="394335"/>
            <a:chExt cx="7667330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76673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产品能力：不只是生成图，而是生成“工作台”</a:t>
              </a:r>
              <a:endParaRPr lang="zh-CN" sz="27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价值来自完整操作面，而不是一次模型调用。</a:t>
              </a:r>
              <a:endParaRPr lang="zh-CN" sz="13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9" name="Group 79"/>
          <p:cNvGrpSpPr/>
          <p:nvPr>
            <p:custDataLst>
              <p:tags r:id="rId1"/>
            </p:custDataLst>
          </p:nvPr>
        </p:nvGrpSpPr>
        <p:grpSpPr>
          <a:xfrm>
            <a:off x="571500" y="1428750"/>
            <a:ext cx="11060303" cy="4000500"/>
            <a:chOff x="571500" y="1428750"/>
            <a:chExt cx="11060303" cy="4000500"/>
          </a:xfrm>
        </p:grpSpPr>
        <p:grpSp>
          <p:nvGrpSpPr>
            <p:cNvPr id="17" name="Group 17"/>
            <p:cNvGrpSpPr/>
            <p:nvPr/>
          </p:nvGrpSpPr>
          <p:grpSpPr>
            <a:xfrm>
              <a:off x="571500" y="1428750"/>
              <a:ext cx="3688080" cy="1809750"/>
              <a:chOff x="571500" y="1428750"/>
              <a:chExt cx="3688080" cy="1809750"/>
            </a:xfrm>
          </p:grpSpPr>
          <p:sp>
            <p:nvSpPr>
              <p:cNvPr id="6" name="Rectangle 6"/>
              <p:cNvSpPr/>
              <p:nvPr>
                <p:custDataLst>
                  <p:tags r:id="rId2"/>
                </p:custDataLst>
              </p:nvPr>
            </p:nvSpPr>
            <p:spPr>
              <a:xfrm>
                <a:off x="571500" y="142875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7" name="Rectangle 7"/>
              <p:cNvSpPr/>
              <p:nvPr>
                <p:custDataLst>
                  <p:tags r:id="rId3"/>
                </p:custDataLst>
              </p:nvPr>
            </p:nvSpPr>
            <p:spPr>
              <a:xfrm>
                <a:off x="838200" y="167640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985838" y="1835150"/>
                <a:ext cx="200025" cy="187325"/>
                <a:chOff x="985838" y="1835150"/>
                <a:chExt cx="200025" cy="187325"/>
              </a:xfrm>
            </p:grpSpPr>
            <p:sp>
              <p:nvSpPr>
                <p:cNvPr id="8" name="Freeform 8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985838" y="1835150"/>
                  <a:ext cx="2000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3335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188913" y="0"/>
                      </a:lnTo>
                      <a:cubicBezTo>
                        <a:pt x="195050" y="0"/>
                        <a:pt x="200025" y="4975"/>
                        <a:pt x="200025" y="11113"/>
                      </a:cubicBezTo>
                      <a:lnTo>
                        <a:pt x="200025" y="122238"/>
                      </a:lnTo>
                      <a:cubicBezTo>
                        <a:pt x="200025" y="128375"/>
                        <a:pt x="195050" y="133350"/>
                        <a:pt x="188913" y="133350"/>
                      </a:cubicBezTo>
                      <a:lnTo>
                        <a:pt x="11113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9" name="Freeform 9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030288" y="201295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0" name="Freeform 10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052512" y="196850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1" name="Freeform 11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119188" y="196850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13" name="TextBox 1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503045" y="17078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输入工作台</a:t>
                </a:r>
                <a:endParaRPr lang="zh-CN" sz="16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508760" y="204216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画布、录音、上传音频、转写文本补充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Line 15"/>
              <p:cNvSpPr/>
              <p:nvPr>
                <p:custDataLst>
                  <p:tags r:id="rId10"/>
                </p:custDataLst>
              </p:nvPr>
            </p:nvSpPr>
            <p:spPr>
              <a:xfrm>
                <a:off x="838200" y="24574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6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22325" y="2643505"/>
                <a:ext cx="3058795" cy="3638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endPara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381500" y="1428750"/>
              <a:ext cx="3429000" cy="1809750"/>
              <a:chOff x="4381500" y="1428750"/>
              <a:chExt cx="3429000" cy="1809750"/>
            </a:xfrm>
          </p:grpSpPr>
          <p:sp>
            <p:nvSpPr>
              <p:cNvPr id="18" name="Rectangle 18"/>
              <p:cNvSpPr/>
              <p:nvPr>
                <p:custDataLst>
                  <p:tags r:id="rId12"/>
                </p:custDataLst>
              </p:nvPr>
            </p:nvSpPr>
            <p:spPr>
              <a:xfrm>
                <a:off x="4381500" y="142875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19" name="Rectangle 19"/>
              <p:cNvSpPr/>
              <p:nvPr>
                <p:custDataLst>
                  <p:tags r:id="rId13"/>
                </p:custDataLst>
              </p:nvPr>
            </p:nvSpPr>
            <p:spPr>
              <a:xfrm>
                <a:off x="4648200" y="167640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4795838" y="1824038"/>
                <a:ext cx="200024" cy="211137"/>
                <a:chOff x="4795838" y="1824038"/>
                <a:chExt cx="200024" cy="211137"/>
              </a:xfrm>
            </p:grpSpPr>
            <p:sp>
              <p:nvSpPr>
                <p:cNvPr id="20" name="Freeform 20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4829175" y="1824038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1" name="Freeform 21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4895850" y="1824038"/>
                  <a:ext cx="222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133350">
                      <a:moveTo>
                        <a:pt x="0" y="0"/>
                      </a:moveTo>
                      <a:cubicBezTo>
                        <a:pt x="14813" y="3700"/>
                        <a:pt x="22225" y="25925"/>
                        <a:pt x="22225" y="66675"/>
                      </a:cubicBezTo>
                      <a:cubicBezTo>
                        <a:pt x="22225" y="107425"/>
                        <a:pt x="14813" y="129650"/>
                        <a:pt x="0" y="1333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2" name="Freeform 22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4873625" y="1824038"/>
                  <a:ext cx="222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133350">
                      <a:moveTo>
                        <a:pt x="22225" y="0"/>
                      </a:moveTo>
                      <a:cubicBezTo>
                        <a:pt x="7412" y="3700"/>
                        <a:pt x="0" y="25925"/>
                        <a:pt x="0" y="66675"/>
                      </a:cubicBezTo>
                      <a:cubicBezTo>
                        <a:pt x="0" y="107425"/>
                        <a:pt x="7412" y="129650"/>
                        <a:pt x="22225" y="13335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3" name="Freeform 23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4829175" y="1890712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4" name="Freeform 24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4795838" y="2012950"/>
                  <a:ext cx="777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9525">
                      <a:moveTo>
                        <a:pt x="0" y="0"/>
                      </a:moveTo>
                      <a:lnTo>
                        <a:pt x="77788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5" name="Freeform 25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4918075" y="2012950"/>
                  <a:ext cx="7778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9525">
                      <a:moveTo>
                        <a:pt x="0" y="0"/>
                      </a:moveTo>
                      <a:lnTo>
                        <a:pt x="77787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6" name="Freeform 26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4873625" y="199072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7" name="Freeform 27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4895850" y="1957388"/>
                  <a:ext cx="9525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3338">
                      <a:moveTo>
                        <a:pt x="0" y="0"/>
                      </a:move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9" name="TextBox 29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5313045" y="17078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结构化建模</a:t>
                </a:r>
                <a:endParaRPr lang="zh-CN" sz="16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5318760" y="2042160"/>
                <a:ext cx="22707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节点、边、方向、类型、置信度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Line 31"/>
              <p:cNvSpPr/>
              <p:nvPr>
                <p:custDataLst>
                  <p:tags r:id="rId24"/>
                </p:custDataLst>
              </p:nvPr>
            </p:nvSpPr>
            <p:spPr>
              <a:xfrm>
                <a:off x="4648200" y="24574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8191500" y="1428750"/>
              <a:ext cx="3429000" cy="1809750"/>
              <a:chOff x="8191500" y="1428750"/>
              <a:chExt cx="3429000" cy="1809750"/>
            </a:xfrm>
          </p:grpSpPr>
          <p:sp>
            <p:nvSpPr>
              <p:cNvPr id="34" name="Rectangle 34"/>
              <p:cNvSpPr/>
              <p:nvPr>
                <p:custDataLst>
                  <p:tags r:id="rId25"/>
                </p:custDataLst>
              </p:nvPr>
            </p:nvSpPr>
            <p:spPr>
              <a:xfrm>
                <a:off x="8191500" y="142875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35" name="Rectangle 35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58200" y="167640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8583612" y="1879600"/>
                <a:ext cx="244476" cy="88900"/>
                <a:chOff x="8583612" y="1879600"/>
                <a:chExt cx="244476" cy="88900"/>
              </a:xfrm>
            </p:grpSpPr>
            <p:sp>
              <p:nvSpPr>
                <p:cNvPr id="36" name="Freeform 36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8794750" y="187960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88900"/>
                      </a:moveTo>
                      <a:lnTo>
                        <a:pt x="0" y="0"/>
                      </a:lnTo>
                      <a:lnTo>
                        <a:pt x="33338" y="88900"/>
                      </a:lnTo>
                      <a:lnTo>
                        <a:pt x="3333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7" name="Freeform 37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8716962" y="1879600"/>
                  <a:ext cx="444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88900">
                      <a:moveTo>
                        <a:pt x="22225" y="0"/>
                      </a:moveTo>
                      <a:cubicBezTo>
                        <a:pt x="34500" y="0"/>
                        <a:pt x="44450" y="9950"/>
                        <a:pt x="44450" y="22225"/>
                      </a:cubicBezTo>
                      <a:lnTo>
                        <a:pt x="44450" y="66675"/>
                      </a:lnTo>
                      <a:cubicBezTo>
                        <a:pt x="44450" y="78950"/>
                        <a:pt x="34500" y="88900"/>
                        <a:pt x="22225" y="88900"/>
                      </a:cubicBezTo>
                      <a:cubicBezTo>
                        <a:pt x="9950" y="88900"/>
                        <a:pt x="0" y="78950"/>
                        <a:pt x="0" y="66675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8" name="Freeform 38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8583612" y="187960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0"/>
                      </a:moveTo>
                      <a:lnTo>
                        <a:pt x="33338" y="0"/>
                      </a:lnTo>
                      <a:lnTo>
                        <a:pt x="33338" y="72231"/>
                      </a:lnTo>
                      <a:cubicBezTo>
                        <a:pt x="33338" y="81437"/>
                        <a:pt x="25875" y="88900"/>
                        <a:pt x="16669" y="88900"/>
                      </a:cubicBezTo>
                      <a:cubicBezTo>
                        <a:pt x="7463" y="88900"/>
                        <a:pt x="0" y="81437"/>
                        <a:pt x="0" y="72231"/>
                      </a:cubicBez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9" name="Freeform 39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8650288" y="187960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77787"/>
                      </a:moveTo>
                      <a:cubicBezTo>
                        <a:pt x="0" y="83925"/>
                        <a:pt x="4975" y="88900"/>
                        <a:pt x="11113" y="88900"/>
                      </a:cubicBezTo>
                      <a:lnTo>
                        <a:pt x="22225" y="88900"/>
                      </a:lnTo>
                      <a:cubicBezTo>
                        <a:pt x="28362" y="88900"/>
                        <a:pt x="33338" y="83925"/>
                        <a:pt x="33338" y="77787"/>
                      </a:cubicBezTo>
                      <a:lnTo>
                        <a:pt x="33338" y="55562"/>
                      </a:lnTo>
                      <a:cubicBezTo>
                        <a:pt x="33338" y="49425"/>
                        <a:pt x="28362" y="44450"/>
                        <a:pt x="22225" y="44450"/>
                      </a:cubicBezTo>
                      <a:lnTo>
                        <a:pt x="11113" y="44450"/>
                      </a:lnTo>
                      <a:cubicBezTo>
                        <a:pt x="4975" y="44450"/>
                        <a:pt x="0" y="39475"/>
                        <a:pt x="0" y="33338"/>
                      </a:cubicBezTo>
                      <a:lnTo>
                        <a:pt x="0" y="11112"/>
                      </a:ln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22225" y="0"/>
                      </a:lnTo>
                      <a:cubicBezTo>
                        <a:pt x="28362" y="0"/>
                        <a:pt x="33338" y="4975"/>
                        <a:pt x="33338" y="11112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41" name="TextBox 41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9123045" y="170783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多视图预览</a:t>
                </a:r>
                <a:endParaRPr lang="zh-CN" sz="16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9128760" y="2042160"/>
                <a:ext cx="2430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Mermaid / 图形 / AI 图像 / JSON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Line 43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58200" y="24574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3619500"/>
              <a:ext cx="3429000" cy="1809750"/>
              <a:chOff x="571500" y="3619500"/>
              <a:chExt cx="3429000" cy="1809750"/>
            </a:xfrm>
          </p:grpSpPr>
          <p:sp>
            <p:nvSpPr>
              <p:cNvPr id="46" name="Rectangle 46"/>
              <p:cNvSpPr/>
              <p:nvPr>
                <p:custDataLst>
                  <p:tags r:id="rId34"/>
                </p:custDataLst>
              </p:nvPr>
            </p:nvSpPr>
            <p:spPr>
              <a:xfrm>
                <a:off x="571500" y="361950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47" name="Rectangle 47"/>
              <p:cNvSpPr/>
              <p:nvPr>
                <p:custDataLst>
                  <p:tags r:id="rId35"/>
                </p:custDataLst>
              </p:nvPr>
            </p:nvSpPr>
            <p:spPr>
              <a:xfrm>
                <a:off x="838200" y="38671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DCFCE7"/>
              </a:solidFill>
              <a:ln>
                <a:noFill/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985838" y="4014788"/>
                <a:ext cx="200025" cy="200025"/>
                <a:chOff x="985838" y="4014788"/>
                <a:chExt cx="200025" cy="200025"/>
              </a:xfrm>
            </p:grpSpPr>
            <p:sp>
              <p:nvSpPr>
                <p:cNvPr id="48" name="Freeform 48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1119188" y="40703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9" name="Freeform 49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985838" y="401478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099" y="0"/>
                        <a:pt x="200025" y="14926"/>
                        <a:pt x="200025" y="33338"/>
                      </a:cubicBezTo>
                      <a:lnTo>
                        <a:pt x="200025" y="166688"/>
                      </a:lnTo>
                      <a:cubicBezTo>
                        <a:pt x="200025" y="185099"/>
                        <a:pt x="185099" y="200025"/>
                        <a:pt x="166688" y="200025"/>
                      </a:cubicBezTo>
                      <a:lnTo>
                        <a:pt x="33338" y="200025"/>
                      </a:lnTo>
                      <a:cubicBezTo>
                        <a:pt x="14926" y="200025"/>
                        <a:pt x="0" y="185099"/>
                        <a:pt x="0" y="166688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50" name="Freeform 50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985838" y="4093764"/>
                  <a:ext cx="144463" cy="65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3" h="65486">
                      <a:moveTo>
                        <a:pt x="0" y="65486"/>
                      </a:moveTo>
                      <a:lnTo>
                        <a:pt x="55562" y="9923"/>
                      </a:lnTo>
                      <a:cubicBezTo>
                        <a:pt x="65875" y="0"/>
                        <a:pt x="78588" y="0"/>
                        <a:pt x="88900" y="9923"/>
                      </a:cubicBezTo>
                      <a:lnTo>
                        <a:pt x="144463" y="65486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51" name="Freeform 51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1108075" y="4115989"/>
                  <a:ext cx="77787" cy="43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7" h="43261">
                      <a:moveTo>
                        <a:pt x="0" y="21036"/>
                      </a:moveTo>
                      <a:lnTo>
                        <a:pt x="11112" y="9923"/>
                      </a:lnTo>
                      <a:cubicBezTo>
                        <a:pt x="21425" y="0"/>
                        <a:pt x="34138" y="0"/>
                        <a:pt x="44450" y="9923"/>
                      </a:cubicBezTo>
                      <a:lnTo>
                        <a:pt x="77787" y="43261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53" name="TextBox 53"/>
              <p:cNvSpPr txBox="1"/>
              <p:nvPr>
                <p:custDataLst>
                  <p:tags r:id="rId40"/>
                </p:custDataLst>
              </p:nvPr>
            </p:nvSpPr>
            <p:spPr>
              <a:xfrm>
                <a:off x="1503045" y="389858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草稿图与终稿图</a:t>
                </a:r>
                <a:endParaRPr lang="zh-CN" sz="16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4" name="TextBox 54"/>
              <p:cNvSpPr txBox="1"/>
              <p:nvPr>
                <p:custDataLst>
                  <p:tags r:id="rId41"/>
                </p:custDataLst>
              </p:nvPr>
            </p:nvSpPr>
            <p:spPr>
              <a:xfrm>
                <a:off x="1508760" y="4232910"/>
                <a:ext cx="206273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豆包草稿图 + OpenAI 终稿图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5" name="Line 55"/>
              <p:cNvSpPr/>
              <p:nvPr>
                <p:custDataLst>
                  <p:tags r:id="rId42"/>
                </p:custDataLst>
              </p:nvPr>
            </p:nvSpPr>
            <p:spPr>
              <a:xfrm>
                <a:off x="838200" y="46482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</p:grpSp>
        <p:grpSp>
          <p:nvGrpSpPr>
            <p:cNvPr id="68" name="Group 68"/>
            <p:cNvGrpSpPr/>
            <p:nvPr/>
          </p:nvGrpSpPr>
          <p:grpSpPr>
            <a:xfrm>
              <a:off x="4381500" y="3619500"/>
              <a:ext cx="3429000" cy="1809750"/>
              <a:chOff x="4381500" y="3619500"/>
              <a:chExt cx="3429000" cy="1809750"/>
            </a:xfrm>
          </p:grpSpPr>
          <p:sp>
            <p:nvSpPr>
              <p:cNvPr id="58" name="Rectangle 58"/>
              <p:cNvSpPr/>
              <p:nvPr>
                <p:custDataLst>
                  <p:tags r:id="rId43"/>
                </p:custDataLst>
              </p:nvPr>
            </p:nvSpPr>
            <p:spPr>
              <a:xfrm>
                <a:off x="4381500" y="361950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59" name="Rectangle 59"/>
              <p:cNvSpPr/>
              <p:nvPr>
                <p:custDataLst>
                  <p:tags r:id="rId44"/>
                </p:custDataLst>
              </p:nvPr>
            </p:nvSpPr>
            <p:spPr>
              <a:xfrm>
                <a:off x="4648200" y="38671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4795838" y="4025438"/>
                <a:ext cx="200025" cy="178262"/>
                <a:chOff x="4795838" y="4025438"/>
                <a:chExt cx="200025" cy="178262"/>
              </a:xfrm>
            </p:grpSpPr>
            <p:sp>
              <p:nvSpPr>
                <p:cNvPr id="60" name="Freeform 60"/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4962525" y="4070350"/>
                  <a:ext cx="33338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66675">
                      <a:moveTo>
                        <a:pt x="0" y="0"/>
                      </a:moveTo>
                      <a:cubicBezTo>
                        <a:pt x="18412" y="0"/>
                        <a:pt x="33338" y="14926"/>
                        <a:pt x="33338" y="33338"/>
                      </a:cubicBezTo>
                      <a:cubicBezTo>
                        <a:pt x="33338" y="51749"/>
                        <a:pt x="18412" y="66675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1" name="Freeform 61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4840288" y="4070350"/>
                  <a:ext cx="33338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133350">
                      <a:moveTo>
                        <a:pt x="33338" y="0"/>
                      </a:moveTo>
                      <a:lnTo>
                        <a:pt x="33338" y="122238"/>
                      </a:lnTo>
                      <a:cubicBezTo>
                        <a:pt x="33338" y="128375"/>
                        <a:pt x="28362" y="133350"/>
                        <a:pt x="22225" y="133350"/>
                      </a:cubicBezTo>
                      <a:lnTo>
                        <a:pt x="11112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2" name="Freeform 62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4795838" y="4025438"/>
                  <a:ext cx="166689" cy="15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9" h="156500">
                      <a:moveTo>
                        <a:pt x="100012" y="44912"/>
                      </a:moveTo>
                      <a:lnTo>
                        <a:pt x="150285" y="3018"/>
                      </a:lnTo>
                      <a:cubicBezTo>
                        <a:pt x="153268" y="534"/>
                        <a:pt x="157418" y="0"/>
                        <a:pt x="160932" y="1648"/>
                      </a:cubicBezTo>
                      <a:cubicBezTo>
                        <a:pt x="164446" y="3295"/>
                        <a:pt x="166689" y="6827"/>
                        <a:pt x="166688" y="10708"/>
                      </a:cubicBezTo>
                      <a:lnTo>
                        <a:pt x="166688" y="145792"/>
                      </a:lnTo>
                      <a:cubicBezTo>
                        <a:pt x="166689" y="149673"/>
                        <a:pt x="164446" y="153205"/>
                        <a:pt x="160932" y="154852"/>
                      </a:cubicBezTo>
                      <a:cubicBezTo>
                        <a:pt x="157418" y="156500"/>
                        <a:pt x="153268" y="155965"/>
                        <a:pt x="150285" y="153482"/>
                      </a:cubicBezTo>
                      <a:lnTo>
                        <a:pt x="100012" y="111587"/>
                      </a:lnTo>
                      <a:lnTo>
                        <a:pt x="11113" y="111587"/>
                      </a:lnTo>
                      <a:cubicBezTo>
                        <a:pt x="4975" y="111587"/>
                        <a:pt x="0" y="106612"/>
                        <a:pt x="0" y="100475"/>
                      </a:cubicBezTo>
                      <a:lnTo>
                        <a:pt x="0" y="56025"/>
                      </a:lnTo>
                      <a:cubicBezTo>
                        <a:pt x="0" y="49888"/>
                        <a:pt x="4975" y="44912"/>
                        <a:pt x="11113" y="44912"/>
                      </a:cubicBezTo>
                      <a:lnTo>
                        <a:pt x="100012" y="44912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64" name="TextBox 64"/>
              <p:cNvSpPr txBox="1"/>
              <p:nvPr>
                <p:custDataLst>
                  <p:tags r:id="rId48"/>
                </p:custDataLst>
              </p:nvPr>
            </p:nvSpPr>
            <p:spPr>
              <a:xfrm>
                <a:off x="5313045" y="389858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终稿图讲解</a:t>
                </a:r>
                <a:endParaRPr lang="zh-CN" sz="16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5" name="TextBox 65"/>
              <p:cNvSpPr txBox="1"/>
              <p:nvPr>
                <p:custDataLst>
                  <p:tags r:id="rId49"/>
                </p:custDataLst>
              </p:nvPr>
            </p:nvSpPr>
            <p:spPr>
              <a:xfrm>
                <a:off x="5318760" y="4232910"/>
                <a:ext cx="24707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分段脚本、TTS、光标坐标、WebM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6" name="Line 66"/>
              <p:cNvSpPr/>
              <p:nvPr>
                <p:custDataLst>
                  <p:tags r:id="rId50"/>
                </p:custDataLst>
              </p:nvPr>
            </p:nvSpPr>
            <p:spPr>
              <a:xfrm>
                <a:off x="4648200" y="46482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</p:grpSp>
        <p:grpSp>
          <p:nvGrpSpPr>
            <p:cNvPr id="78" name="Group 78"/>
            <p:cNvGrpSpPr/>
            <p:nvPr/>
          </p:nvGrpSpPr>
          <p:grpSpPr>
            <a:xfrm>
              <a:off x="8191500" y="3619500"/>
              <a:ext cx="3440303" cy="1809750"/>
              <a:chOff x="8191500" y="3619500"/>
              <a:chExt cx="3440303" cy="1809750"/>
            </a:xfrm>
          </p:grpSpPr>
          <p:sp>
            <p:nvSpPr>
              <p:cNvPr id="69" name="Rectangle 69"/>
              <p:cNvSpPr/>
              <p:nvPr>
                <p:custDataLst>
                  <p:tags r:id="rId51"/>
                </p:custDataLst>
              </p:nvPr>
            </p:nvSpPr>
            <p:spPr>
              <a:xfrm>
                <a:off x="8191500" y="3619500"/>
                <a:ext cx="342900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70" name="Rectangle 70"/>
              <p:cNvSpPr/>
              <p:nvPr>
                <p:custDataLst>
                  <p:tags r:id="rId52"/>
                </p:custDataLst>
              </p:nvPr>
            </p:nvSpPr>
            <p:spPr>
              <a:xfrm>
                <a:off x="8458200" y="3867150"/>
                <a:ext cx="4953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73" name="Group 73"/>
              <p:cNvGrpSpPr/>
              <p:nvPr/>
            </p:nvGrpSpPr>
            <p:grpSpPr>
              <a:xfrm>
                <a:off x="8628062" y="4014788"/>
                <a:ext cx="177800" cy="211138"/>
                <a:chOff x="8628062" y="4014788"/>
                <a:chExt cx="177800" cy="211138"/>
              </a:xfrm>
            </p:grpSpPr>
            <p:sp>
              <p:nvSpPr>
                <p:cNvPr id="71" name="Freeform 71"/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8728075" y="4014788"/>
                  <a:ext cx="55562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55562">
                      <a:moveTo>
                        <a:pt x="0" y="0"/>
                      </a:moveTo>
                      <a:lnTo>
                        <a:pt x="0" y="44450"/>
                      </a:lnTo>
                      <a:cubicBezTo>
                        <a:pt x="0" y="50587"/>
                        <a:pt x="4975" y="55562"/>
                        <a:pt x="11112" y="55562"/>
                      </a:cubicBezTo>
                      <a:lnTo>
                        <a:pt x="55562" y="55562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72" name="Freeform 72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8628062" y="4014788"/>
                  <a:ext cx="177800" cy="211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11138">
                      <a:moveTo>
                        <a:pt x="72231" y="200025"/>
                      </a:moveTo>
                      <a:lnTo>
                        <a:pt x="22225" y="200025"/>
                      </a:lnTo>
                      <a:cubicBezTo>
                        <a:pt x="9950" y="200025"/>
                        <a:pt x="0" y="190075"/>
                        <a:pt x="0" y="177800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00012" y="0"/>
                      </a:lnTo>
                      <a:lnTo>
                        <a:pt x="155575" y="55562"/>
                      </a:lnTo>
                      <a:lnTo>
                        <a:pt x="155575" y="111125"/>
                      </a:lnTo>
                      <a:moveTo>
                        <a:pt x="100012" y="177800"/>
                      </a:moveTo>
                      <a:lnTo>
                        <a:pt x="177800" y="177800"/>
                      </a:lnTo>
                      <a:moveTo>
                        <a:pt x="144462" y="144463"/>
                      </a:moveTo>
                      <a:lnTo>
                        <a:pt x="177800" y="177800"/>
                      </a:lnTo>
                      <a:lnTo>
                        <a:pt x="144462" y="2111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74" name="TextBox 74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9123045" y="389858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下载与演示</a:t>
                </a:r>
                <a:endParaRPr lang="zh-CN" sz="16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5" name="TextBox 75"/>
              <p:cNvSpPr txBox="1"/>
              <p:nvPr>
                <p:custDataLst>
                  <p:tags r:id="rId56"/>
                </p:custDataLst>
              </p:nvPr>
            </p:nvSpPr>
            <p:spPr>
              <a:xfrm>
                <a:off x="8936990" y="4233545"/>
                <a:ext cx="26948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SVG、JSON、Mermaid、图像、WebM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6" name="Line 76"/>
              <p:cNvSpPr/>
              <p:nvPr>
                <p:custDataLst>
                  <p:tags r:id="rId57"/>
                </p:custDataLst>
              </p:nvPr>
            </p:nvSpPr>
            <p:spPr>
              <a:xfrm>
                <a:off x="8458200" y="46482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</p:grpSp>
      </p:grpSp>
      <p:grpSp>
        <p:nvGrpSpPr>
          <p:cNvPr id="82" name="Group 82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80" name="TextBox 80"/>
            <p:cNvSpPr txBox="1"/>
            <p:nvPr/>
          </p:nvSpPr>
          <p:spPr>
            <a:xfrm>
              <a:off x="560070" y="6379845"/>
              <a:ext cx="1685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SketchVoice · Capability Map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 / 14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aphicFrame>
        <p:nvGraphicFramePr>
          <p:cNvPr id="83" name="表格 82"/>
          <p:cNvGraphicFramePr/>
          <p:nvPr/>
        </p:nvGraphicFramePr>
        <p:xfrm>
          <a:off x="1828800" y="323850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7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4" name="文本框 83"/>
          <p:cNvSpPr txBox="1"/>
          <p:nvPr/>
        </p:nvSpPr>
        <p:spPr>
          <a:xfrm>
            <a:off x="783590" y="2562225"/>
            <a:ext cx="3216910" cy="485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sz="12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用户不需要先整理成规范格式，直接把讨论过程放进系统。</a:t>
            </a:r>
            <a:endParaRPr lang="zh-CN" sz="1275" dirty="0">
              <a:solidFill>
                <a:srgbClr val="47556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4565650" y="2562225"/>
            <a:ext cx="324485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sz="12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核心不是“画得像”，而是恢复可编辑知识结构。</a:t>
            </a:r>
            <a:endParaRPr lang="zh-CN" sz="1275" dirty="0">
              <a:solidFill>
                <a:srgbClr val="47556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endParaRPr lang="zh-CN" altLang="en-US"/>
          </a:p>
        </p:txBody>
      </p:sp>
      <p:sp>
        <p:nvSpPr>
          <p:cNvPr id="86" name="文本框 85"/>
          <p:cNvSpPr txBox="1"/>
          <p:nvPr/>
        </p:nvSpPr>
        <p:spPr>
          <a:xfrm>
            <a:off x="8388350" y="2562225"/>
            <a:ext cx="295529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sz="12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同一个结构可以用不同形式检查、修改和下载。</a:t>
            </a:r>
            <a:endParaRPr lang="zh-CN" sz="1275" dirty="0">
              <a:solidFill>
                <a:srgbClr val="47556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endParaRPr lang="zh-CN" altLang="en-US"/>
          </a:p>
        </p:txBody>
      </p:sp>
      <p:sp>
        <p:nvSpPr>
          <p:cNvPr id="87" name="文本框 86"/>
          <p:cNvSpPr txBox="1"/>
          <p:nvPr/>
        </p:nvSpPr>
        <p:spPr>
          <a:xfrm>
            <a:off x="772160" y="4716145"/>
            <a:ext cx="296164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sz="12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把结构图进一步包装成论文或汇报可用的方法图。</a:t>
            </a:r>
            <a:endParaRPr lang="zh-CN" sz="1275" dirty="0">
              <a:solidFill>
                <a:srgbClr val="47556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endParaRPr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4535805" y="4771390"/>
            <a:ext cx="3203575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sz="12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输出不止是静态图，也能变成可播放讲解材料。</a:t>
            </a:r>
            <a:endParaRPr lang="zh-CN" sz="1275" dirty="0">
              <a:solidFill>
                <a:srgbClr val="47556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endParaRPr lang="zh-CN" altLang="en-US"/>
          </a:p>
        </p:txBody>
      </p:sp>
      <p:sp>
        <p:nvSpPr>
          <p:cNvPr id="89" name="文本框 88"/>
          <p:cNvSpPr txBox="1"/>
          <p:nvPr/>
        </p:nvSpPr>
        <p:spPr>
          <a:xfrm>
            <a:off x="8388350" y="4771390"/>
            <a:ext cx="291338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sz="12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Mock 模式保证课堂演示时即使无 key 也能跑通闭环。</a:t>
            </a:r>
            <a:endParaRPr lang="zh-CN" sz="1275" dirty="0">
              <a:solidFill>
                <a:srgbClr val="47556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432435"/>
            <a:ext cx="7251478" cy="743903"/>
            <a:chOff x="537210" y="432435"/>
            <a:chExt cx="7251478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432435"/>
              <a:ext cx="72514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现场演示流程：从一张草图到可讲解交付物</a:t>
              </a:r>
              <a:endParaRPr lang="zh-CN" sz="27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902018"/>
              <a:ext cx="68751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演示重点不是单次生成图片，而是展示输入、结构化、渲染、讲解和下载的完整链路。</a:t>
              </a:r>
              <a:endParaRPr lang="zh-CN" sz="13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28650" y="1581150"/>
            <a:ext cx="10934700" cy="2971800"/>
            <a:chOff x="628650" y="1581150"/>
            <a:chExt cx="10934700" cy="2971800"/>
          </a:xfrm>
        </p:grpSpPr>
        <p:sp>
          <p:nvSpPr>
            <p:cNvPr id="6" name="Rectangle 6"/>
            <p:cNvSpPr/>
            <p:nvPr/>
          </p:nvSpPr>
          <p:spPr>
            <a:xfrm>
              <a:off x="628650" y="1581150"/>
              <a:ext cx="10934700" cy="2971800"/>
            </a:xfrm>
            <a:prstGeom prst="roundRect">
              <a:avLst>
                <a:gd name="adj" fmla="val 256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7" name="Line 7"/>
            <p:cNvSpPr/>
            <p:nvPr/>
          </p:nvSpPr>
          <p:spPr>
            <a:xfrm>
              <a:off x="1695450" y="3028950"/>
              <a:ext cx="8610600" cy="9525"/>
            </a:xfrm>
            <a:custGeom>
              <a:avLst/>
              <a:gdLst/>
              <a:ahLst/>
              <a:cxnLst/>
              <a:rect l="l" t="t" r="r" b="b"/>
              <a:pathLst>
                <a:path w="8610600" h="9525">
                  <a:moveTo>
                    <a:pt x="0" y="0"/>
                  </a:moveTo>
                  <a:lnTo>
                    <a:pt x="8610600" y="0"/>
                  </a:lnTo>
                </a:path>
              </a:pathLst>
            </a:custGeom>
            <a:noFill/>
            <a:ln w="28575">
              <a:solidFill>
                <a:srgbClr val="CBD5E1"/>
              </a:solidFill>
              <a:custDash>
                <a:ds d="266666" sp="200000"/>
              </a:custDash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64406" y="2590800"/>
              <a:ext cx="928688" cy="1650206"/>
              <a:chOff x="964406" y="2590800"/>
              <a:chExt cx="928688" cy="1650206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990600" y="2590800"/>
                <a:ext cx="876300" cy="876300"/>
              </a:xfrm>
              <a:prstGeom prst="ellipse">
                <a:avLst/>
              </a:prstGeom>
              <a:solidFill>
                <a:srgbClr val="E0F2FE"/>
              </a:solidFill>
              <a:ln w="19050">
                <a:solidFill>
                  <a:srgbClr val="155E75"/>
                </a:solidFill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1289050" y="2896155"/>
                <a:ext cx="272495" cy="272495"/>
                <a:chOff x="1289050" y="2896155"/>
                <a:chExt cx="272495" cy="272495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289050" y="2896155"/>
                  <a:ext cx="272495" cy="272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495" h="272495">
                      <a:moveTo>
                        <a:pt x="0" y="272495"/>
                      </a:moveTo>
                      <a:lnTo>
                        <a:pt x="69850" y="272495"/>
                      </a:lnTo>
                      <a:lnTo>
                        <a:pt x="253206" y="89139"/>
                      </a:lnTo>
                      <a:cubicBezTo>
                        <a:pt x="272495" y="69850"/>
                        <a:pt x="272495" y="38577"/>
                        <a:pt x="253206" y="19289"/>
                      </a:cubicBezTo>
                      <a:cubicBezTo>
                        <a:pt x="233918" y="0"/>
                        <a:pt x="202645" y="0"/>
                        <a:pt x="183356" y="19289"/>
                      </a:cubicBezTo>
                      <a:lnTo>
                        <a:pt x="0" y="202645"/>
                      </a:lnTo>
                      <a:lnTo>
                        <a:pt x="0" y="272495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454944" y="2932906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0"/>
                      </a:moveTo>
                      <a:lnTo>
                        <a:pt x="69850" y="6985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1094661" y="368617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画草图</a:t>
                </a:r>
                <a:endParaRPr lang="zh-CN" sz="15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64406" y="40124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科研流程骨架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195262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2624138" y="2590800"/>
              <a:ext cx="1228725" cy="1650206"/>
              <a:chOff x="2624138" y="2590800"/>
              <a:chExt cx="1228725" cy="1650206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2800350" y="2590800"/>
                <a:ext cx="876300" cy="876300"/>
              </a:xfrm>
              <a:prstGeom prst="ellipse">
                <a:avLst/>
              </a:prstGeom>
              <a:solidFill>
                <a:srgbClr val="CCFBF1"/>
              </a:solidFill>
              <a:ln w="19050">
                <a:solidFill>
                  <a:srgbClr val="0F766E"/>
                </a:solidFill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3116262" y="2854325"/>
                <a:ext cx="244475" cy="341312"/>
                <a:chOff x="3116262" y="2854325"/>
                <a:chExt cx="244475" cy="341312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3186112" y="2854325"/>
                  <a:ext cx="104775" cy="19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92087">
                      <a:moveTo>
                        <a:pt x="0" y="52388"/>
                      </a:moveTo>
                      <a:cubicBezTo>
                        <a:pt x="0" y="23455"/>
                        <a:pt x="23455" y="0"/>
                        <a:pt x="52388" y="0"/>
                      </a:cubicBezTo>
                      <a:cubicBezTo>
                        <a:pt x="81320" y="0"/>
                        <a:pt x="104775" y="23455"/>
                        <a:pt x="104775" y="52388"/>
                      </a:cubicBezTo>
                      <a:lnTo>
                        <a:pt x="104775" y="139700"/>
                      </a:lnTo>
                      <a:cubicBezTo>
                        <a:pt x="104775" y="168633"/>
                        <a:pt x="81320" y="192087"/>
                        <a:pt x="52388" y="192087"/>
                      </a:cubicBezTo>
                      <a:cubicBezTo>
                        <a:pt x="23455" y="192087"/>
                        <a:pt x="0" y="168633"/>
                        <a:pt x="0" y="139700"/>
                      </a:cubicBezTo>
                      <a:lnTo>
                        <a:pt x="0" y="5238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116262" y="2994025"/>
                  <a:ext cx="244475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475" h="122238">
                      <a:moveTo>
                        <a:pt x="0" y="0"/>
                      </a:moveTo>
                      <a:cubicBezTo>
                        <a:pt x="0" y="67510"/>
                        <a:pt x="54728" y="122238"/>
                        <a:pt x="122237" y="122238"/>
                      </a:cubicBezTo>
                      <a:cubicBezTo>
                        <a:pt x="189747" y="122238"/>
                        <a:pt x="244475" y="67510"/>
                        <a:pt x="244475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168650" y="3186112"/>
                  <a:ext cx="139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9525">
                      <a:moveTo>
                        <a:pt x="0" y="0"/>
                      </a:move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3238500" y="3116262"/>
                  <a:ext cx="9525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9850">
                      <a:moveTo>
                        <a:pt x="0" y="0"/>
                      </a:moveTo>
                      <a:lnTo>
                        <a:pt x="0" y="6985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2904411" y="368617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补语音</a:t>
                </a:r>
                <a:endParaRPr lang="zh-CN" sz="15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624138" y="40124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节点、方向、意图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376237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4467642" y="2590800"/>
              <a:ext cx="1161217" cy="1650206"/>
              <a:chOff x="4467642" y="2590800"/>
              <a:chExt cx="1161217" cy="1650206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4610100" y="2590800"/>
                <a:ext cx="876300" cy="8763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2563EB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4891088" y="2871788"/>
                <a:ext cx="314325" cy="331787"/>
                <a:chOff x="4891088" y="2871788"/>
                <a:chExt cx="314325" cy="331787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4943475" y="2871788"/>
                  <a:ext cx="209550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209550">
                      <a:moveTo>
                        <a:pt x="0" y="104775"/>
                      </a:moveTo>
                      <a:cubicBezTo>
                        <a:pt x="0" y="162641"/>
                        <a:pt x="46909" y="209550"/>
                        <a:pt x="104775" y="209550"/>
                      </a:cubicBezTo>
                      <a:cubicBezTo>
                        <a:pt x="162641" y="209550"/>
                        <a:pt x="209550" y="162641"/>
                        <a:pt x="209550" y="104775"/>
                      </a:cubicBezTo>
                      <a:cubicBezTo>
                        <a:pt x="209550" y="46909"/>
                        <a:pt x="162641" y="0"/>
                        <a:pt x="104775" y="0"/>
                      </a:cubicBezTo>
                      <a:cubicBezTo>
                        <a:pt x="46909" y="0"/>
                        <a:pt x="0" y="46909"/>
                        <a:pt x="0" y="104775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048250" y="2871788"/>
                  <a:ext cx="34925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209550">
                      <a:moveTo>
                        <a:pt x="0" y="0"/>
                      </a:moveTo>
                      <a:cubicBezTo>
                        <a:pt x="23278" y="5815"/>
                        <a:pt x="34925" y="40740"/>
                        <a:pt x="34925" y="104775"/>
                      </a:cubicBezTo>
                      <a:cubicBezTo>
                        <a:pt x="34925" y="168810"/>
                        <a:pt x="23278" y="203735"/>
                        <a:pt x="0" y="2095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5013325" y="2871788"/>
                  <a:ext cx="34925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209550">
                      <a:moveTo>
                        <a:pt x="34925" y="0"/>
                      </a:moveTo>
                      <a:cubicBezTo>
                        <a:pt x="11647" y="5815"/>
                        <a:pt x="0" y="40740"/>
                        <a:pt x="0" y="104775"/>
                      </a:cubicBezTo>
                      <a:cubicBezTo>
                        <a:pt x="0" y="168810"/>
                        <a:pt x="11647" y="203735"/>
                        <a:pt x="34925" y="209550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943475" y="2976562"/>
                  <a:ext cx="2095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9525">
                      <a:moveTo>
                        <a:pt x="0" y="0"/>
                      </a:moveTo>
                      <a:lnTo>
                        <a:pt x="209550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891088" y="3168650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5083175" y="3168650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5013325" y="3133725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5048250" y="3081338"/>
                  <a:ext cx="9525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2388">
                      <a:moveTo>
                        <a:pt x="0" y="0"/>
                      </a:moveTo>
                      <a:lnTo>
                        <a:pt x="0" y="52388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4504134" y="36861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生成结构图</a:t>
                </a:r>
                <a:endParaRPr lang="zh-CN" sz="15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467642" y="4012406"/>
                <a:ext cx="116121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Mermaid / JSON</a:t>
                </a:r>
                <a:endParaRPr lang="zh-CN" sz="1125" dirty="0">
                  <a:solidFill>
                    <a:srgbClr val="47556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sp>
          <p:nvSpPr>
            <p:cNvPr id="39" name="Line 39"/>
            <p:cNvSpPr/>
            <p:nvPr/>
          </p:nvSpPr>
          <p:spPr>
            <a:xfrm>
              <a:off x="557212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313884" y="2590800"/>
              <a:ext cx="1088231" cy="1650206"/>
              <a:chOff x="6313884" y="2590800"/>
              <a:chExt cx="1088231" cy="1650206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6419850" y="2590800"/>
                <a:ext cx="876300" cy="876300"/>
              </a:xfrm>
              <a:prstGeom prst="ellipse">
                <a:avLst/>
              </a:prstGeom>
              <a:solidFill>
                <a:srgbClr val="DCFCE7"/>
              </a:solidFill>
              <a:ln w="19050">
                <a:solidFill>
                  <a:srgbClr val="16A34A"/>
                </a:solidFill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6700838" y="2871788"/>
                <a:ext cx="314325" cy="314325"/>
                <a:chOff x="6700838" y="2871788"/>
                <a:chExt cx="314325" cy="314325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6910388" y="2959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75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6700838" y="2871788"/>
                  <a:ext cx="314325" cy="3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" h="314325">
                      <a:moveTo>
                        <a:pt x="0" y="52388"/>
                      </a:moveTo>
                      <a:cubicBezTo>
                        <a:pt x="0" y="23455"/>
                        <a:pt x="23455" y="0"/>
                        <a:pt x="52388" y="0"/>
                      </a:cubicBezTo>
                      <a:lnTo>
                        <a:pt x="261938" y="0"/>
                      </a:lnTo>
                      <a:cubicBezTo>
                        <a:pt x="290870" y="0"/>
                        <a:pt x="314325" y="23455"/>
                        <a:pt x="314325" y="52388"/>
                      </a:cubicBezTo>
                      <a:lnTo>
                        <a:pt x="314325" y="261938"/>
                      </a:lnTo>
                      <a:cubicBezTo>
                        <a:pt x="314325" y="290870"/>
                        <a:pt x="290870" y="314325"/>
                        <a:pt x="261938" y="314325"/>
                      </a:cubicBezTo>
                      <a:lnTo>
                        <a:pt x="52388" y="314325"/>
                      </a:lnTo>
                      <a:cubicBezTo>
                        <a:pt x="23455" y="314325"/>
                        <a:pt x="0" y="290870"/>
                        <a:pt x="0" y="261938"/>
                      </a:cubicBezTo>
                      <a:lnTo>
                        <a:pt x="0" y="52388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700838" y="2995893"/>
                  <a:ext cx="227013" cy="1029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013" h="102907">
                      <a:moveTo>
                        <a:pt x="0" y="102907"/>
                      </a:moveTo>
                      <a:lnTo>
                        <a:pt x="87312" y="15594"/>
                      </a:lnTo>
                      <a:cubicBezTo>
                        <a:pt x="103518" y="0"/>
                        <a:pt x="123495" y="0"/>
                        <a:pt x="139700" y="15594"/>
                      </a:cubicBezTo>
                      <a:lnTo>
                        <a:pt x="227013" y="102907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6892925" y="3030818"/>
                  <a:ext cx="122238" cy="67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67982">
                      <a:moveTo>
                        <a:pt x="0" y="33057"/>
                      </a:moveTo>
                      <a:lnTo>
                        <a:pt x="17463" y="15594"/>
                      </a:lnTo>
                      <a:cubicBezTo>
                        <a:pt x="33668" y="0"/>
                        <a:pt x="53645" y="0"/>
                        <a:pt x="69850" y="15594"/>
                      </a:cubicBezTo>
                      <a:lnTo>
                        <a:pt x="122238" y="67982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6313884" y="36861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生成终稿图</a:t>
                </a:r>
                <a:endParaRPr lang="zh-CN" sz="15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318647" y="401240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论文风格方法图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49" name="Line 49"/>
            <p:cNvSpPr/>
            <p:nvPr/>
          </p:nvSpPr>
          <p:spPr>
            <a:xfrm>
              <a:off x="738187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203406" y="2590800"/>
              <a:ext cx="928688" cy="1650206"/>
              <a:chOff x="8203406" y="2590800"/>
              <a:chExt cx="928688" cy="1650206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8229600" y="2590800"/>
                <a:ext cx="876300" cy="876300"/>
              </a:xfrm>
              <a:prstGeom prst="ellipse">
                <a:avLst/>
              </a:prstGeom>
              <a:solidFill>
                <a:srgbClr val="FEF3C7"/>
              </a:solidFill>
              <a:ln w="19050">
                <a:solidFill>
                  <a:srgbClr val="F59E0B"/>
                </a:solidFill>
              </a:ln>
            </p:spPr>
          </p:sp>
          <p:grpSp>
            <p:nvGrpSpPr>
              <p:cNvPr id="54" name="Group 54"/>
              <p:cNvGrpSpPr/>
              <p:nvPr/>
            </p:nvGrpSpPr>
            <p:grpSpPr>
              <a:xfrm>
                <a:off x="8510588" y="2888523"/>
                <a:ext cx="314325" cy="280127"/>
                <a:chOff x="8510588" y="2888523"/>
                <a:chExt cx="314325" cy="280127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8772525" y="2959100"/>
                  <a:ext cx="52388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104775">
                      <a:moveTo>
                        <a:pt x="0" y="0"/>
                      </a:moveTo>
                      <a:cubicBezTo>
                        <a:pt x="28933" y="0"/>
                        <a:pt x="52388" y="23455"/>
                        <a:pt x="52388" y="52388"/>
                      </a:cubicBezTo>
                      <a:cubicBezTo>
                        <a:pt x="52388" y="81320"/>
                        <a:pt x="28933" y="104775"/>
                        <a:pt x="0" y="104775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8580438" y="2959100"/>
                  <a:ext cx="52388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209550">
                      <a:moveTo>
                        <a:pt x="52388" y="0"/>
                      </a:moveTo>
                      <a:lnTo>
                        <a:pt x="52388" y="192087"/>
                      </a:lnTo>
                      <a:cubicBezTo>
                        <a:pt x="52388" y="201732"/>
                        <a:pt x="44569" y="209550"/>
                        <a:pt x="34925" y="209550"/>
                      </a:cubicBezTo>
                      <a:lnTo>
                        <a:pt x="17462" y="209550"/>
                      </a:lnTo>
                      <a:cubicBezTo>
                        <a:pt x="7818" y="209550"/>
                        <a:pt x="0" y="201732"/>
                        <a:pt x="0" y="192087"/>
                      </a:cubicBezTo>
                      <a:lnTo>
                        <a:pt x="0" y="10477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8510588" y="2888523"/>
                  <a:ext cx="261941" cy="245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1" h="245928">
                      <a:moveTo>
                        <a:pt x="157162" y="70577"/>
                      </a:moveTo>
                      <a:lnTo>
                        <a:pt x="236163" y="4743"/>
                      </a:lnTo>
                      <a:cubicBezTo>
                        <a:pt x="240849" y="840"/>
                        <a:pt x="247371" y="0"/>
                        <a:pt x="252893" y="2589"/>
                      </a:cubicBezTo>
                      <a:cubicBezTo>
                        <a:pt x="258415" y="5178"/>
                        <a:pt x="261941" y="10728"/>
                        <a:pt x="261938" y="16827"/>
                      </a:cubicBezTo>
                      <a:lnTo>
                        <a:pt x="261938" y="229101"/>
                      </a:lnTo>
                      <a:cubicBezTo>
                        <a:pt x="261941" y="235200"/>
                        <a:pt x="258415" y="240750"/>
                        <a:pt x="252893" y="243339"/>
                      </a:cubicBezTo>
                      <a:cubicBezTo>
                        <a:pt x="247371" y="245928"/>
                        <a:pt x="240849" y="245089"/>
                        <a:pt x="236163" y="241185"/>
                      </a:cubicBezTo>
                      <a:lnTo>
                        <a:pt x="157162" y="175352"/>
                      </a:lnTo>
                      <a:lnTo>
                        <a:pt x="17463" y="175352"/>
                      </a:lnTo>
                      <a:cubicBezTo>
                        <a:pt x="7818" y="175352"/>
                        <a:pt x="0" y="167533"/>
                        <a:pt x="0" y="157889"/>
                      </a:cubicBezTo>
                      <a:lnTo>
                        <a:pt x="0" y="88039"/>
                      </a:lnTo>
                      <a:cubicBezTo>
                        <a:pt x="0" y="78395"/>
                        <a:pt x="7818" y="70577"/>
                        <a:pt x="17463" y="70577"/>
                      </a:cubicBezTo>
                      <a:lnTo>
                        <a:pt x="157162" y="70577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8228648" y="36861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生成讲解</a:t>
                </a:r>
                <a:endParaRPr lang="zh-CN" sz="15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203406" y="40124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光标跟随段落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58" name="Line 58"/>
            <p:cNvSpPr/>
            <p:nvPr/>
          </p:nvSpPr>
          <p:spPr>
            <a:xfrm>
              <a:off x="9191625" y="3028950"/>
              <a:ext cx="809625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9791879" y="2590800"/>
              <a:ext cx="1371243" cy="1650206"/>
              <a:chOff x="9791879" y="2590800"/>
              <a:chExt cx="1371243" cy="1650206"/>
            </a:xfrm>
          </p:grpSpPr>
          <p:sp>
            <p:nvSpPr>
              <p:cNvPr id="59" name="Ellipse 59"/>
              <p:cNvSpPr/>
              <p:nvPr/>
            </p:nvSpPr>
            <p:spPr>
              <a:xfrm>
                <a:off x="10039350" y="2590800"/>
                <a:ext cx="876300" cy="876300"/>
              </a:xfrm>
              <a:prstGeom prst="ellipse">
                <a:avLst/>
              </a:prstGeom>
              <a:gradFill>
                <a:gsLst>
                  <a:gs pos="0">
                    <a:srgbClr val="155E75"/>
                  </a:gs>
                  <a:gs pos="100000">
                    <a:srgbClr val="0F766E"/>
                  </a:gs>
                </a:gsLst>
                <a:lin ang="0" scaled="1"/>
              </a:gradFill>
              <a:ln w="19050">
                <a:solidFill>
                  <a:srgbClr val="0F766E"/>
                </a:solidFill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10355262" y="2871788"/>
                <a:ext cx="279400" cy="331787"/>
                <a:chOff x="10355262" y="2871788"/>
                <a:chExt cx="279400" cy="331787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10512425" y="2871788"/>
                  <a:ext cx="87312" cy="87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12" h="87313">
                      <a:moveTo>
                        <a:pt x="0" y="0"/>
                      </a:moveTo>
                      <a:lnTo>
                        <a:pt x="0" y="69850"/>
                      </a:lnTo>
                      <a:cubicBezTo>
                        <a:pt x="0" y="79494"/>
                        <a:pt x="7818" y="87313"/>
                        <a:pt x="17462" y="87313"/>
                      </a:cubicBezTo>
                      <a:lnTo>
                        <a:pt x="87312" y="873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10355262" y="2871788"/>
                  <a:ext cx="279400" cy="33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400" h="331787">
                      <a:moveTo>
                        <a:pt x="113506" y="314325"/>
                      </a:moveTo>
                      <a:lnTo>
                        <a:pt x="34925" y="314325"/>
                      </a:lnTo>
                      <a:cubicBezTo>
                        <a:pt x="15636" y="314325"/>
                        <a:pt x="0" y="298689"/>
                        <a:pt x="0" y="279400"/>
                      </a:cubicBezTo>
                      <a:lnTo>
                        <a:pt x="0" y="34925"/>
                      </a:lnTo>
                      <a:cubicBezTo>
                        <a:pt x="0" y="15636"/>
                        <a:pt x="15636" y="0"/>
                        <a:pt x="34925" y="0"/>
                      </a:cubicBezTo>
                      <a:lnTo>
                        <a:pt x="157162" y="0"/>
                      </a:lnTo>
                      <a:lnTo>
                        <a:pt x="244475" y="87313"/>
                      </a:lnTo>
                      <a:lnTo>
                        <a:pt x="244475" y="174625"/>
                      </a:lnTo>
                      <a:moveTo>
                        <a:pt x="157162" y="279400"/>
                      </a:moveTo>
                      <a:lnTo>
                        <a:pt x="279400" y="279400"/>
                      </a:lnTo>
                      <a:moveTo>
                        <a:pt x="227012" y="227012"/>
                      </a:moveTo>
                      <a:lnTo>
                        <a:pt x="279400" y="279400"/>
                      </a:lnTo>
                      <a:lnTo>
                        <a:pt x="227012" y="331787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10038398" y="36861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下载交付</a:t>
                </a:r>
                <a:endParaRPr lang="zh-CN" sz="15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791879" y="4012406"/>
                <a:ext cx="137124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SVG / JSON / WebM</a:t>
                </a:r>
                <a:endParaRPr lang="zh-CN" sz="1125" dirty="0">
                  <a:solidFill>
                    <a:srgbClr val="47556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668655" y="4953000"/>
            <a:ext cx="11068860" cy="723900"/>
            <a:chOff x="668655" y="4953000"/>
            <a:chExt cx="11068860" cy="723900"/>
          </a:xfrm>
        </p:grpSpPr>
        <p:sp>
          <p:nvSpPr>
            <p:cNvPr id="67" name="Rectangle 67"/>
            <p:cNvSpPr/>
            <p:nvPr/>
          </p:nvSpPr>
          <p:spPr>
            <a:xfrm>
              <a:off x="668655" y="4953000"/>
              <a:ext cx="10897235" cy="723900"/>
            </a:xfrm>
            <a:prstGeom prst="roundRect">
              <a:avLst>
                <a:gd name="adj" fmla="val 10526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143000" y="507682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推荐现场演示口径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44905" y="5378768"/>
              <a:ext cx="105926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画一个“输入数据 → 模型 → 评测指标”的简单草图，再用语音补充中间步骤，最后展示 Mermaid、SVG、JSON、终稿图和讲解 WebM。</a:t>
              </a:r>
              <a:endParaRPr lang="zh-CN" sz="1350" dirty="0">
                <a:solidFill>
                  <a:srgbClr val="E0F2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71" name="TextBox 71"/>
            <p:cNvSpPr txBox="1"/>
            <p:nvPr/>
          </p:nvSpPr>
          <p:spPr>
            <a:xfrm>
              <a:off x="560070" y="6379845"/>
              <a:ext cx="17090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SketchVoice · Live Demo Flow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 / 14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7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94335"/>
            <a:ext cx="8007572" cy="743903"/>
            <a:chOff x="537210" y="394335"/>
            <a:chExt cx="8007572" cy="74390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94335"/>
              <a:ext cx="80075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系统架构：前端交互、后端服务和模型能力分层</a:t>
              </a:r>
              <a:endParaRPr lang="zh-CN" sz="27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66771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产品闭环由浏览器工作台、FastAPI 接口、结构化模型、图像与语音服务共同完成。</a:t>
              </a:r>
              <a:endParaRPr lang="zh-CN" sz="13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38200" y="1409700"/>
            <a:ext cx="10515600" cy="4495800"/>
            <a:chOff x="838200" y="1409700"/>
            <a:chExt cx="10515600" cy="4495800"/>
          </a:xfrm>
        </p:grpSpPr>
        <p:grpSp>
          <p:nvGrpSpPr>
            <p:cNvPr id="15" name="Group 15"/>
            <p:cNvGrpSpPr/>
            <p:nvPr/>
          </p:nvGrpSpPr>
          <p:grpSpPr>
            <a:xfrm>
              <a:off x="838200" y="1409700"/>
              <a:ext cx="10515600" cy="914400"/>
              <a:chOff x="838200" y="1409700"/>
              <a:chExt cx="10515600" cy="914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838200" y="1409700"/>
                <a:ext cx="105156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E0F2FE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066800" y="163830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1214438" y="1778000"/>
                <a:ext cx="200025" cy="187325"/>
                <a:chOff x="1214438" y="1778000"/>
                <a:chExt cx="200025" cy="187325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1214438" y="1778000"/>
                  <a:ext cx="2000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3335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2" y="0"/>
                      </a:cubicBezTo>
                      <a:lnTo>
                        <a:pt x="188913" y="0"/>
                      </a:lnTo>
                      <a:cubicBezTo>
                        <a:pt x="195050" y="0"/>
                        <a:pt x="200025" y="4975"/>
                        <a:pt x="200025" y="11113"/>
                      </a:cubicBezTo>
                      <a:lnTo>
                        <a:pt x="200025" y="122238"/>
                      </a:lnTo>
                      <a:cubicBezTo>
                        <a:pt x="200025" y="128375"/>
                        <a:pt x="195050" y="133350"/>
                        <a:pt x="188913" y="133350"/>
                      </a:cubicBezTo>
                      <a:lnTo>
                        <a:pt x="11112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258888" y="195580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281112" y="191135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347788" y="191135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827848" y="1582579"/>
                <a:ext cx="114264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前端工作台</a:t>
                </a:r>
                <a:endParaRPr lang="zh-CN" sz="15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31658" y="1919764"/>
                <a:ext cx="462295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画布、录音、上传、标签页预览、下载、讲解播放和光标动画</a:t>
                </a:r>
                <a:endPara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38200" y="2552700"/>
              <a:ext cx="10515600" cy="914400"/>
              <a:chOff x="838200" y="2552700"/>
              <a:chExt cx="10515600" cy="9144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838200" y="2552700"/>
                <a:ext cx="105156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066800" y="278130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1214438" y="2921000"/>
                <a:ext cx="200025" cy="177800"/>
                <a:chOff x="1214438" y="2921000"/>
                <a:chExt cx="200025" cy="17780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1214438" y="2921000"/>
                  <a:ext cx="20002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099" y="0"/>
                        <a:pt x="200025" y="14926"/>
                        <a:pt x="200025" y="33338"/>
                      </a:cubicBezTo>
                      <a:lnTo>
                        <a:pt x="200025" y="55562"/>
                      </a:lnTo>
                      <a:cubicBezTo>
                        <a:pt x="200025" y="73974"/>
                        <a:pt x="185099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4"/>
                        <a:pt x="0" y="55562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214438" y="3009900"/>
                  <a:ext cx="20002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099" y="0"/>
                        <a:pt x="200025" y="14926"/>
                        <a:pt x="200025" y="33338"/>
                      </a:cubicBezTo>
                      <a:lnTo>
                        <a:pt x="200025" y="55562"/>
                      </a:lnTo>
                      <a:cubicBezTo>
                        <a:pt x="200025" y="73974"/>
                        <a:pt x="185099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4"/>
                        <a:pt x="0" y="55562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258888" y="2965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258888" y="30543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827848" y="2725579"/>
                <a:ext cx="156164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FastAPI 服务层</a:t>
                </a:r>
                <a:endParaRPr lang="zh-CN" sz="15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832610" y="3070860"/>
                <a:ext cx="42150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/api/generate /api/render-image /api/narrate-image</a:t>
                </a:r>
                <a:endParaRPr lang="zh-CN" sz="1200" dirty="0">
                  <a:solidFill>
                    <a:srgbClr val="47556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260398" y="2965609"/>
                <a:ext cx="309276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统一接收草图、音频、文本和结构化结果</a:t>
                </a:r>
                <a:endPara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38200" y="3695700"/>
              <a:ext cx="10515600" cy="1066800"/>
              <a:chOff x="838200" y="3695700"/>
              <a:chExt cx="10515600" cy="1066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838200" y="3695700"/>
                <a:ext cx="1051560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172033">
                    <a:alpha val="4500"/>
                  </a:srgbClr>
                </a:outerShdw>
              </a:effectLst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1066800" y="398145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1214438" y="4110038"/>
                <a:ext cx="200025" cy="200025"/>
                <a:chOff x="1214438" y="4110038"/>
                <a:chExt cx="200025" cy="200025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1214438" y="411003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33338" y="200025"/>
                      </a:moveTo>
                      <a:lnTo>
                        <a:pt x="200025" y="33338"/>
                      </a:lnTo>
                      <a:lnTo>
                        <a:pt x="166688" y="0"/>
                      </a:lnTo>
                      <a:lnTo>
                        <a:pt x="0" y="166688"/>
                      </a:lnTo>
                      <a:lnTo>
                        <a:pt x="33338" y="20002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347788" y="4143375"/>
                  <a:ext cx="33338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33338">
                      <a:moveTo>
                        <a:pt x="0" y="0"/>
                      </a:moveTo>
                      <a:lnTo>
                        <a:pt x="33338" y="33338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258888" y="411003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22225" y="0"/>
                      </a:moveTo>
                      <a:cubicBezTo>
                        <a:pt x="22225" y="12275"/>
                        <a:pt x="32175" y="22225"/>
                        <a:pt x="44450" y="22225"/>
                      </a:cubicBezTo>
                      <a:cubicBezTo>
                        <a:pt x="32175" y="22225"/>
                        <a:pt x="22225" y="32175"/>
                        <a:pt x="22225" y="44450"/>
                      </a:cubicBezTo>
                      <a:cubicBezTo>
                        <a:pt x="22225" y="32175"/>
                        <a:pt x="12275" y="22225"/>
                        <a:pt x="0" y="22225"/>
                      </a:cubicBezTo>
                      <a:cubicBezTo>
                        <a:pt x="12275" y="22225"/>
                        <a:pt x="22225" y="12275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370012" y="4221162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22225" y="0"/>
                      </a:moveTo>
                      <a:cubicBezTo>
                        <a:pt x="22225" y="12275"/>
                        <a:pt x="32175" y="22225"/>
                        <a:pt x="44450" y="22225"/>
                      </a:cubicBezTo>
                      <a:cubicBezTo>
                        <a:pt x="32175" y="22225"/>
                        <a:pt x="22225" y="32175"/>
                        <a:pt x="22225" y="44450"/>
                      </a:cubicBezTo>
                      <a:cubicBezTo>
                        <a:pt x="22225" y="32175"/>
                        <a:pt x="12275" y="22225"/>
                        <a:pt x="0" y="22225"/>
                      </a:cubicBezTo>
                      <a:cubicBezTo>
                        <a:pt x="12275" y="22225"/>
                        <a:pt x="22225" y="12275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827848" y="383047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模型与生成服务</a:t>
                </a:r>
                <a:endParaRPr lang="zh-CN" sz="15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831658" y="4167664"/>
                <a:ext cx="618715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ASR 转写、多模态结构化、豆包草稿图、OpenAI 终稿图、OpenAI/豆包/Mock TTS</a:t>
                </a:r>
                <a:endPara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1847850" y="4457700"/>
                <a:ext cx="1619250" cy="209550"/>
              </a:xfrm>
              <a:prstGeom prst="roundRect">
                <a:avLst>
                  <a:gd name="adj" fmla="val 36364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2216039" y="4504849"/>
                <a:ext cx="88287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55E75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mock fallback</a:t>
                </a:r>
                <a:endParaRPr lang="zh-CN" sz="975" dirty="0">
                  <a:solidFill>
                    <a:srgbClr val="155E7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838200" y="4991100"/>
              <a:ext cx="10515600" cy="914400"/>
              <a:chOff x="838200" y="4991100"/>
              <a:chExt cx="10515600" cy="9144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38200" y="4991100"/>
                <a:ext cx="10515600" cy="914400"/>
              </a:xfrm>
              <a:prstGeom prst="roundRect">
                <a:avLst>
                  <a:gd name="adj" fmla="val 8333"/>
                </a:avLst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1066800" y="5219700"/>
                <a:ext cx="5334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1236662" y="5348288"/>
                <a:ext cx="177800" cy="211137"/>
                <a:chOff x="1236662" y="5348288"/>
                <a:chExt cx="177800" cy="211137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1336675" y="5348288"/>
                  <a:ext cx="55562" cy="55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55563">
                      <a:moveTo>
                        <a:pt x="0" y="0"/>
                      </a:moveTo>
                      <a:lnTo>
                        <a:pt x="0" y="44450"/>
                      </a:lnTo>
                      <a:cubicBezTo>
                        <a:pt x="0" y="50587"/>
                        <a:pt x="4975" y="55563"/>
                        <a:pt x="11112" y="55563"/>
                      </a:cubicBezTo>
                      <a:lnTo>
                        <a:pt x="55562" y="55563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236662" y="5348288"/>
                  <a:ext cx="177800" cy="211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11137">
                      <a:moveTo>
                        <a:pt x="72231" y="200025"/>
                      </a:moveTo>
                      <a:lnTo>
                        <a:pt x="22225" y="200025"/>
                      </a:lnTo>
                      <a:cubicBezTo>
                        <a:pt x="9950" y="200025"/>
                        <a:pt x="0" y="190075"/>
                        <a:pt x="0" y="177800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00012" y="0"/>
                      </a:lnTo>
                      <a:lnTo>
                        <a:pt x="155575" y="55563"/>
                      </a:lnTo>
                      <a:lnTo>
                        <a:pt x="155575" y="111125"/>
                      </a:lnTo>
                      <a:moveTo>
                        <a:pt x="100012" y="177800"/>
                      </a:moveTo>
                      <a:lnTo>
                        <a:pt x="177800" y="177800"/>
                      </a:lnTo>
                      <a:moveTo>
                        <a:pt x="144462" y="144462"/>
                      </a:moveTo>
                      <a:lnTo>
                        <a:pt x="177800" y="177800"/>
                      </a:lnTo>
                      <a:lnTo>
                        <a:pt x="144462" y="211137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1827848" y="5163979"/>
                <a:ext cx="136317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输出与导出层</a:t>
                </a:r>
                <a:endParaRPr lang="zh-CN" sz="15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831658" y="5501164"/>
                <a:ext cx="48099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Mermaid、SVG、JSON、AI 图像、讲解音频、浏览器录制 WebM</a:t>
                </a:r>
                <a:endPara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8915400" y="1695450"/>
            <a:ext cx="2000250" cy="4057650"/>
            <a:chOff x="8915400" y="1695450"/>
            <a:chExt cx="2000250" cy="4057650"/>
          </a:xfrm>
        </p:grpSpPr>
        <p:sp>
          <p:nvSpPr>
            <p:cNvPr id="48" name="Rectangle 48"/>
            <p:cNvSpPr/>
            <p:nvPr/>
          </p:nvSpPr>
          <p:spPr>
            <a:xfrm>
              <a:off x="8915400" y="1695450"/>
              <a:ext cx="200025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28201" y="183261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55E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用户看到的是闭环</a:t>
              </a:r>
              <a:endParaRPr lang="zh-CN" sz="1200" b="1" dirty="0">
                <a:solidFill>
                  <a:srgbClr val="155E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915400" y="5334000"/>
              <a:ext cx="200025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12212" y="54711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6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系统内部是分层</a:t>
              </a:r>
              <a:endParaRPr lang="zh-CN" sz="1200" b="1" dirty="0">
                <a:solidFill>
                  <a:srgbClr val="0F76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3" name="TextBox 53"/>
            <p:cNvSpPr txBox="1"/>
            <p:nvPr/>
          </p:nvSpPr>
          <p:spPr>
            <a:xfrm>
              <a:off x="560070" y="6379845"/>
              <a:ext cx="16190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SketchVoice · Architecture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06 / 14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75285"/>
            <a:ext cx="6495383" cy="762953"/>
            <a:chOff x="537210" y="375285"/>
            <a:chExt cx="6495383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649538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科研定位：语音引导的知识草图结构化</a:t>
              </a:r>
              <a:endParaRPr lang="zh-CN" sz="27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62000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我们研究的不是“语音转文字 + 大模型画图”，而是多模态知识结构恢复问题。</a:t>
              </a:r>
              <a:endParaRPr lang="zh-CN" sz="13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76300" y="1409700"/>
            <a:ext cx="10439400" cy="990600"/>
            <a:chOff x="876300" y="1409700"/>
            <a:chExt cx="10439400" cy="990600"/>
          </a:xfrm>
        </p:grpSpPr>
        <p:sp>
          <p:nvSpPr>
            <p:cNvPr id="6" name="Rectangle 6"/>
            <p:cNvSpPr/>
            <p:nvPr/>
          </p:nvSpPr>
          <p:spPr>
            <a:xfrm>
              <a:off x="876300" y="1409700"/>
              <a:ext cx="10439400" cy="990600"/>
            </a:xfrm>
            <a:prstGeom prst="roundRect">
              <a:avLst>
                <a:gd name="adj" fmla="val 7692"/>
              </a:avLst>
            </a:prstGeom>
            <a:solidFill>
              <a:srgbClr val="155E75"/>
            </a:solidFill>
            <a:ln>
              <a:noFill/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  <p:txBody>
            <a:bodyPr/>
            <a:p>
              <a:endParaRPr lang="zh-CN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32560" y="1683544"/>
              <a:ext cx="1117600" cy="492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200" b="1" dirty="0">
                  <a:solidFill>
                    <a:srgbClr val="E0F2F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Input</a:t>
              </a:r>
              <a:endParaRPr lang="zh-CN" sz="3200" b="1" dirty="0">
                <a:solidFill>
                  <a:srgbClr val="E0F2F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29050" y="1581150"/>
              <a:ext cx="4524375" cy="5715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9533255" y="1621949"/>
              <a:ext cx="1341120" cy="492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200" b="1" dirty="0">
                  <a:solidFill>
                    <a:srgbClr val="E0F2F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Output</a:t>
              </a:r>
              <a:endParaRPr lang="zh-CN" sz="3200" b="1" dirty="0">
                <a:solidFill>
                  <a:srgbClr val="E0F2F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04773" y="2113598"/>
              <a:ext cx="71811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0F2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 是手绘知识草图，U 是同步语音描述，输出是可编辑、可评测、可渲染的结构化知识图。</a:t>
              </a:r>
              <a:endParaRPr lang="zh-CN" sz="1350" dirty="0">
                <a:solidFill>
                  <a:srgbClr val="E0F2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7" name="Group 47"/>
          <p:cNvGrpSpPr/>
          <p:nvPr>
            <p:custDataLst>
              <p:tags r:id="rId2"/>
            </p:custDataLst>
          </p:nvPr>
        </p:nvGrpSpPr>
        <p:grpSpPr>
          <a:xfrm>
            <a:off x="666750" y="2895600"/>
            <a:ext cx="10858500" cy="1695450"/>
            <a:chOff x="666750" y="2895600"/>
            <a:chExt cx="10858500" cy="1695450"/>
          </a:xfrm>
        </p:grpSpPr>
        <p:grpSp>
          <p:nvGrpSpPr>
            <p:cNvPr id="20" name="Group 20"/>
            <p:cNvGrpSpPr/>
            <p:nvPr/>
          </p:nvGrpSpPr>
          <p:grpSpPr>
            <a:xfrm>
              <a:off x="666750" y="2895600"/>
              <a:ext cx="3333750" cy="1695450"/>
              <a:chOff x="666750" y="2895600"/>
              <a:chExt cx="3333750" cy="1695450"/>
            </a:xfrm>
          </p:grpSpPr>
          <p:sp>
            <p:nvSpPr>
              <p:cNvPr id="12" name="Rectangle 12"/>
              <p:cNvSpPr/>
              <p:nvPr>
                <p:custDataLst>
                  <p:tags r:id="rId3"/>
                </p:custDataLst>
              </p:nvPr>
            </p:nvSpPr>
            <p:spPr>
              <a:xfrm>
                <a:off x="666750" y="2895600"/>
                <a:ext cx="333375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13" name="Rectangle 13"/>
              <p:cNvSpPr/>
              <p:nvPr>
                <p:custDataLst>
                  <p:tags r:id="rId4"/>
                </p:custDataLst>
              </p:nvPr>
            </p:nvSpPr>
            <p:spPr>
              <a:xfrm>
                <a:off x="666750" y="2895600"/>
                <a:ext cx="3333750" cy="7620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1016000" y="3251127"/>
                <a:ext cx="247723" cy="247723"/>
                <a:chOff x="1016000" y="3251127"/>
                <a:chExt cx="247723" cy="247723"/>
              </a:xfrm>
            </p:grpSpPr>
            <p:sp>
              <p:nvSpPr>
                <p:cNvPr id="14" name="Freeform 14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016000" y="3251127"/>
                  <a:ext cx="247723" cy="24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723" h="247723">
                      <a:moveTo>
                        <a:pt x="0" y="247723"/>
                      </a:moveTo>
                      <a:lnTo>
                        <a:pt x="63500" y="247723"/>
                      </a:lnTo>
                      <a:lnTo>
                        <a:pt x="230188" y="81035"/>
                      </a:lnTo>
                      <a:cubicBezTo>
                        <a:pt x="247723" y="63500"/>
                        <a:pt x="247723" y="35070"/>
                        <a:pt x="230188" y="17535"/>
                      </a:cubicBezTo>
                      <a:cubicBezTo>
                        <a:pt x="212652" y="0"/>
                        <a:pt x="184223" y="0"/>
                        <a:pt x="166688" y="17535"/>
                      </a:cubicBezTo>
                      <a:lnTo>
                        <a:pt x="0" y="184223"/>
                      </a:lnTo>
                      <a:lnTo>
                        <a:pt x="0" y="247723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5" name="Freeform 15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166812" y="3284538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63500" y="6350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17" name="TextBox 1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483042" y="3242786"/>
                <a:ext cx="1734526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草图：空间先验</a:t>
                </a:r>
                <a:endParaRPr lang="zh-CN" sz="172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936308" y="3729514"/>
                <a:ext cx="24126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能表达上下游、并行分支、层级</a:t>
                </a:r>
                <a:endPara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36308" y="3996214"/>
                <a:ext cx="258270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和反馈闭环，但文字和箭头不稳。</a:t>
                </a:r>
                <a:endPara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429125" y="2895600"/>
              <a:ext cx="3333750" cy="1695450"/>
              <a:chOff x="4429125" y="2895600"/>
              <a:chExt cx="3333750" cy="1695450"/>
            </a:xfrm>
          </p:grpSpPr>
          <p:sp>
            <p:nvSpPr>
              <p:cNvPr id="21" name="Rectangle 21"/>
              <p:cNvSpPr/>
              <p:nvPr>
                <p:custDataLst>
                  <p:tags r:id="rId10"/>
                </p:custDataLst>
              </p:nvPr>
            </p:nvSpPr>
            <p:spPr>
              <a:xfrm>
                <a:off x="4429125" y="2895600"/>
                <a:ext cx="333375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22" name="Rectangle 22"/>
              <p:cNvSpPr/>
              <p:nvPr>
                <p:custDataLst>
                  <p:tags r:id="rId11"/>
                </p:custDataLst>
              </p:nvPr>
            </p:nvSpPr>
            <p:spPr>
              <a:xfrm>
                <a:off x="4429125" y="2895600"/>
                <a:ext cx="3333750" cy="76200"/>
              </a:xfrm>
              <a:prstGeom prst="roundRect">
                <a:avLst>
                  <a:gd name="adj" fmla="val 50000"/>
                </a:avLst>
              </a:prstGeom>
              <a:solidFill>
                <a:srgbClr val="0F766E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4794250" y="3213100"/>
                <a:ext cx="222250" cy="311150"/>
                <a:chOff x="4794250" y="3213100"/>
                <a:chExt cx="222250" cy="311150"/>
              </a:xfrm>
            </p:grpSpPr>
            <p:sp>
              <p:nvSpPr>
                <p:cNvPr id="23" name="Freeform 23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4857750" y="3213100"/>
                  <a:ext cx="95250" cy="17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74625">
                      <a:moveTo>
                        <a:pt x="0" y="47625"/>
                      </a:moveTo>
                      <a:cubicBezTo>
                        <a:pt x="0" y="21322"/>
                        <a:pt x="21322" y="0"/>
                        <a:pt x="47625" y="0"/>
                      </a:cubicBezTo>
                      <a:cubicBezTo>
                        <a:pt x="73928" y="0"/>
                        <a:pt x="95250" y="21322"/>
                        <a:pt x="95250" y="47625"/>
                      </a:cubicBezTo>
                      <a:lnTo>
                        <a:pt x="95250" y="127000"/>
                      </a:lnTo>
                      <a:cubicBezTo>
                        <a:pt x="95250" y="153303"/>
                        <a:pt x="73928" y="174625"/>
                        <a:pt x="47625" y="174625"/>
                      </a:cubicBezTo>
                      <a:cubicBezTo>
                        <a:pt x="21322" y="174625"/>
                        <a:pt x="0" y="153303"/>
                        <a:pt x="0" y="127000"/>
                      </a:cubicBezTo>
                      <a:lnTo>
                        <a:pt x="0" y="47625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4" name="Freeform 24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4794250" y="3340100"/>
                  <a:ext cx="22225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11125">
                      <a:moveTo>
                        <a:pt x="0" y="0"/>
                      </a:moveTo>
                      <a:cubicBezTo>
                        <a:pt x="0" y="61373"/>
                        <a:pt x="49752" y="111125"/>
                        <a:pt x="111125" y="111125"/>
                      </a:cubicBezTo>
                      <a:cubicBezTo>
                        <a:pt x="172498" y="111125"/>
                        <a:pt x="222250" y="61373"/>
                        <a:pt x="222250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5" name="Freeform 25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4841875" y="3514725"/>
                  <a:ext cx="127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9525">
                      <a:moveTo>
                        <a:pt x="0" y="0"/>
                      </a:move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6" name="Freeform 26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4905375" y="3451225"/>
                  <a:ext cx="952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3500">
                      <a:moveTo>
                        <a:pt x="0" y="0"/>
                      </a:moveTo>
                      <a:lnTo>
                        <a:pt x="0" y="635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8" name="TextBox 28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5245418" y="3242786"/>
                <a:ext cx="1734526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语音：语义锚点</a:t>
                </a:r>
                <a:endParaRPr lang="zh-CN" sz="172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4698682" y="3729514"/>
                <a:ext cx="224266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能补充节点名称、顺序、因果</a:t>
                </a:r>
                <a:endPara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4698682" y="3996214"/>
                <a:ext cx="24126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和设计意图，但没有二维布局。</a:t>
                </a:r>
                <a:endPara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8191500" y="2895600"/>
              <a:ext cx="3333750" cy="1695450"/>
              <a:chOff x="8191500" y="2895600"/>
              <a:chExt cx="3333750" cy="1695450"/>
            </a:xfrm>
          </p:grpSpPr>
          <p:sp>
            <p:nvSpPr>
              <p:cNvPr id="32" name="Rectangle 32"/>
              <p:cNvSpPr/>
              <p:nvPr>
                <p:custDataLst>
                  <p:tags r:id="rId19"/>
                </p:custDataLst>
              </p:nvPr>
            </p:nvSpPr>
            <p:spPr>
              <a:xfrm>
                <a:off x="8191500" y="2895600"/>
                <a:ext cx="333375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33" name="Rectangle 33"/>
              <p:cNvSpPr/>
              <p:nvPr>
                <p:custDataLst>
                  <p:tags r:id="rId20"/>
                </p:custDataLst>
              </p:nvPr>
            </p:nvSpPr>
            <p:spPr>
              <a:xfrm>
                <a:off x="8191500" y="2895600"/>
                <a:ext cx="3333750" cy="76200"/>
              </a:xfrm>
              <a:prstGeom prst="roundRect">
                <a:avLst>
                  <a:gd name="adj" fmla="val 50000"/>
                </a:avLst>
              </a:prstGeom>
              <a:solidFill>
                <a:srgbClr val="16A34A"/>
              </a:solidFill>
              <a:ln>
                <a:noFill/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8524875" y="3228975"/>
                <a:ext cx="285750" cy="301625"/>
                <a:chOff x="8524875" y="3228975"/>
                <a:chExt cx="285750" cy="301625"/>
              </a:xfrm>
            </p:grpSpPr>
            <p:sp>
              <p:nvSpPr>
                <p:cNvPr id="34" name="Freeform 34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8572500" y="3228975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95250"/>
                      </a:moveTo>
                      <a:cubicBezTo>
                        <a:pt x="0" y="147855"/>
                        <a:pt x="42645" y="190500"/>
                        <a:pt x="95250" y="190500"/>
                      </a:cubicBezTo>
                      <a:cubicBezTo>
                        <a:pt x="147855" y="190500"/>
                        <a:pt x="190500" y="147855"/>
                        <a:pt x="190500" y="95250"/>
                      </a:cubicBezTo>
                      <a:cubicBezTo>
                        <a:pt x="190500" y="42645"/>
                        <a:pt x="147855" y="0"/>
                        <a:pt x="95250" y="0"/>
                      </a:cubicBezTo>
                      <a:cubicBezTo>
                        <a:pt x="42645" y="0"/>
                        <a:pt x="0" y="42645"/>
                        <a:pt x="0" y="95250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5" name="Freeform 35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8667750" y="3228975"/>
                  <a:ext cx="3175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190500">
                      <a:moveTo>
                        <a:pt x="0" y="0"/>
                      </a:moveTo>
                      <a:cubicBezTo>
                        <a:pt x="21161" y="5286"/>
                        <a:pt x="31750" y="37036"/>
                        <a:pt x="31750" y="95250"/>
                      </a:cubicBezTo>
                      <a:cubicBezTo>
                        <a:pt x="31750" y="153464"/>
                        <a:pt x="21161" y="185214"/>
                        <a:pt x="0" y="190500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6" name="Freeform 36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8636000" y="3228975"/>
                  <a:ext cx="3175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190500">
                      <a:moveTo>
                        <a:pt x="31750" y="0"/>
                      </a:moveTo>
                      <a:cubicBezTo>
                        <a:pt x="10589" y="5286"/>
                        <a:pt x="0" y="37036"/>
                        <a:pt x="0" y="95250"/>
                      </a:cubicBezTo>
                      <a:cubicBezTo>
                        <a:pt x="0" y="153464"/>
                        <a:pt x="10589" y="185214"/>
                        <a:pt x="31750" y="190500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7" name="Freeform 37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8572500" y="3324225"/>
                  <a:ext cx="190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">
                      <a:moveTo>
                        <a:pt x="0" y="0"/>
                      </a:move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8" name="Freeform 38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8524875" y="349885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9" name="Freeform 39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8699500" y="349885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0" name="Freeform 40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8636000" y="346710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1" name="Freeform 41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8667750" y="3419475"/>
                  <a:ext cx="95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">
                      <a:moveTo>
                        <a:pt x="0" y="0"/>
                      </a:moveTo>
                      <a:lnTo>
                        <a:pt x="0" y="47625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43" name="TextBox 43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9007792" y="3242786"/>
                <a:ext cx="1734526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目标：结构化图</a:t>
                </a:r>
                <a:endParaRPr lang="zh-CN" sz="172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8461058" y="3729514"/>
                <a:ext cx="258270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恢复节点、边、方向、语义标签、</a:t>
                </a:r>
                <a:endPara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TextBox 45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8461058" y="3996214"/>
                <a:ext cx="292274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置信度和布局关系，而非只生成图像。</a:t>
                </a:r>
                <a:endPara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857250" y="5086350"/>
            <a:ext cx="10877265" cy="742950"/>
            <a:chOff x="857250" y="5086350"/>
            <a:chExt cx="10877265" cy="742950"/>
          </a:xfrm>
        </p:grpSpPr>
        <p:sp>
          <p:nvSpPr>
            <p:cNvPr id="48" name="Rectangle 48"/>
            <p:cNvSpPr/>
            <p:nvPr/>
          </p:nvSpPr>
          <p:spPr>
            <a:xfrm>
              <a:off x="857250" y="5086350"/>
              <a:ext cx="10477500" cy="74295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25855" y="52454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5E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研究假设</a:t>
              </a:r>
              <a:endParaRPr lang="zh-CN" sz="1350" b="1" dirty="0">
                <a:solidFill>
                  <a:srgbClr val="155E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6808" y="5539264"/>
              <a:ext cx="106077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H1 语音补全草图中缺失或难识别的节点标签；H2 口头叙述顺序纠正模糊边方向；H3 显式图编辑路径降低用户修改成本并提供路径能量诊断。</a:t>
              </a:r>
              <a:endParaRPr lang="zh-CN" sz="12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2" name="TextBox 52"/>
            <p:cNvSpPr txBox="1"/>
            <p:nvPr/>
          </p:nvSpPr>
          <p:spPr>
            <a:xfrm>
              <a:off x="560070" y="6379845"/>
              <a:ext cx="20571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SketchVoice · Research Positioning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07 / 14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7" grpId="0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75285"/>
            <a:ext cx="8007572" cy="762953"/>
            <a:chOff x="537210" y="375285"/>
            <a:chExt cx="8007572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800757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相关工作：三条路线都没有同时覆盖我们的场景</a:t>
              </a:r>
              <a:endParaRPr lang="zh-CN" sz="27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77932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研究空白不在“能不能生成图”，而在同步语音反馈、可编辑结构表示和用户修改成本诊断的结合。</a:t>
              </a:r>
              <a:endParaRPr lang="zh-CN" sz="13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9600" y="1485900"/>
            <a:ext cx="10972800" cy="2995930"/>
            <a:chOff x="609600" y="1485900"/>
            <a:chExt cx="10972800" cy="2995930"/>
          </a:xfrm>
        </p:grpSpPr>
        <p:grpSp>
          <p:nvGrpSpPr>
            <p:cNvPr id="19" name="Group 19"/>
            <p:cNvGrpSpPr/>
            <p:nvPr/>
          </p:nvGrpSpPr>
          <p:grpSpPr>
            <a:xfrm>
              <a:off x="609600" y="1485900"/>
              <a:ext cx="3429000" cy="2995930"/>
              <a:chOff x="609600" y="1485900"/>
              <a:chExt cx="3429000" cy="299593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09600" y="1485900"/>
                <a:ext cx="3429000" cy="2971800"/>
              </a:xfrm>
              <a:prstGeom prst="roundRect">
                <a:avLst>
                  <a:gd name="adj" fmla="val 256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7" name="Rectangle 7"/>
              <p:cNvSpPr/>
              <p:nvPr/>
            </p:nvSpPr>
            <p:spPr>
              <a:xfrm>
                <a:off x="609600" y="1485900"/>
                <a:ext cx="3429000" cy="9525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>
                <a:off x="977900" y="1917627"/>
                <a:ext cx="247723" cy="247723"/>
                <a:chOff x="977900" y="1917627"/>
                <a:chExt cx="247723" cy="247723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977900" y="1917627"/>
                  <a:ext cx="247723" cy="24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723" h="247723">
                      <a:moveTo>
                        <a:pt x="0" y="247723"/>
                      </a:moveTo>
                      <a:lnTo>
                        <a:pt x="63500" y="247723"/>
                      </a:lnTo>
                      <a:lnTo>
                        <a:pt x="230188" y="81035"/>
                      </a:lnTo>
                      <a:cubicBezTo>
                        <a:pt x="247723" y="63500"/>
                        <a:pt x="247723" y="35070"/>
                        <a:pt x="230188" y="17535"/>
                      </a:cubicBezTo>
                      <a:cubicBezTo>
                        <a:pt x="212652" y="0"/>
                        <a:pt x="184223" y="0"/>
                        <a:pt x="166688" y="17535"/>
                      </a:cubicBezTo>
                      <a:lnTo>
                        <a:pt x="0" y="184223"/>
                      </a:lnTo>
                      <a:lnTo>
                        <a:pt x="0" y="247723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128712" y="1951038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63500" y="6350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11" name="TextBox 11"/>
              <p:cNvSpPr txBox="1"/>
              <p:nvPr/>
            </p:nvSpPr>
            <p:spPr>
              <a:xfrm>
                <a:off x="1443990" y="1901190"/>
                <a:ext cx="1595714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草图 → 结构图</a:t>
                </a:r>
                <a:endParaRPr lang="zh-CN" sz="18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97255" y="24069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55E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代表问题</a:t>
                </a:r>
                <a:endParaRPr lang="zh-CN" sz="1350" b="1" dirty="0">
                  <a:solidFill>
                    <a:srgbClr val="155E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99160" y="2727960"/>
                <a:ext cx="240677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SketchAgent / Sketch2Diagram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99160" y="3032760"/>
                <a:ext cx="21107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关注手绘草图到机器可读图。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914400" y="34290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97255" y="36071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59E0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缺口</a:t>
                </a:r>
                <a:endParaRPr lang="zh-CN" sz="1350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99160" y="3928110"/>
                <a:ext cx="2903855" cy="553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主要依赖视觉草图，较少建模</a:t>
                </a:r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  <a:sym typeface="+mn-ea"/>
                  </a:rPr>
                  <a:t>同步语音带来的语义反馈。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99160" y="4175760"/>
                <a:ext cx="127000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4381500" y="1485900"/>
              <a:ext cx="3429000" cy="2971800"/>
              <a:chOff x="4381500" y="1485900"/>
              <a:chExt cx="3429000" cy="29718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381500" y="1485900"/>
                <a:ext cx="3429000" cy="2971800"/>
              </a:xfrm>
              <a:prstGeom prst="roundRect">
                <a:avLst>
                  <a:gd name="adj" fmla="val 256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4381500" y="1485900"/>
                <a:ext cx="3429000" cy="95250"/>
              </a:xfrm>
              <a:prstGeom prst="roundRect">
                <a:avLst>
                  <a:gd name="adj" fmla="val 50000"/>
                </a:avLst>
              </a:prstGeom>
              <a:solidFill>
                <a:srgbClr val="0F766E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4733925" y="1911350"/>
                <a:ext cx="285750" cy="254000"/>
                <a:chOff x="4733925" y="1911350"/>
                <a:chExt cx="285750" cy="25400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4733925" y="1974850"/>
                  <a:ext cx="635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27000">
                      <a:moveTo>
                        <a:pt x="63500" y="0"/>
                      </a:moveTo>
                      <a:lnTo>
                        <a:pt x="0" y="63500"/>
                      </a:lnTo>
                      <a:lnTo>
                        <a:pt x="63500" y="1270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956175" y="1974850"/>
                  <a:ext cx="635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27000">
                      <a:moveTo>
                        <a:pt x="0" y="0"/>
                      </a:moveTo>
                      <a:lnTo>
                        <a:pt x="63500" y="63500"/>
                      </a:ln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845050" y="1911350"/>
                  <a:ext cx="63500" cy="25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254000">
                      <a:moveTo>
                        <a:pt x="63500" y="0"/>
                      </a:moveTo>
                      <a:lnTo>
                        <a:pt x="0" y="2540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5215890" y="1901190"/>
                <a:ext cx="209977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图像 → 可编辑代码</a:t>
                </a:r>
                <a:endParaRPr lang="zh-CN" sz="18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669155" y="24069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55E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代表问题</a:t>
                </a:r>
                <a:endParaRPr lang="zh-CN" sz="1350" b="1" dirty="0">
                  <a:solidFill>
                    <a:srgbClr val="155E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671060" y="2727960"/>
                <a:ext cx="15426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Flowchart2Mermaid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671060" y="3032760"/>
                <a:ext cx="25267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强调输出 Mermaid 等结构化表示。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4686300" y="34290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669155" y="36071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59E0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缺口</a:t>
                </a:r>
                <a:endParaRPr lang="zh-CN" sz="1350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8153400" y="1485900"/>
              <a:ext cx="3429000" cy="2971800"/>
              <a:chOff x="8153400" y="1485900"/>
              <a:chExt cx="3429000" cy="29718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8153400" y="1485900"/>
                <a:ext cx="3429000" cy="2971800"/>
              </a:xfrm>
              <a:prstGeom prst="roundRect">
                <a:avLst>
                  <a:gd name="adj" fmla="val 256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8153400" y="1485900"/>
                <a:ext cx="3429000" cy="95250"/>
              </a:xfrm>
              <a:prstGeom prst="roundRect">
                <a:avLst>
                  <a:gd name="adj" fmla="val 50000"/>
                </a:avLst>
              </a:prstGeom>
              <a:solidFill>
                <a:srgbClr val="F59E0B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8537575" y="1911350"/>
                <a:ext cx="238125" cy="254000"/>
                <a:chOff x="8537575" y="1911350"/>
                <a:chExt cx="238125" cy="254000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8537575" y="21018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537575" y="19113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696325" y="19113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8569325" y="197485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8601075" y="2022475"/>
                  <a:ext cx="1270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11125">
                      <a:moveTo>
                        <a:pt x="0" y="111125"/>
                      </a:moveTo>
                      <a:lnTo>
                        <a:pt x="95250" y="111125"/>
                      </a:lnTo>
                      <a:cubicBezTo>
                        <a:pt x="112785" y="111125"/>
                        <a:pt x="127000" y="96910"/>
                        <a:pt x="127000" y="7937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8680450" y="2022475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47625" y="0"/>
                      </a:lnTo>
                      <a:lnTo>
                        <a:pt x="95250" y="4762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8987790" y="1901190"/>
                <a:ext cx="162091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图结构桥 / SB</a:t>
                </a:r>
                <a:endParaRPr lang="zh-CN" sz="18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441055" y="24069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55E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理论启发</a:t>
                </a:r>
                <a:endParaRPr lang="zh-CN" sz="1350" b="1" dirty="0">
                  <a:solidFill>
                    <a:srgbClr val="155E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442960" y="2727960"/>
                <a:ext cx="215074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Schrödinger Bridge / DDSBM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442960" y="3032760"/>
                <a:ext cx="21107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把生成看成分布间动态迁移。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Line 48"/>
              <p:cNvSpPr/>
              <p:nvPr/>
            </p:nvSpPr>
            <p:spPr>
              <a:xfrm>
                <a:off x="8458200" y="34290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441055" y="3607118"/>
                <a:ext cx="6013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59E0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迁移点</a:t>
                </a:r>
                <a:endParaRPr lang="zh-CN" sz="1350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442960" y="4175760"/>
                <a:ext cx="127000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1007997" y="4972050"/>
            <a:ext cx="10176006" cy="819150"/>
            <a:chOff x="1007997" y="4972050"/>
            <a:chExt cx="10176006" cy="819150"/>
          </a:xfrm>
        </p:grpSpPr>
        <p:sp>
          <p:nvSpPr>
            <p:cNvPr id="54" name="Rectangle 54"/>
            <p:cNvSpPr/>
            <p:nvPr/>
          </p:nvSpPr>
          <p:spPr>
            <a:xfrm>
              <a:off x="1123950" y="4972050"/>
              <a:ext cx="9944100" cy="819150"/>
            </a:xfrm>
            <a:prstGeom prst="roundRect">
              <a:avLst>
                <a:gd name="adj" fmla="val 9302"/>
              </a:avLst>
            </a:prstGeom>
            <a:solidFill>
              <a:srgbClr val="155E75"/>
            </a:solidFill>
            <a:ln>
              <a:noFill/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55" name="TextBox 55"/>
            <p:cNvSpPr txBox="1"/>
            <p:nvPr/>
          </p:nvSpPr>
          <p:spPr>
            <a:xfrm>
              <a:off x="1007997" y="5109686"/>
              <a:ext cx="1017600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我们的切入点：Sketch + Speech → Structured Knowledge Graph → Graph Editing Diagnosis</a:t>
              </a:r>
              <a:endParaRPr lang="zh-CN" sz="17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019425" y="5482114"/>
              <a:ext cx="61531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E0F2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补上同步语音反馈，并把最终结果和用户修改成本都放进可评测的图编辑路径中。</a:t>
              </a:r>
              <a:endParaRPr lang="zh-CN" sz="1275" dirty="0">
                <a:solidFill>
                  <a:srgbClr val="E0F2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379845"/>
              <a:ext cx="18470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SketchVoice · Related Work Gap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08 / 14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8339455" y="3881755"/>
            <a:ext cx="28441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sz="120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我们不是像素级扩散，而是在</a:t>
            </a:r>
            <a:r>
              <a:rPr lang="zh-CN" sz="120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离散知识图空间做编辑迁移。</a:t>
            </a:r>
            <a:endParaRPr lang="zh-CN" sz="1200" dirty="0">
              <a:solidFill>
                <a:srgbClr val="47556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4591050" y="3881755"/>
            <a:ext cx="30099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sz="120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多处理已有静态流程图，难覆盖</a:t>
            </a:r>
            <a:r>
              <a:rPr lang="zh-CN" sz="120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实时草图与口头讲述的开放场景。</a:t>
            </a:r>
            <a:endParaRPr lang="zh-CN" sz="1200" dirty="0">
              <a:solidFill>
                <a:srgbClr val="47556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75285"/>
            <a:ext cx="9860004" cy="762953"/>
            <a:chOff x="537210" y="375285"/>
            <a:chExt cx="9860004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986000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任务定义：Speech-Guided Sketch-to-Knowledge-Graph</a:t>
              </a:r>
              <a:endParaRPr lang="zh-CN" sz="27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58310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把“画得像不像”转化为“结构是否恢复正确”，这是科研问题成立的关键。</a:t>
              </a:r>
              <a:endParaRPr lang="zh-CN" sz="13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66750" y="1428750"/>
            <a:ext cx="10858500" cy="2781300"/>
            <a:chOff x="666750" y="1428750"/>
            <a:chExt cx="10858500" cy="2781300"/>
          </a:xfrm>
        </p:grpSpPr>
        <p:grpSp>
          <p:nvGrpSpPr>
            <p:cNvPr id="13" name="Group 13"/>
            <p:cNvGrpSpPr/>
            <p:nvPr/>
          </p:nvGrpSpPr>
          <p:grpSpPr>
            <a:xfrm>
              <a:off x="666750" y="1428750"/>
              <a:ext cx="2381250" cy="1219200"/>
              <a:chOff x="666750" y="1428750"/>
              <a:chExt cx="2381250" cy="12192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66750" y="1428750"/>
                <a:ext cx="2381250" cy="12192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974725" y="1818889"/>
                <a:ext cx="235336" cy="235336"/>
                <a:chOff x="974725" y="1818889"/>
                <a:chExt cx="235336" cy="235336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974725" y="1818889"/>
                  <a:ext cx="235336" cy="235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336" h="235336">
                      <a:moveTo>
                        <a:pt x="0" y="235336"/>
                      </a:moveTo>
                      <a:lnTo>
                        <a:pt x="60325" y="235336"/>
                      </a:lnTo>
                      <a:lnTo>
                        <a:pt x="218678" y="76983"/>
                      </a:lnTo>
                      <a:cubicBezTo>
                        <a:pt x="235336" y="60325"/>
                        <a:pt x="235336" y="33317"/>
                        <a:pt x="218678" y="16658"/>
                      </a:cubicBezTo>
                      <a:cubicBezTo>
                        <a:pt x="202020" y="0"/>
                        <a:pt x="175011" y="0"/>
                        <a:pt x="158353" y="16658"/>
                      </a:cubicBezTo>
                      <a:lnTo>
                        <a:pt x="0" y="175011"/>
                      </a:lnTo>
                      <a:lnTo>
                        <a:pt x="0" y="235336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117997" y="1850628"/>
                  <a:ext cx="60325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25" h="60325">
                      <a:moveTo>
                        <a:pt x="0" y="0"/>
                      </a:moveTo>
                      <a:lnTo>
                        <a:pt x="60325" y="60325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pic>
            <p:nvPicPr>
              <p:cNvPr id="10" name="Image 1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400175" y="1695450"/>
                <a:ext cx="285750" cy="342900"/>
              </a:xfrm>
              <a:prstGeom prst="rect">
                <a:avLst/>
              </a:prstGeom>
            </p:spPr>
          </p:pic>
          <p:sp>
            <p:nvSpPr>
              <p:cNvPr id="11" name="TextBox 11"/>
              <p:cNvSpPr txBox="1"/>
              <p:nvPr/>
            </p:nvSpPr>
            <p:spPr>
              <a:xfrm>
                <a:off x="1430655" y="2092642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手绘知识草图</a:t>
                </a:r>
                <a:endParaRPr lang="zh-CN" sz="13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9965" y="2384107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框、箭头、空间布局、手写文字</a:t>
                </a:r>
                <a:endParaRPr lang="zh-CN" sz="10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66750" y="2990850"/>
              <a:ext cx="2381250" cy="1219200"/>
              <a:chOff x="666750" y="2990850"/>
              <a:chExt cx="2381250" cy="12192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66750" y="2990850"/>
                <a:ext cx="2381250" cy="12192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989806" y="3344862"/>
                <a:ext cx="211137" cy="296069"/>
                <a:chOff x="989806" y="3344862"/>
                <a:chExt cx="211137" cy="296069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1050131" y="3344862"/>
                  <a:ext cx="90488" cy="165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8" h="165894">
                      <a:moveTo>
                        <a:pt x="0" y="45244"/>
                      </a:moveTo>
                      <a:cubicBezTo>
                        <a:pt x="0" y="20256"/>
                        <a:pt x="20256" y="0"/>
                        <a:pt x="45244" y="0"/>
                      </a:cubicBezTo>
                      <a:cubicBezTo>
                        <a:pt x="70231" y="0"/>
                        <a:pt x="90488" y="20256"/>
                        <a:pt x="90488" y="45244"/>
                      </a:cubicBezTo>
                      <a:lnTo>
                        <a:pt x="90488" y="120650"/>
                      </a:lnTo>
                      <a:cubicBezTo>
                        <a:pt x="90488" y="145637"/>
                        <a:pt x="70231" y="165894"/>
                        <a:pt x="45244" y="165894"/>
                      </a:cubicBezTo>
                      <a:cubicBezTo>
                        <a:pt x="20256" y="165894"/>
                        <a:pt x="0" y="145637"/>
                        <a:pt x="0" y="120650"/>
                      </a:cubicBezTo>
                      <a:lnTo>
                        <a:pt x="0" y="45244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89806" y="3465512"/>
                  <a:ext cx="211137" cy="1055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37" h="105569">
                      <a:moveTo>
                        <a:pt x="0" y="0"/>
                      </a:moveTo>
                      <a:cubicBezTo>
                        <a:pt x="0" y="58304"/>
                        <a:pt x="47265" y="105569"/>
                        <a:pt x="105569" y="105569"/>
                      </a:cubicBezTo>
                      <a:cubicBezTo>
                        <a:pt x="163873" y="105569"/>
                        <a:pt x="211137" y="58304"/>
                        <a:pt x="211137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035050" y="3631406"/>
                  <a:ext cx="1206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650" h="9525">
                      <a:moveTo>
                        <a:pt x="0" y="0"/>
                      </a:moveTo>
                      <a:lnTo>
                        <a:pt x="12065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095375" y="3571081"/>
                  <a:ext cx="9525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0325">
                      <a:moveTo>
                        <a:pt x="0" y="0"/>
                      </a:moveTo>
                      <a:lnTo>
                        <a:pt x="0" y="60325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pic>
            <p:nvPicPr>
              <p:cNvPr id="20" name="Image 2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00175" y="3257550"/>
                <a:ext cx="323850" cy="333375"/>
              </a:xfrm>
              <a:prstGeom prst="rect">
                <a:avLst/>
              </a:prstGeom>
            </p:spPr>
          </p:pic>
          <p:sp>
            <p:nvSpPr>
              <p:cNvPr id="21" name="TextBox 21"/>
              <p:cNvSpPr txBox="1"/>
              <p:nvPr/>
            </p:nvSpPr>
            <p:spPr>
              <a:xfrm>
                <a:off x="1430655" y="3654742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同步语音描述</a:t>
                </a:r>
                <a:endParaRPr lang="zh-CN" sz="13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74725" y="394430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节点名称、顺序、关系、动机</a:t>
                </a:r>
                <a:endParaRPr lang="zh-CN" sz="10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3086100" y="2819400"/>
              <a:ext cx="1009650" cy="1"/>
            </a:xfrm>
            <a:prstGeom prst="line">
              <a:avLst/>
            </a:prstGeom>
            <a:noFill/>
            <a:ln w="38100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095988" y="1695450"/>
              <a:ext cx="3779044" cy="2247900"/>
              <a:chOff x="4095988" y="1695450"/>
              <a:chExt cx="3779044" cy="22479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171950" y="1695450"/>
                <a:ext cx="3619500" cy="2247900"/>
              </a:xfrm>
              <a:prstGeom prst="roundRect">
                <a:avLst>
                  <a:gd name="adj" fmla="val 3390"/>
                </a:avLst>
              </a:prstGeom>
              <a:solidFill>
                <a:srgbClr val="155E75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5712619" y="2055019"/>
                <a:ext cx="328612" cy="328612"/>
                <a:chOff x="5712619" y="2055019"/>
                <a:chExt cx="328612" cy="328612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5858669" y="2201069"/>
                  <a:ext cx="36512" cy="365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12" h="36512">
                      <a:moveTo>
                        <a:pt x="0" y="18256"/>
                      </a:moveTo>
                      <a:cubicBezTo>
                        <a:pt x="0" y="28339"/>
                        <a:pt x="8174" y="36512"/>
                        <a:pt x="18256" y="36512"/>
                      </a:cubicBezTo>
                      <a:cubicBezTo>
                        <a:pt x="28339" y="36512"/>
                        <a:pt x="36512" y="28339"/>
                        <a:pt x="36512" y="18256"/>
                      </a:cubicBezTo>
                      <a:cubicBezTo>
                        <a:pt x="36512" y="8174"/>
                        <a:pt x="28339" y="0"/>
                        <a:pt x="18256" y="0"/>
                      </a:cubicBezTo>
                      <a:cubicBezTo>
                        <a:pt x="8174" y="0"/>
                        <a:pt x="0" y="8174"/>
                        <a:pt x="0" y="18256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5785644" y="2128044"/>
                  <a:ext cx="182563" cy="182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563" h="182563">
                      <a:moveTo>
                        <a:pt x="0" y="91281"/>
                      </a:moveTo>
                      <a:cubicBezTo>
                        <a:pt x="0" y="141694"/>
                        <a:pt x="40868" y="182563"/>
                        <a:pt x="91281" y="182563"/>
                      </a:cubicBezTo>
                      <a:cubicBezTo>
                        <a:pt x="141694" y="182563"/>
                        <a:pt x="182563" y="141694"/>
                        <a:pt x="182563" y="91281"/>
                      </a:cubicBezTo>
                      <a:cubicBezTo>
                        <a:pt x="182563" y="40868"/>
                        <a:pt x="141694" y="0"/>
                        <a:pt x="91281" y="0"/>
                      </a:cubicBezTo>
                      <a:cubicBezTo>
                        <a:pt x="40868" y="0"/>
                        <a:pt x="0" y="40868"/>
                        <a:pt x="0" y="91281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712619" y="2055019"/>
                  <a:ext cx="328612" cy="328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2" h="328612">
                      <a:moveTo>
                        <a:pt x="0" y="164306"/>
                      </a:moveTo>
                      <a:cubicBezTo>
                        <a:pt x="0" y="255050"/>
                        <a:pt x="73562" y="328612"/>
                        <a:pt x="164306" y="328612"/>
                      </a:cubicBezTo>
                      <a:cubicBezTo>
                        <a:pt x="255050" y="328612"/>
                        <a:pt x="328612" y="255050"/>
                        <a:pt x="328612" y="164306"/>
                      </a:cubicBezTo>
                      <a:cubicBezTo>
                        <a:pt x="328612" y="73562"/>
                        <a:pt x="255050" y="0"/>
                        <a:pt x="164306" y="0"/>
                      </a:cubicBezTo>
                      <a:cubicBezTo>
                        <a:pt x="73562" y="0"/>
                        <a:pt x="0" y="73562"/>
                        <a:pt x="0" y="164306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5105376" y="2505551"/>
                <a:ext cx="1752648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0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结构恢复函数</a:t>
                </a:r>
                <a:endParaRPr lang="zh-CN" sz="20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pic>
            <p:nvPicPr>
              <p:cNvPr id="31" name="Image 3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05350" y="2819400"/>
                <a:ext cx="2552700" cy="571500"/>
              </a:xfrm>
              <a:prstGeom prst="rect">
                <a:avLst/>
              </a:prstGeom>
            </p:spPr>
          </p:pic>
          <p:sp>
            <p:nvSpPr>
              <p:cNvPr id="32" name="TextBox 32"/>
              <p:cNvSpPr txBox="1"/>
              <p:nvPr/>
            </p:nvSpPr>
            <p:spPr>
              <a:xfrm>
                <a:off x="4095988" y="3510756"/>
                <a:ext cx="37790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E0F2F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不是图像生成，而是节点、边、方向和布局的联合预测。</a:t>
                </a:r>
                <a:endParaRPr lang="zh-CN" sz="1125" dirty="0">
                  <a:solidFill>
                    <a:srgbClr val="E0F2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34" name="Line 34"/>
            <p:cNvSpPr/>
            <p:nvPr/>
          </p:nvSpPr>
          <p:spPr>
            <a:xfrm>
              <a:off x="7829550" y="2819400"/>
              <a:ext cx="1009650" cy="1"/>
            </a:xfrm>
            <a:prstGeom prst="line">
              <a:avLst/>
            </a:prstGeom>
            <a:noFill/>
            <a:ln w="38100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8915400" y="1428750"/>
              <a:ext cx="2609850" cy="2781300"/>
              <a:chOff x="8915400" y="1428750"/>
              <a:chExt cx="2609850" cy="27813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8915400" y="1428750"/>
                <a:ext cx="2609850" cy="2781300"/>
              </a:xfrm>
              <a:prstGeom prst="roundRect">
                <a:avLst>
                  <a:gd name="adj" fmla="val 292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10036969" y="1807369"/>
                <a:ext cx="328613" cy="346868"/>
                <a:chOff x="10036969" y="1807369"/>
                <a:chExt cx="328613" cy="346868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10091738" y="1807369"/>
                  <a:ext cx="219075" cy="21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5" h="219075">
                      <a:moveTo>
                        <a:pt x="0" y="109538"/>
                      </a:moveTo>
                      <a:cubicBezTo>
                        <a:pt x="0" y="170033"/>
                        <a:pt x="49042" y="219075"/>
                        <a:pt x="109538" y="219075"/>
                      </a:cubicBezTo>
                      <a:cubicBezTo>
                        <a:pt x="170033" y="219075"/>
                        <a:pt x="219075" y="170033"/>
                        <a:pt x="219075" y="109538"/>
                      </a:cubicBezTo>
                      <a:cubicBezTo>
                        <a:pt x="219075" y="49042"/>
                        <a:pt x="170033" y="0"/>
                        <a:pt x="109538" y="0"/>
                      </a:cubicBezTo>
                      <a:cubicBezTo>
                        <a:pt x="49042" y="0"/>
                        <a:pt x="0" y="49042"/>
                        <a:pt x="0" y="109538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0201275" y="1807369"/>
                  <a:ext cx="36512" cy="21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12" h="219075">
                      <a:moveTo>
                        <a:pt x="0" y="0"/>
                      </a:moveTo>
                      <a:cubicBezTo>
                        <a:pt x="24336" y="6079"/>
                        <a:pt x="36512" y="42592"/>
                        <a:pt x="36512" y="109538"/>
                      </a:cubicBezTo>
                      <a:cubicBezTo>
                        <a:pt x="36512" y="176483"/>
                        <a:pt x="24336" y="212996"/>
                        <a:pt x="0" y="219075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0164762" y="1807369"/>
                  <a:ext cx="36512" cy="21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12" h="219075">
                      <a:moveTo>
                        <a:pt x="36512" y="0"/>
                      </a:moveTo>
                      <a:cubicBezTo>
                        <a:pt x="12177" y="6079"/>
                        <a:pt x="0" y="42592"/>
                        <a:pt x="0" y="109538"/>
                      </a:cubicBezTo>
                      <a:cubicBezTo>
                        <a:pt x="0" y="176483"/>
                        <a:pt x="12177" y="212996"/>
                        <a:pt x="36512" y="219075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0091738" y="1916906"/>
                  <a:ext cx="2190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5" h="9525">
                      <a:moveTo>
                        <a:pt x="0" y="0"/>
                      </a:moveTo>
                      <a:lnTo>
                        <a:pt x="219075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0036969" y="2117725"/>
                  <a:ext cx="12779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794" h="9525">
                      <a:moveTo>
                        <a:pt x="0" y="0"/>
                      </a:moveTo>
                      <a:lnTo>
                        <a:pt x="127794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10237788" y="2117725"/>
                  <a:ext cx="12779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794" h="9525">
                      <a:moveTo>
                        <a:pt x="0" y="0"/>
                      </a:moveTo>
                      <a:lnTo>
                        <a:pt x="127794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0164762" y="2081212"/>
                  <a:ext cx="73025" cy="7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25" h="73025">
                      <a:moveTo>
                        <a:pt x="0" y="36513"/>
                      </a:moveTo>
                      <a:cubicBezTo>
                        <a:pt x="0" y="56678"/>
                        <a:pt x="16347" y="73025"/>
                        <a:pt x="36512" y="73025"/>
                      </a:cubicBezTo>
                      <a:cubicBezTo>
                        <a:pt x="56678" y="73025"/>
                        <a:pt x="73025" y="56678"/>
                        <a:pt x="73025" y="36513"/>
                      </a:cubicBezTo>
                      <a:cubicBezTo>
                        <a:pt x="73025" y="16347"/>
                        <a:pt x="56678" y="0"/>
                        <a:pt x="36512" y="0"/>
                      </a:cubicBezTo>
                      <a:cubicBezTo>
                        <a:pt x="16347" y="0"/>
                        <a:pt x="0" y="16347"/>
                        <a:pt x="0" y="36513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10201275" y="2026444"/>
                  <a:ext cx="9525" cy="54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4769">
                      <a:moveTo>
                        <a:pt x="0" y="0"/>
                      </a:moveTo>
                      <a:lnTo>
                        <a:pt x="0" y="54769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pic>
            <p:nvPicPr>
              <p:cNvPr id="45" name="Image 4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96375" y="2171700"/>
                <a:ext cx="2247900" cy="571500"/>
              </a:xfrm>
              <a:prstGeom prst="rect">
                <a:avLst/>
              </a:prstGeom>
            </p:spPr>
          </p:pic>
          <p:sp>
            <p:nvSpPr>
              <p:cNvPr id="46" name="TextBox 46"/>
              <p:cNvSpPr txBox="1"/>
              <p:nvPr/>
            </p:nvSpPr>
            <p:spPr>
              <a:xfrm>
                <a:off x="9184958" y="27579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节点属性</a:t>
                </a:r>
                <a:endParaRPr lang="zh-CN" sz="12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187815" y="30489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标签、语义类型、解释、置信度</a:t>
                </a:r>
                <a:endParaRPr lang="zh-CN" sz="10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184958" y="3405664"/>
                <a:ext cx="56795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边属性</a:t>
                </a:r>
                <a:endParaRPr lang="zh-CN" sz="12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187815" y="369665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起点、终点、关系类型、方向</a:t>
                </a:r>
                <a:endParaRPr lang="zh-CN" sz="10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666750" y="4781550"/>
            <a:ext cx="10858500" cy="876300"/>
            <a:chOff x="666750" y="4781550"/>
            <a:chExt cx="10858500" cy="876300"/>
          </a:xfrm>
        </p:grpSpPr>
        <p:sp>
          <p:nvSpPr>
            <p:cNvPr id="52" name="Rectangle 52"/>
            <p:cNvSpPr/>
            <p:nvPr/>
          </p:nvSpPr>
          <p:spPr>
            <a:xfrm>
              <a:off x="666750" y="4781550"/>
              <a:ext cx="108585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53" name="TextBox 53"/>
            <p:cNvSpPr txBox="1"/>
            <p:nvPr/>
          </p:nvSpPr>
          <p:spPr>
            <a:xfrm>
              <a:off x="934402" y="49515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55E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评测目标</a:t>
              </a:r>
              <a:endParaRPr lang="zh-CN" sz="1425" b="1" dirty="0">
                <a:solidFill>
                  <a:srgbClr val="155E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7260" y="5299710"/>
              <a:ext cx="85115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节点是否正确、边是否正确、方向是否正确、语音关键概念是否覆盖、草图布局是否保持、用户后续修改成本是否降低。</a:t>
              </a:r>
              <a:endParaRPr lang="zh-CN" sz="120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001125" y="4951730"/>
              <a:ext cx="2343150" cy="323850"/>
            </a:xfrm>
            <a:prstGeom prst="roundRect">
              <a:avLst>
                <a:gd name="adj" fmla="val 23529"/>
              </a:avLst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096438" y="5010150"/>
              <a:ext cx="22147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55E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结构预测问题，而非美观评分</a:t>
              </a:r>
              <a:endParaRPr lang="zh-CN" sz="1200" b="1" dirty="0">
                <a:solidFill>
                  <a:srgbClr val="155E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379845"/>
              <a:ext cx="15470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SketchVoice · Formal Task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09 / 14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75285"/>
            <a:ext cx="7591720" cy="762953"/>
            <a:chOff x="537210" y="375285"/>
            <a:chExt cx="7591720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75917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MMSB-Graph：多模态约束下的离散图编辑桥</a:t>
              </a:r>
              <a:endParaRPr lang="zh-CN" sz="27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65151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用路径化编辑代替一次性生成，让最终图和恢复过程都可解释、可诊断、可评测。</a:t>
              </a:r>
              <a:endParaRPr lang="zh-CN" sz="13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52450" y="1504950"/>
            <a:ext cx="11068050" cy="2400300"/>
            <a:chOff x="552450" y="1504950"/>
            <a:chExt cx="11068050" cy="2400300"/>
          </a:xfrm>
        </p:grpSpPr>
        <p:grpSp>
          <p:nvGrpSpPr>
            <p:cNvPr id="12" name="Group 12"/>
            <p:cNvGrpSpPr/>
            <p:nvPr/>
          </p:nvGrpSpPr>
          <p:grpSpPr>
            <a:xfrm>
              <a:off x="552450" y="1504950"/>
              <a:ext cx="1619250" cy="914400"/>
              <a:chOff x="552450" y="1504950"/>
              <a:chExt cx="1619250" cy="914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52450" y="1504950"/>
                <a:ext cx="161925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831850" y="1770322"/>
                <a:ext cx="198178" cy="198178"/>
                <a:chOff x="831850" y="1770322"/>
                <a:chExt cx="198178" cy="198178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831850" y="1770322"/>
                  <a:ext cx="198178" cy="1981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78" h="198178">
                      <a:moveTo>
                        <a:pt x="0" y="198178"/>
                      </a:moveTo>
                      <a:lnTo>
                        <a:pt x="50800" y="198178"/>
                      </a:lnTo>
                      <a:lnTo>
                        <a:pt x="184150" y="64828"/>
                      </a:lnTo>
                      <a:cubicBezTo>
                        <a:pt x="198178" y="50800"/>
                        <a:pt x="198178" y="28056"/>
                        <a:pt x="184150" y="14028"/>
                      </a:cubicBezTo>
                      <a:cubicBezTo>
                        <a:pt x="170122" y="0"/>
                        <a:pt x="147378" y="0"/>
                        <a:pt x="133350" y="14028"/>
                      </a:cubicBezTo>
                      <a:lnTo>
                        <a:pt x="0" y="147378"/>
                      </a:lnTo>
                      <a:lnTo>
                        <a:pt x="0" y="198178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952500" y="17970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0"/>
                      </a:moveTo>
                      <a:lnTo>
                        <a:pt x="50800" y="5080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pic>
            <p:nvPicPr>
              <p:cNvPr id="10" name="Image 1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47750" y="1619250"/>
                <a:ext cx="485775" cy="409575"/>
              </a:xfrm>
              <a:prstGeom prst="rect">
                <a:avLst/>
              </a:prstGeom>
            </p:spPr>
          </p:pic>
          <p:sp>
            <p:nvSpPr>
              <p:cNvPr id="11" name="TextBox 11"/>
              <p:cNvSpPr txBox="1"/>
              <p:nvPr/>
            </p:nvSpPr>
            <p:spPr>
              <a:xfrm>
                <a:off x="767715" y="211550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空间强，语义弱</a:t>
                </a:r>
                <a:endParaRPr lang="zh-CN" sz="10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52450" y="2876550"/>
              <a:ext cx="1619250" cy="914400"/>
              <a:chOff x="552450" y="2876550"/>
              <a:chExt cx="1619250" cy="9144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52450" y="2876550"/>
                <a:ext cx="1619250" cy="9144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844550" y="3111500"/>
                <a:ext cx="177800" cy="250825"/>
                <a:chOff x="844550" y="3111500"/>
                <a:chExt cx="177800" cy="250825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895350" y="3111500"/>
                  <a:ext cx="76200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397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lnTo>
                        <a:pt x="76200" y="101600"/>
                      </a:lnTo>
                      <a:cubicBezTo>
                        <a:pt x="76200" y="122642"/>
                        <a:pt x="59142" y="139700"/>
                        <a:pt x="38100" y="139700"/>
                      </a:cubicBezTo>
                      <a:cubicBezTo>
                        <a:pt x="17058" y="139700"/>
                        <a:pt x="0" y="122642"/>
                        <a:pt x="0" y="1016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844550" y="3213100"/>
                  <a:ext cx="1778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88900">
                      <a:moveTo>
                        <a:pt x="0" y="0"/>
                      </a:moveTo>
                      <a:cubicBezTo>
                        <a:pt x="0" y="49098"/>
                        <a:pt x="39802" y="88900"/>
                        <a:pt x="88900" y="88900"/>
                      </a:cubicBezTo>
                      <a:cubicBezTo>
                        <a:pt x="137998" y="88900"/>
                        <a:pt x="177800" y="49098"/>
                        <a:pt x="177800" y="0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882650" y="3352800"/>
                  <a:ext cx="101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9525">
                      <a:moveTo>
                        <a:pt x="0" y="0"/>
                      </a:moveTo>
                      <a:lnTo>
                        <a:pt x="1016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33450" y="3302000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pic>
            <p:nvPicPr>
              <p:cNvPr id="19" name="Image 1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19175" y="2990850"/>
                <a:ext cx="533400" cy="409575"/>
              </a:xfrm>
              <a:prstGeom prst="rect">
                <a:avLst/>
              </a:prstGeom>
            </p:spPr>
          </p:pic>
          <p:sp>
            <p:nvSpPr>
              <p:cNvPr id="20" name="TextBox 20"/>
              <p:cNvSpPr txBox="1"/>
              <p:nvPr/>
            </p:nvSpPr>
            <p:spPr>
              <a:xfrm>
                <a:off x="767715" y="348710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语义强，布局弱</a:t>
                </a:r>
                <a:endParaRPr lang="zh-CN" sz="10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2209800" y="1962150"/>
              <a:ext cx="1143000" cy="685800"/>
            </a:xfrm>
            <a:custGeom>
              <a:avLst/>
              <a:gdLst/>
              <a:ahLst/>
              <a:cxnLst/>
              <a:rect l="l" t="t" r="r" b="b"/>
              <a:pathLst>
                <a:path w="1143000" h="685800">
                  <a:moveTo>
                    <a:pt x="0" y="0"/>
                  </a:moveTo>
                  <a:cubicBezTo>
                    <a:pt x="609600" y="0"/>
                    <a:pt x="647700" y="590550"/>
                    <a:pt x="1143000" y="685800"/>
                  </a:cubicBezTo>
                </a:path>
              </a:pathLst>
            </a:cu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sp>
          <p:nvSpPr>
            <p:cNvPr id="23" name="Freeform 23"/>
            <p:cNvSpPr/>
            <p:nvPr/>
          </p:nvSpPr>
          <p:spPr>
            <a:xfrm>
              <a:off x="2209800" y="2686050"/>
              <a:ext cx="1143000" cy="647700"/>
            </a:xfrm>
            <a:custGeom>
              <a:avLst/>
              <a:gdLst/>
              <a:ahLst/>
              <a:cxnLst/>
              <a:rect l="l" t="t" r="r" b="b"/>
              <a:pathLst>
                <a:path w="1143000" h="647700">
                  <a:moveTo>
                    <a:pt x="0" y="647700"/>
                  </a:moveTo>
                  <a:cubicBezTo>
                    <a:pt x="609600" y="647700"/>
                    <a:pt x="647700" y="76200"/>
                    <a:pt x="1143000" y="0"/>
                  </a:cubicBezTo>
                </a:path>
              </a:pathLst>
            </a:cu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3390900" y="2133600"/>
              <a:ext cx="1866900" cy="1143000"/>
              <a:chOff x="3390900" y="2133600"/>
              <a:chExt cx="1866900" cy="1143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390900" y="2133600"/>
                <a:ext cx="186690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FEF3C7"/>
              </a:solidFill>
              <a:ln w="9525">
                <a:solidFill>
                  <a:srgbClr val="F59E0B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3733790" y="2438400"/>
                <a:ext cx="228610" cy="228600"/>
                <a:chOff x="3733790" y="2438400"/>
                <a:chExt cx="228610" cy="2286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3790950" y="24955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57162" y="3829"/>
                      </a:moveTo>
                      <a:cubicBezTo>
                        <a:pt x="166003" y="8933"/>
                        <a:pt x="171450" y="18366"/>
                        <a:pt x="171450" y="28575"/>
                      </a:cubicBezTo>
                      <a:lnTo>
                        <a:pt x="171450" y="142875"/>
                      </a:lnTo>
                      <a:cubicBezTo>
                        <a:pt x="171450" y="158657"/>
                        <a:pt x="158657" y="171450"/>
                        <a:pt x="142875" y="171450"/>
                      </a:cubicBezTo>
                      <a:lnTo>
                        <a:pt x="28575" y="171450"/>
                      </a:lnTo>
                      <a:cubicBezTo>
                        <a:pt x="12793" y="171450"/>
                        <a:pt x="0" y="158657"/>
                        <a:pt x="0" y="1428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71438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3733790" y="2438400"/>
                  <a:ext cx="17146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60" h="171450">
                      <a:moveTo>
                        <a:pt x="14297" y="167650"/>
                      </a:moveTo>
                      <a:cubicBezTo>
                        <a:pt x="5448" y="162540"/>
                        <a:pt x="0" y="153094"/>
                        <a:pt x="10" y="142875"/>
                      </a:cubicBezTo>
                      <a:lnTo>
                        <a:pt x="10" y="28575"/>
                      </a:lnTo>
                      <a:cubicBezTo>
                        <a:pt x="10" y="12793"/>
                        <a:pt x="12803" y="0"/>
                        <a:pt x="28585" y="0"/>
                      </a:cubicBezTo>
                      <a:lnTo>
                        <a:pt x="142885" y="0"/>
                      </a:lnTo>
                      <a:cubicBezTo>
                        <a:pt x="158666" y="0"/>
                        <a:pt x="171460" y="12793"/>
                        <a:pt x="171460" y="28575"/>
                      </a:cubicBezTo>
                      <a:lnTo>
                        <a:pt x="171460" y="142875"/>
                      </a:lnTo>
                      <a:cubicBezTo>
                        <a:pt x="171460" y="158657"/>
                        <a:pt x="158666" y="171450"/>
                        <a:pt x="142885" y="171450"/>
                      </a:cubicBezTo>
                      <a:lnTo>
                        <a:pt x="100022" y="17145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pic>
            <p:nvPicPr>
              <p:cNvPr id="28" name="Image 2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10025" y="2324100"/>
                <a:ext cx="533400" cy="476250"/>
              </a:xfrm>
              <a:prstGeom prst="rect">
                <a:avLst/>
              </a:prstGeom>
            </p:spPr>
          </p:pic>
          <p:sp>
            <p:nvSpPr>
              <p:cNvPr id="29" name="TextBox 29"/>
              <p:cNvSpPr txBox="1"/>
              <p:nvPr/>
            </p:nvSpPr>
            <p:spPr>
              <a:xfrm>
                <a:off x="3661410" y="2899410"/>
                <a:ext cx="11506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早期融合候选图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5295900" y="2705100"/>
              <a:ext cx="85725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229350" y="1524000"/>
              <a:ext cx="2724150" cy="2381250"/>
              <a:chOff x="6229350" y="1524000"/>
              <a:chExt cx="2724150" cy="23812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229350" y="1524000"/>
                <a:ext cx="2724150" cy="2381250"/>
              </a:xfrm>
              <a:prstGeom prst="roundRect">
                <a:avLst>
                  <a:gd name="adj" fmla="val 3200"/>
                </a:avLst>
              </a:prstGeom>
              <a:solidFill>
                <a:srgbClr val="155E75"/>
              </a:solidFill>
              <a:ln>
                <a:noFill/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7459662" y="1860550"/>
                <a:ext cx="261938" cy="279400"/>
                <a:chOff x="7459662" y="1860550"/>
                <a:chExt cx="261938" cy="2794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7459662" y="2070100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459662" y="1860550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634288" y="1860550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4"/>
                        <a:pt x="15636" y="69850"/>
                        <a:pt x="34925" y="69850"/>
                      </a:cubicBezTo>
                      <a:cubicBezTo>
                        <a:pt x="54214" y="69850"/>
                        <a:pt x="69850" y="54214"/>
                        <a:pt x="69850" y="34925"/>
                      </a:cubicBezTo>
                      <a:cubicBezTo>
                        <a:pt x="69850" y="15636"/>
                        <a:pt x="54214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494588" y="1930400"/>
                  <a:ext cx="9525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9700">
                      <a:moveTo>
                        <a:pt x="0" y="0"/>
                      </a:moveTo>
                      <a:lnTo>
                        <a:pt x="0" y="1397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529512" y="1982788"/>
                  <a:ext cx="139700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122238">
                      <a:moveTo>
                        <a:pt x="0" y="122238"/>
                      </a:moveTo>
                      <a:lnTo>
                        <a:pt x="104775" y="122238"/>
                      </a:lnTo>
                      <a:cubicBezTo>
                        <a:pt x="124064" y="122238"/>
                        <a:pt x="139700" y="106601"/>
                        <a:pt x="139700" y="87313"/>
                      </a:cubicBez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616825" y="1982788"/>
                  <a:ext cx="104775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52388">
                      <a:moveTo>
                        <a:pt x="0" y="52388"/>
                      </a:moveTo>
                      <a:lnTo>
                        <a:pt x="52388" y="0"/>
                      </a:lnTo>
                      <a:lnTo>
                        <a:pt x="104775" y="52388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6339911" y="2282190"/>
                <a:ext cx="250302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Graph Editing Bridge</a:t>
                </a:r>
                <a:endPara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pic>
            <p:nvPicPr>
              <p:cNvPr id="41" name="Image 4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9850" y="2647950"/>
                <a:ext cx="2343150" cy="276225"/>
              </a:xfrm>
              <a:prstGeom prst="rect">
                <a:avLst/>
              </a:prstGeom>
            </p:spPr>
          </p:pic>
          <p:sp>
            <p:nvSpPr>
              <p:cNvPr id="42" name="TextBox 42"/>
              <p:cNvSpPr txBox="1"/>
              <p:nvPr/>
            </p:nvSpPr>
            <p:spPr>
              <a:xfrm>
                <a:off x="6577012" y="3078956"/>
                <a:ext cx="20013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0F2F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删除多余节点 / 插入缺失节点</a:t>
                </a:r>
                <a:endParaRPr lang="zh-CN" sz="1125" dirty="0">
                  <a:solidFill>
                    <a:srgbClr val="E0F2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577012" y="3326606"/>
                <a:ext cx="23238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0F2F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删除错误边 / 插入目标边 / 修方向</a:t>
                </a:r>
                <a:endParaRPr lang="zh-CN" sz="1125" dirty="0">
                  <a:solidFill>
                    <a:srgbClr val="E0F2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45" name="Line 45"/>
            <p:cNvSpPr/>
            <p:nvPr/>
          </p:nvSpPr>
          <p:spPr>
            <a:xfrm>
              <a:off x="8991600" y="2705100"/>
              <a:ext cx="85725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9925050" y="1981200"/>
              <a:ext cx="1695450" cy="1447800"/>
              <a:chOff x="9925050" y="1981200"/>
              <a:chExt cx="1695450" cy="14478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9925050" y="1981200"/>
                <a:ext cx="1695450" cy="1447800"/>
              </a:xfrm>
              <a:prstGeom prst="roundRect">
                <a:avLst>
                  <a:gd name="adj" fmla="val 5263"/>
                </a:avLst>
              </a:prstGeom>
              <a:solidFill>
                <a:srgbClr val="DCFCE7"/>
              </a:solidFill>
              <a:ln w="9525">
                <a:solidFill>
                  <a:srgbClr val="16A34A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10608469" y="2255044"/>
                <a:ext cx="271462" cy="286543"/>
                <a:chOff x="10608469" y="2255044"/>
                <a:chExt cx="271462" cy="286543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10653712" y="2255044"/>
                  <a:ext cx="180975" cy="18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5" h="180975">
                      <a:moveTo>
                        <a:pt x="0" y="90488"/>
                      </a:moveTo>
                      <a:cubicBezTo>
                        <a:pt x="0" y="140462"/>
                        <a:pt x="40513" y="180975"/>
                        <a:pt x="90488" y="180975"/>
                      </a:cubicBezTo>
                      <a:cubicBezTo>
                        <a:pt x="140462" y="180975"/>
                        <a:pt x="180975" y="140462"/>
                        <a:pt x="180975" y="90488"/>
                      </a:cubicBezTo>
                      <a:cubicBezTo>
                        <a:pt x="180975" y="40513"/>
                        <a:pt x="140462" y="0"/>
                        <a:pt x="90488" y="0"/>
                      </a:cubicBezTo>
                      <a:cubicBezTo>
                        <a:pt x="40513" y="0"/>
                        <a:pt x="0" y="40513"/>
                        <a:pt x="0" y="90488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10744200" y="2255044"/>
                  <a:ext cx="30163" cy="18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3" h="180975">
                      <a:moveTo>
                        <a:pt x="0" y="0"/>
                      </a:moveTo>
                      <a:cubicBezTo>
                        <a:pt x="20103" y="5022"/>
                        <a:pt x="30163" y="35185"/>
                        <a:pt x="30163" y="90488"/>
                      </a:cubicBezTo>
                      <a:cubicBezTo>
                        <a:pt x="30163" y="145790"/>
                        <a:pt x="20103" y="175953"/>
                        <a:pt x="0" y="1809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10714038" y="2255044"/>
                  <a:ext cx="30163" cy="18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3" h="180975">
                      <a:moveTo>
                        <a:pt x="30163" y="0"/>
                      </a:moveTo>
                      <a:cubicBezTo>
                        <a:pt x="10059" y="5022"/>
                        <a:pt x="0" y="35185"/>
                        <a:pt x="0" y="90488"/>
                      </a:cubicBezTo>
                      <a:cubicBezTo>
                        <a:pt x="0" y="145790"/>
                        <a:pt x="10059" y="175953"/>
                        <a:pt x="30163" y="1809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10653712" y="2345531"/>
                  <a:ext cx="1809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5" h="9525">
                      <a:moveTo>
                        <a:pt x="0" y="0"/>
                      </a:moveTo>
                      <a:lnTo>
                        <a:pt x="180975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0608469" y="2511425"/>
                  <a:ext cx="10556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569" h="9525">
                      <a:moveTo>
                        <a:pt x="0" y="0"/>
                      </a:moveTo>
                      <a:lnTo>
                        <a:pt x="105569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10774362" y="2511425"/>
                  <a:ext cx="10556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569" h="9525">
                      <a:moveTo>
                        <a:pt x="0" y="0"/>
                      </a:moveTo>
                      <a:lnTo>
                        <a:pt x="105569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10714038" y="2481262"/>
                  <a:ext cx="60325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25" h="60325">
                      <a:moveTo>
                        <a:pt x="0" y="30163"/>
                      </a:moveTo>
                      <a:cubicBezTo>
                        <a:pt x="0" y="46821"/>
                        <a:pt x="13504" y="60325"/>
                        <a:pt x="30163" y="60325"/>
                      </a:cubicBezTo>
                      <a:cubicBezTo>
                        <a:pt x="46821" y="60325"/>
                        <a:pt x="60325" y="46821"/>
                        <a:pt x="60325" y="30163"/>
                      </a:cubicBezTo>
                      <a:cubicBezTo>
                        <a:pt x="60325" y="13504"/>
                        <a:pt x="46821" y="0"/>
                        <a:pt x="30163" y="0"/>
                      </a:cubicBezTo>
                      <a:cubicBezTo>
                        <a:pt x="13504" y="0"/>
                        <a:pt x="0" y="13504"/>
                        <a:pt x="0" y="30163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10744200" y="2436019"/>
                  <a:ext cx="9525" cy="45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5244">
                      <a:moveTo>
                        <a:pt x="0" y="0"/>
                      </a:moveTo>
                      <a:lnTo>
                        <a:pt x="0" y="45244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pic>
            <p:nvPicPr>
              <p:cNvPr id="56" name="Image 5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08310" y="2621915"/>
                <a:ext cx="342900" cy="457200"/>
              </a:xfrm>
              <a:prstGeom prst="rect">
                <a:avLst/>
              </a:prstGeom>
            </p:spPr>
          </p:pic>
          <p:sp>
            <p:nvSpPr>
              <p:cNvPr id="57" name="TextBox 57"/>
              <p:cNvSpPr txBox="1"/>
              <p:nvPr/>
            </p:nvSpPr>
            <p:spPr>
              <a:xfrm>
                <a:off x="10340023" y="3143567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可编辑知识图</a:t>
                </a:r>
                <a:endParaRPr lang="zh-CN" sz="10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666750" y="4438650"/>
            <a:ext cx="10858500" cy="1238250"/>
            <a:chOff x="666750" y="4438650"/>
            <a:chExt cx="10858500" cy="1238250"/>
          </a:xfrm>
        </p:grpSpPr>
        <p:sp>
          <p:nvSpPr>
            <p:cNvPr id="60" name="Rectangle 60"/>
            <p:cNvSpPr/>
            <p:nvPr/>
          </p:nvSpPr>
          <p:spPr>
            <a:xfrm>
              <a:off x="666750" y="4438650"/>
              <a:ext cx="10858500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61" name="TextBox 61"/>
            <p:cNvSpPr txBox="1"/>
            <p:nvPr/>
          </p:nvSpPr>
          <p:spPr>
            <a:xfrm>
              <a:off x="932498" y="4630579"/>
              <a:ext cx="511213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代价函数不是抽象符号，而是模拟用户真实修改成本</a:t>
              </a:r>
              <a:endParaRPr lang="zh-CN" sz="1575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62" name="Image 6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2500" y="4933950"/>
              <a:ext cx="4953000" cy="647700"/>
            </a:xfrm>
            <a:prstGeom prst="rect">
              <a:avLst/>
            </a:prstGeom>
          </p:spPr>
        </p:pic>
        <p:sp>
          <p:nvSpPr>
            <p:cNvPr id="63" name="TextBox 63"/>
            <p:cNvSpPr txBox="1"/>
            <p:nvPr/>
          </p:nvSpPr>
          <p:spPr>
            <a:xfrm>
              <a:off x="6196012" y="5098256"/>
              <a:ext cx="3779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结构增删改对应手工改图；标签距离对应概念命名错误；</a:t>
              </a:r>
              <a:endParaRPr lang="zh-CN" sz="112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96012" y="5345906"/>
              <a:ext cx="31789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方向、布局与语音覆盖共同模拟真实修改成本。</a:t>
              </a:r>
              <a:endParaRPr lang="zh-CN" sz="112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149080" y="4572000"/>
              <a:ext cx="2209800" cy="495300"/>
            </a:xfrm>
            <a:prstGeom prst="roundRect">
              <a:avLst>
                <a:gd name="adj" fmla="val 15385"/>
              </a:avLst>
            </a:prstGeom>
            <a:solidFill>
              <a:srgbClr val="CCFBF1"/>
            </a:solidFill>
            <a:ln>
              <a:noFill/>
            </a:ln>
          </p:spPr>
          <p:txBody>
            <a:bodyPr/>
            <a:p>
              <a:endParaRPr lang="zh-CN" altLang="en-US"/>
            </a:p>
          </p:txBody>
        </p:sp>
        <p:pic>
          <p:nvPicPr>
            <p:cNvPr id="66" name="Image 6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01480" y="4629150"/>
              <a:ext cx="1905000" cy="438150"/>
            </a:xfrm>
            <a:prstGeom prst="rect">
              <a:avLst/>
            </a:prstGeom>
          </p:spPr>
        </p:pic>
      </p:grpSp>
      <p:grpSp>
        <p:nvGrpSpPr>
          <p:cNvPr id="70" name="Group 70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68" name="TextBox 68"/>
            <p:cNvSpPr txBox="1"/>
            <p:nvPr/>
          </p:nvSpPr>
          <p:spPr>
            <a:xfrm>
              <a:off x="560070" y="6379845"/>
              <a:ext cx="20211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SketchVoice · MMSB-Graph Method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 / 14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75285"/>
            <a:ext cx="7072313" cy="762953"/>
            <a:chOff x="537210" y="375285"/>
            <a:chExt cx="7072313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68734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数据与实验：把 demo 标注成可评测样例</a:t>
              </a:r>
              <a:endParaRPr lang="zh-CN" sz="27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70551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我们不是只做几个展示样例，而是把输入、标准图、锚点和指标组织成可复现实验协议。</a:t>
              </a:r>
              <a:endParaRPr lang="zh-CN" sz="13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1428750"/>
            <a:ext cx="4083558" cy="4000500"/>
            <a:chOff x="609600" y="1428750"/>
            <a:chExt cx="4083558" cy="40005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3714750" cy="4000500"/>
            </a:xfrm>
            <a:prstGeom prst="roundRect">
              <a:avLst>
                <a:gd name="adj" fmla="val 2051"/>
              </a:avLst>
            </a:prstGeom>
            <a:solidFill>
              <a:srgbClr val="155E75"/>
            </a:solidFill>
            <a:ln>
              <a:noFill/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10" name="Group 10"/>
            <p:cNvGrpSpPr/>
            <p:nvPr/>
          </p:nvGrpSpPr>
          <p:grpSpPr>
            <a:xfrm>
              <a:off x="1003300" y="1843088"/>
              <a:ext cx="279400" cy="314324"/>
              <a:chOff x="1003300" y="1843088"/>
              <a:chExt cx="279400" cy="31432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03300" y="1843088"/>
                <a:ext cx="27940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104775">
                    <a:moveTo>
                      <a:pt x="0" y="52388"/>
                    </a:moveTo>
                    <a:cubicBezTo>
                      <a:pt x="0" y="81320"/>
                      <a:pt x="62546" y="104775"/>
                      <a:pt x="139700" y="104775"/>
                    </a:cubicBezTo>
                    <a:cubicBezTo>
                      <a:pt x="216854" y="104775"/>
                      <a:pt x="279400" y="81320"/>
                      <a:pt x="279400" y="52388"/>
                    </a:cubicBezTo>
                    <a:cubicBezTo>
                      <a:pt x="279400" y="23455"/>
                      <a:pt x="216854" y="0"/>
                      <a:pt x="139700" y="0"/>
                    </a:cubicBezTo>
                    <a:cubicBezTo>
                      <a:pt x="62546" y="0"/>
                      <a:pt x="0" y="23455"/>
                      <a:pt x="0" y="5238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03300" y="1895475"/>
                <a:ext cx="279400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400" y="133708"/>
                      <a:pt x="279400" y="104775"/>
                    </a:cubicBezTo>
                    <a:lnTo>
                      <a:pt x="2794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03300" y="2000250"/>
                <a:ext cx="279400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157162">
                    <a:moveTo>
                      <a:pt x="0" y="0"/>
                    </a:moveTo>
                    <a:lnTo>
                      <a:pt x="0" y="104775"/>
                    </a:lnTo>
                    <a:cubicBezTo>
                      <a:pt x="0" y="133708"/>
                      <a:pt x="62546" y="157162"/>
                      <a:pt x="139700" y="157162"/>
                    </a:cubicBezTo>
                    <a:cubicBezTo>
                      <a:pt x="216854" y="157162"/>
                      <a:pt x="279400" y="133708"/>
                      <a:pt x="279400" y="104775"/>
                    </a:cubicBezTo>
                    <a:lnTo>
                      <a:pt x="2794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98282" y="1848326"/>
              <a:ext cx="2433133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24 个知识草图样例</a:t>
              </a:r>
              <a:endParaRPr lang="zh-CN" sz="20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5352" y="2551271"/>
              <a:ext cx="12333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CCFBF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覆盖五类结构</a:t>
              </a:r>
              <a:endParaRPr lang="zh-CN" sz="1425" b="1" dirty="0">
                <a:solidFill>
                  <a:srgbClr val="CCFBF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18210" y="289941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0F2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线性流程、多分支融合、反馈闭环、</a:t>
              </a:r>
              <a:endParaRPr lang="zh-CN" sz="1200" dirty="0">
                <a:solidFill>
                  <a:srgbClr val="E0F2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8210" y="31661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0F2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模型架构、实验流程。</a:t>
              </a:r>
              <a:endParaRPr lang="zh-CN" sz="1200" dirty="0">
                <a:solidFill>
                  <a:srgbClr val="E0F2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933450" y="3638550"/>
              <a:ext cx="3067050" cy="9525"/>
            </a:xfrm>
            <a:custGeom>
              <a:avLst/>
              <a:gdLst/>
              <a:ahLst/>
              <a:cxnLst/>
              <a:rect l="l" t="t" r="r" b="b"/>
              <a:pathLst>
                <a:path w="3067050" h="9525">
                  <a:moveTo>
                    <a:pt x="0" y="0"/>
                  </a:moveTo>
                  <a:lnTo>
                    <a:pt x="3067050" y="0"/>
                  </a:lnTo>
                </a:path>
              </a:pathLst>
            </a:custGeom>
            <a:noFill/>
            <a:ln w="9525">
              <a:solidFill>
                <a:srgbClr val="CCFBF1">
                  <a:alpha val="55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5352" y="3884771"/>
              <a:ext cx="12333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CCFBF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每个样例标注</a:t>
              </a:r>
              <a:endParaRPr lang="zh-CN" sz="1425" b="1" dirty="0">
                <a:solidFill>
                  <a:srgbClr val="CCFBF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8210" y="4232910"/>
              <a:ext cx="31908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0F2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gold nodes / gold edges / speech anchors</a:t>
              </a:r>
              <a:endParaRPr lang="zh-CN" sz="1200" dirty="0">
                <a:solidFill>
                  <a:srgbClr val="E0F2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8210" y="4499610"/>
              <a:ext cx="37749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0F2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 regions / layout coordinates / difficulty</a:t>
              </a:r>
              <a:endParaRPr lang="zh-CN" sz="1200" dirty="0">
                <a:solidFill>
                  <a:srgbClr val="E0F2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33450" y="4914900"/>
              <a:ext cx="2590800" cy="323850"/>
            </a:xfrm>
            <a:prstGeom prst="roundRect">
              <a:avLst>
                <a:gd name="adj" fmla="val 23529"/>
              </a:avLst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48204" y="5012531"/>
              <a:ext cx="17612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5E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把产品样例变成科研数据</a:t>
              </a:r>
              <a:endParaRPr lang="zh-CN" sz="1125" b="1" dirty="0">
                <a:solidFill>
                  <a:srgbClr val="155E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686300" y="1428750"/>
            <a:ext cx="6896100" cy="2343150"/>
            <a:chOff x="4686300" y="1428750"/>
            <a:chExt cx="6896100" cy="2343150"/>
          </a:xfrm>
        </p:grpSpPr>
        <p:sp>
          <p:nvSpPr>
            <p:cNvPr id="22" name="Rectangle 22"/>
            <p:cNvSpPr/>
            <p:nvPr/>
          </p:nvSpPr>
          <p:spPr>
            <a:xfrm>
              <a:off x="4686300" y="1428750"/>
              <a:ext cx="6896100" cy="2343150"/>
            </a:xfrm>
            <a:prstGeom prst="roundRect">
              <a:avLst>
                <a:gd name="adj" fmla="val 325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4686300" y="1428750"/>
              <a:ext cx="6896100" cy="419100"/>
            </a:xfrm>
            <a:prstGeom prst="roundRect">
              <a:avLst>
                <a:gd name="adj" fmla="val 18182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55858" y="15673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对照方法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51358" y="15673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验证意义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4686300" y="2276475"/>
              <a:ext cx="6896100" cy="9525"/>
            </a:xfrm>
            <a:custGeom>
              <a:avLst/>
              <a:gdLst/>
              <a:ahLst/>
              <a:cxnLst/>
              <a:rect l="l" t="t" r="r" b="b"/>
              <a:pathLst>
                <a:path w="6896100" h="9525">
                  <a:moveTo>
                    <a:pt x="0" y="0"/>
                  </a:moveTo>
                  <a:lnTo>
                    <a:pt x="68961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4686300" y="2705100"/>
              <a:ext cx="6896100" cy="9525"/>
            </a:xfrm>
            <a:custGeom>
              <a:avLst/>
              <a:gdLst/>
              <a:ahLst/>
              <a:cxnLst/>
              <a:rect l="l" t="t" r="r" b="b"/>
              <a:pathLst>
                <a:path w="6896100" h="9525">
                  <a:moveTo>
                    <a:pt x="0" y="0"/>
                  </a:moveTo>
                  <a:lnTo>
                    <a:pt x="68961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4686300" y="3133725"/>
              <a:ext cx="6896100" cy="9525"/>
            </a:xfrm>
            <a:custGeom>
              <a:avLst/>
              <a:gdLst/>
              <a:ahLst/>
              <a:cxnLst/>
              <a:rect l="l" t="t" r="r" b="b"/>
              <a:pathLst>
                <a:path w="6896100" h="9525">
                  <a:moveTo>
                    <a:pt x="0" y="0"/>
                  </a:moveTo>
                  <a:lnTo>
                    <a:pt x="68961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381750" y="1847850"/>
              <a:ext cx="9525" cy="1924050"/>
            </a:xfrm>
            <a:custGeom>
              <a:avLst/>
              <a:gdLst/>
              <a:ahLst/>
              <a:cxnLst/>
              <a:rect l="l" t="t" r="r" b="b"/>
              <a:pathLst>
                <a:path w="9525" h="1924050">
                  <a:moveTo>
                    <a:pt x="0" y="0"/>
                  </a:moveTo>
                  <a:lnTo>
                    <a:pt x="0" y="192405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956810" y="2004060"/>
              <a:ext cx="10050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Sketch-only</a:t>
              </a:r>
              <a:endParaRPr lang="zh-CN" sz="12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5112" y="2012156"/>
              <a:ext cx="25788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只看空间结构，验证草图单模态短板。</a:t>
              </a:r>
              <a:endParaRPr lang="zh-CN" sz="112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56810" y="2432685"/>
              <a:ext cx="10050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Speech-only</a:t>
              </a:r>
              <a:endParaRPr lang="zh-CN" sz="12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15112" y="2440781"/>
              <a:ext cx="2728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只看语义顺序，验证语音补关系的价值。</a:t>
              </a:r>
              <a:endParaRPr lang="zh-CN" sz="112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56810" y="2861310"/>
              <a:ext cx="10134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Early Fusion</a:t>
              </a:r>
              <a:endParaRPr lang="zh-CN" sz="12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15112" y="2869406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简单合并两模态，验证 one-shot 融合不足。</a:t>
              </a:r>
              <a:endParaRPr lang="zh-CN" sz="112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56810" y="3289935"/>
              <a:ext cx="12150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Greedy / MMSB</a:t>
              </a:r>
              <a:endParaRPr lang="zh-CN" sz="12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15112" y="3298031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比较局部修复与全局约束编辑路径。</a:t>
              </a:r>
              <a:endParaRPr lang="zh-CN" sz="112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686300" y="4076700"/>
            <a:ext cx="6896100" cy="1352550"/>
            <a:chOff x="4686300" y="4076700"/>
            <a:chExt cx="6896100" cy="1352550"/>
          </a:xfrm>
        </p:grpSpPr>
        <p:sp>
          <p:nvSpPr>
            <p:cNvPr id="39" name="Rectangle 39"/>
            <p:cNvSpPr/>
            <p:nvPr/>
          </p:nvSpPr>
          <p:spPr>
            <a:xfrm>
              <a:off x="4686300" y="4076700"/>
              <a:ext cx="6896100" cy="1352550"/>
            </a:xfrm>
            <a:prstGeom prst="roundRect">
              <a:avLst>
                <a:gd name="adj" fmla="val 563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4953000" y="42957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指标组合</a:t>
              </a:r>
              <a:endParaRPr lang="zh-CN" sz="15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72050" y="4648200"/>
              <a:ext cx="3429000" cy="361950"/>
            </a:xfrm>
            <a:prstGeom prst="rect">
              <a:avLst/>
            </a:prstGeom>
          </p:spPr>
        </p:pic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72050" y="5010150"/>
              <a:ext cx="3790950" cy="314325"/>
            </a:xfrm>
            <a:prstGeom prst="rect">
              <a:avLst/>
            </a:prstGeom>
          </p:spPr>
        </p:pic>
        <p:sp>
          <p:nvSpPr>
            <p:cNvPr id="43" name="Rectangle 43"/>
            <p:cNvSpPr/>
            <p:nvPr/>
          </p:nvSpPr>
          <p:spPr>
            <a:xfrm>
              <a:off x="8743950" y="4324350"/>
              <a:ext cx="2266950" cy="381000"/>
            </a:xfrm>
            <a:prstGeom prst="roundRect">
              <a:avLst>
                <a:gd name="adj" fmla="val 2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918019" y="4450556"/>
              <a:ext cx="19188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当前是合成条件图可控验证</a:t>
              </a:r>
              <a:endParaRPr lang="zh-CN" sz="1125" b="1" dirty="0">
                <a:solidFill>
                  <a:srgbClr val="F59E0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46" name="TextBox 46"/>
            <p:cNvSpPr txBox="1"/>
            <p:nvPr/>
          </p:nvSpPr>
          <p:spPr>
            <a:xfrm>
              <a:off x="560070" y="6379845"/>
              <a:ext cx="27231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SketchVoice · Evaluation Dataset and Protocol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11 / 14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8" grpId="0"/>
      <p:bldP spid="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323850"/>
            <a:ext cx="11083290" cy="814388"/>
            <a:chOff x="537210" y="323850"/>
            <a:chExt cx="11083290" cy="814388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82722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结果边界：验证的是图桥行为，不是大规模 SOTA</a:t>
              </a:r>
              <a:endParaRPr lang="zh-CN" sz="27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66951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我们已经做出了可评测成果，但必须把可控验证、真实场景和下一步训练清楚区分。</a:t>
              </a:r>
              <a:endParaRPr lang="zh-CN" sz="13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9029700" y="323850"/>
              <a:ext cx="2590800" cy="323850"/>
            </a:xfrm>
            <a:prstGeom prst="roundRect">
              <a:avLst>
                <a:gd name="adj" fmla="val 23529"/>
              </a:avLst>
            </a:prstGeom>
            <a:solidFill>
              <a:srgbClr val="FEF3C7"/>
            </a:solidFill>
            <a:ln w="9525">
              <a:solidFill>
                <a:srgbClr val="F59E0B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601974" y="421481"/>
              <a:ext cx="1446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合成条件图可控验证</a:t>
              </a:r>
              <a:endParaRPr lang="zh-CN" sz="1125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1390650"/>
            <a:ext cx="6572250" cy="3943350"/>
            <a:chOff x="571500" y="1390650"/>
            <a:chExt cx="6572250" cy="3943350"/>
          </a:xfrm>
        </p:grpSpPr>
        <p:sp>
          <p:nvSpPr>
            <p:cNvPr id="8" name="Rectangle 8"/>
            <p:cNvSpPr/>
            <p:nvPr/>
          </p:nvSpPr>
          <p:spPr>
            <a:xfrm>
              <a:off x="571500" y="1390650"/>
              <a:ext cx="6572250" cy="3943350"/>
            </a:xfrm>
            <a:prstGeom prst="roundRect">
              <a:avLst>
                <a:gd name="adj" fmla="val 193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9525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18" name="Group 18"/>
            <p:cNvGrpSpPr/>
            <p:nvPr/>
          </p:nvGrpSpPr>
          <p:grpSpPr>
            <a:xfrm>
              <a:off x="873919" y="1683544"/>
              <a:ext cx="5587343" cy="357187"/>
              <a:chOff x="873919" y="1683544"/>
              <a:chExt cx="5587343" cy="357187"/>
            </a:xfrm>
          </p:grpSpPr>
          <p:grpSp>
            <p:nvGrpSpPr>
              <p:cNvPr id="15" name="Group 15"/>
              <p:cNvGrpSpPr/>
              <p:nvPr/>
            </p:nvGrpSpPr>
            <p:grpSpPr>
              <a:xfrm>
                <a:off x="873919" y="1683544"/>
                <a:ext cx="214312" cy="214312"/>
                <a:chOff x="873919" y="1683544"/>
                <a:chExt cx="214312" cy="214312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873919" y="1683544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0"/>
                      </a:moveTo>
                      <a:lnTo>
                        <a:pt x="0" y="214312"/>
                      </a:lnTo>
                      <a:lnTo>
                        <a:pt x="214312" y="214312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921544" y="1731169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40606" y="170735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981075" y="180260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959168" y="1774269"/>
                  <a:ext cx="27861" cy="34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61" h="34290">
                      <a:moveTo>
                        <a:pt x="0" y="0"/>
                      </a:moveTo>
                      <a:lnTo>
                        <a:pt x="27861" y="3429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017842" y="1751909"/>
                  <a:ext cx="33778" cy="54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78" h="54602">
                      <a:moveTo>
                        <a:pt x="0" y="54602"/>
                      </a:moveTo>
                      <a:lnTo>
                        <a:pt x="33778" y="0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235392" y="1690211"/>
                <a:ext cx="1492996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对照结果说明</a:t>
                </a:r>
                <a:endParaRPr lang="zh-CN" sz="172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015865" y="1763078"/>
                <a:ext cx="144539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F766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structure recovery</a:t>
                </a:r>
                <a:endParaRPr lang="zh-CN" sz="1050" b="1" dirty="0">
                  <a:solidFill>
                    <a:srgbClr val="0F766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sp>
          <p:nvSpPr>
            <p:cNvPr id="19" name="Line 19"/>
            <p:cNvSpPr/>
            <p:nvPr/>
          </p:nvSpPr>
          <p:spPr>
            <a:xfrm>
              <a:off x="838200" y="2095500"/>
              <a:ext cx="6038850" cy="9525"/>
            </a:xfrm>
            <a:custGeom>
              <a:avLst/>
              <a:gdLst/>
              <a:ahLst/>
              <a:cxnLst/>
              <a:rect l="l" t="t" r="r" b="b"/>
              <a:pathLst>
                <a:path w="6038850" h="9525">
                  <a:moveTo>
                    <a:pt x="0" y="0"/>
                  </a:moveTo>
                  <a:lnTo>
                    <a:pt x="60388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38200" y="2247900"/>
              <a:ext cx="6038850" cy="342900"/>
              <a:chOff x="838200" y="2247900"/>
              <a:chExt cx="6038850" cy="3429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38200" y="2247900"/>
                <a:ext cx="6038850" cy="342900"/>
              </a:xfrm>
              <a:prstGeom prst="roundRect">
                <a:avLst>
                  <a:gd name="adj" fmla="val 22222"/>
                </a:avLst>
              </a:prstGeom>
              <a:solidFill>
                <a:srgbClr val="E0F2FE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52512" y="2355056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55E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方法</a:t>
                </a:r>
                <a:endParaRPr lang="zh-CN" sz="1125" b="1" dirty="0">
                  <a:solidFill>
                    <a:srgbClr val="155E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576512" y="23550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55E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关键结果</a:t>
                </a:r>
                <a:endParaRPr lang="zh-CN" sz="1125" b="1" dirty="0">
                  <a:solidFill>
                    <a:srgbClr val="155E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386262" y="23550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55E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科研含义</a:t>
                </a:r>
                <a:endParaRPr lang="zh-CN" sz="1125" b="1" dirty="0">
                  <a:solidFill>
                    <a:srgbClr val="155E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38200" y="2781300"/>
              <a:ext cx="6038850" cy="478631"/>
              <a:chOff x="838200" y="2781300"/>
              <a:chExt cx="6038850" cy="478631"/>
            </a:xfrm>
          </p:grpSpPr>
          <p:sp>
            <p:nvSpPr>
              <p:cNvPr id="25" name="Line 25"/>
              <p:cNvSpPr/>
              <p:nvPr/>
            </p:nvSpPr>
            <p:spPr>
              <a:xfrm>
                <a:off x="838200" y="2781300"/>
                <a:ext cx="6038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8850" h="9525">
                    <a:moveTo>
                      <a:pt x="0" y="0"/>
                    </a:moveTo>
                    <a:lnTo>
                      <a:pt x="603885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51560" y="2842260"/>
                <a:ext cx="10050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Sketch-only</a:t>
                </a:r>
                <a:endParaRPr lang="zh-CN" sz="12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pic>
            <p:nvPicPr>
              <p:cNvPr id="27" name="Image 2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607586" y="2869565"/>
                <a:ext cx="1224998" cy="161925"/>
              </a:xfrm>
              <a:prstGeom prst="rect">
                <a:avLst/>
              </a:prstGeom>
            </p:spPr>
          </p:pic>
          <p:sp>
            <p:nvSpPr>
              <p:cNvPr id="28" name="TextBox 28"/>
              <p:cNvSpPr txBox="1"/>
              <p:nvPr/>
            </p:nvSpPr>
            <p:spPr>
              <a:xfrm>
                <a:off x="4386262" y="2821781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草图保留空间先验，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386262" y="3031331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但语义与方向不足。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38200" y="3352800"/>
              <a:ext cx="6038850" cy="478631"/>
              <a:chOff x="838200" y="3352800"/>
              <a:chExt cx="6038850" cy="478631"/>
            </a:xfrm>
          </p:grpSpPr>
          <p:sp>
            <p:nvSpPr>
              <p:cNvPr id="31" name="Line 31"/>
              <p:cNvSpPr/>
              <p:nvPr/>
            </p:nvSpPr>
            <p:spPr>
              <a:xfrm>
                <a:off x="838200" y="3352800"/>
                <a:ext cx="6038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8850" h="9525">
                    <a:moveTo>
                      <a:pt x="0" y="0"/>
                    </a:moveTo>
                    <a:lnTo>
                      <a:pt x="603885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51560" y="3413760"/>
                <a:ext cx="10050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Speech-only</a:t>
                </a:r>
                <a:endParaRPr lang="zh-CN" sz="12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pic>
            <p:nvPicPr>
              <p:cNvPr id="33" name="Image 3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07586" y="3460115"/>
                <a:ext cx="1224998" cy="161925"/>
              </a:xfrm>
              <a:prstGeom prst="rect">
                <a:avLst/>
              </a:prstGeom>
            </p:spPr>
          </p:pic>
          <p:sp>
            <p:nvSpPr>
              <p:cNvPr id="34" name="TextBox 34"/>
              <p:cNvSpPr txBox="1"/>
              <p:nvPr/>
            </p:nvSpPr>
            <p:spPr>
              <a:xfrm>
                <a:off x="4386262" y="3393281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语音能补关系，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386262" y="3602831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但缺少二维布局约束。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38200" y="3924300"/>
              <a:ext cx="6038850" cy="537210"/>
              <a:chOff x="838200" y="3924300"/>
              <a:chExt cx="6038850" cy="537210"/>
            </a:xfrm>
          </p:grpSpPr>
          <p:sp>
            <p:nvSpPr>
              <p:cNvPr id="37" name="Line 37"/>
              <p:cNvSpPr/>
              <p:nvPr/>
            </p:nvSpPr>
            <p:spPr>
              <a:xfrm>
                <a:off x="838200" y="3924300"/>
                <a:ext cx="6038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8850" h="9525">
                    <a:moveTo>
                      <a:pt x="0" y="0"/>
                    </a:moveTo>
                    <a:lnTo>
                      <a:pt x="603885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51560" y="3985260"/>
                <a:ext cx="10134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Early Fusion</a:t>
                </a:r>
                <a:endParaRPr lang="zh-CN" sz="12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pic>
            <p:nvPicPr>
              <p:cNvPr id="39" name="Image 3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07310" y="4037572"/>
                <a:ext cx="1276350" cy="156362"/>
              </a:xfrm>
              <a:prstGeom prst="rect">
                <a:avLst/>
              </a:prstGeom>
            </p:spPr>
          </p:pic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8856" y="4299585"/>
                <a:ext cx="1224998" cy="161925"/>
              </a:xfrm>
              <a:prstGeom prst="rect">
                <a:avLst/>
              </a:prstGeom>
            </p:spPr>
          </p:pic>
          <p:sp>
            <p:nvSpPr>
              <p:cNvPr id="41" name="TextBox 41"/>
              <p:cNvSpPr txBox="1"/>
              <p:nvPr/>
            </p:nvSpPr>
            <p:spPr>
              <a:xfrm>
                <a:off x="4386262" y="3964781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简单融合能补节点，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386262" y="4174331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结构冲突仍会残留。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838200" y="4552950"/>
              <a:ext cx="6038850" cy="488156"/>
              <a:chOff x="838200" y="4552950"/>
              <a:chExt cx="6038850" cy="488156"/>
            </a:xfrm>
          </p:grpSpPr>
          <p:sp>
            <p:nvSpPr>
              <p:cNvPr id="44" name="Line 44"/>
              <p:cNvSpPr/>
              <p:nvPr/>
            </p:nvSpPr>
            <p:spPr>
              <a:xfrm>
                <a:off x="838200" y="4552950"/>
                <a:ext cx="6038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8850" h="9525">
                    <a:moveTo>
                      <a:pt x="0" y="0"/>
                    </a:moveTo>
                    <a:lnTo>
                      <a:pt x="603885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051560" y="4623435"/>
                <a:ext cx="1147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Greedy Repair</a:t>
                </a:r>
                <a:endParaRPr lang="zh-CN" sz="12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pic>
            <p:nvPicPr>
              <p:cNvPr id="46" name="Image 4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26360" y="4660265"/>
                <a:ext cx="1257300" cy="171450"/>
              </a:xfrm>
              <a:prstGeom prst="rect">
                <a:avLst/>
              </a:prstGeom>
            </p:spPr>
          </p:pic>
          <p:sp>
            <p:nvSpPr>
              <p:cNvPr id="47" name="TextBox 47"/>
              <p:cNvSpPr txBox="1"/>
              <p:nvPr/>
            </p:nvSpPr>
            <p:spPr>
              <a:xfrm>
                <a:off x="4386262" y="46029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局部修复有效，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386262" y="481250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但缺少全局路径诊断。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838200" y="5010150"/>
              <a:ext cx="6038850" cy="278606"/>
              <a:chOff x="838200" y="5010150"/>
              <a:chExt cx="6038850" cy="278606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838200" y="5010150"/>
                <a:ext cx="6038850" cy="228600"/>
              </a:xfrm>
              <a:prstGeom prst="roundRect">
                <a:avLst>
                  <a:gd name="adj" fmla="val 33333"/>
                </a:avLst>
              </a:prstGeom>
              <a:solidFill>
                <a:srgbClr val="CCFBF1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1052512" y="5060156"/>
                <a:ext cx="95794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55E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MMSB-Graph</a:t>
                </a:r>
                <a:endParaRPr lang="zh-CN" sz="1125" b="1" dirty="0">
                  <a:solidFill>
                    <a:srgbClr val="155E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pic>
            <p:nvPicPr>
              <p:cNvPr id="52" name="Image 52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90800" y="5038725"/>
                <a:ext cx="1466850" cy="152400"/>
              </a:xfrm>
              <a:prstGeom prst="rect">
                <a:avLst/>
              </a:prstGeom>
            </p:spPr>
          </p:pic>
          <p:sp>
            <p:nvSpPr>
              <p:cNvPr id="53" name="TextBox 53"/>
              <p:cNvSpPr txBox="1"/>
              <p:nvPr/>
            </p:nvSpPr>
            <p:spPr>
              <a:xfrm>
                <a:off x="4387215" y="5044757"/>
                <a:ext cx="17908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55E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验证图桥可修复、可诊断。</a:t>
                </a:r>
                <a:endParaRPr lang="zh-CN" sz="1050" b="1" dirty="0">
                  <a:solidFill>
                    <a:srgbClr val="155E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7524750" y="1390650"/>
            <a:ext cx="4095750" cy="3943350"/>
            <a:chOff x="7524750" y="1390650"/>
            <a:chExt cx="4095750" cy="3943350"/>
          </a:xfrm>
        </p:grpSpPr>
        <p:grpSp>
          <p:nvGrpSpPr>
            <p:cNvPr id="70" name="Group 70"/>
            <p:cNvGrpSpPr/>
            <p:nvPr/>
          </p:nvGrpSpPr>
          <p:grpSpPr>
            <a:xfrm>
              <a:off x="7524750" y="1390650"/>
              <a:ext cx="4095750" cy="1809750"/>
              <a:chOff x="7524750" y="1390650"/>
              <a:chExt cx="4095750" cy="180975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7524750" y="1390650"/>
                <a:ext cx="409575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61" name="Group 61"/>
              <p:cNvGrpSpPr/>
              <p:nvPr/>
            </p:nvGrpSpPr>
            <p:grpSpPr>
              <a:xfrm>
                <a:off x="7842901" y="1693069"/>
                <a:ext cx="220120" cy="217647"/>
                <a:chOff x="7842901" y="1693069"/>
                <a:chExt cx="220120" cy="217647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7842901" y="1704975"/>
                  <a:ext cx="205724" cy="205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724" h="205741">
                      <a:moveTo>
                        <a:pt x="205724" y="48101"/>
                      </a:moveTo>
                      <a:lnTo>
                        <a:pt x="61396" y="192453"/>
                      </a:lnTo>
                      <a:cubicBezTo>
                        <a:pt x="48113" y="205739"/>
                        <a:pt x="26575" y="205741"/>
                        <a:pt x="13289" y="192459"/>
                      </a:cubicBezTo>
                      <a:cubicBezTo>
                        <a:pt x="3" y="179176"/>
                        <a:pt x="0" y="157637"/>
                        <a:pt x="13283" y="144351"/>
                      </a:cubicBezTo>
                      <a:lnTo>
                        <a:pt x="157610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893844" y="1812131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8010416" y="1835944"/>
                  <a:ext cx="52605" cy="608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05" h="60822">
                      <a:moveTo>
                        <a:pt x="26302" y="0"/>
                      </a:moveTo>
                      <a:lnTo>
                        <a:pt x="44162" y="19050"/>
                      </a:lnTo>
                      <a:cubicBezTo>
                        <a:pt x="52605" y="28623"/>
                        <a:pt x="51997" y="43151"/>
                        <a:pt x="42785" y="51986"/>
                      </a:cubicBezTo>
                      <a:cubicBezTo>
                        <a:pt x="33573" y="60822"/>
                        <a:pt x="19032" y="60822"/>
                        <a:pt x="9820" y="51986"/>
                      </a:cubicBezTo>
                      <a:cubicBezTo>
                        <a:pt x="607" y="43151"/>
                        <a:pt x="0" y="28623"/>
                        <a:pt x="8443" y="19050"/>
                      </a:cubicBezTo>
                      <a:lnTo>
                        <a:pt x="26302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7989094" y="1693069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71438" y="71438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8188642" y="1699736"/>
                <a:ext cx="1009936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真实边界</a:t>
                </a:r>
                <a:endParaRPr lang="zh-CN" sz="172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7810500" y="2095500"/>
                <a:ext cx="350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505200" h="9525">
                    <a:moveTo>
                      <a:pt x="0" y="0"/>
                    </a:moveTo>
                    <a:lnTo>
                      <a:pt x="35052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7886700" y="2362200"/>
                <a:ext cx="76200" cy="762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8081010" y="2327910"/>
                <a:ext cx="285483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当前不调用真实 ASR/VLM 大模型链路。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6" name="Ellipse 66"/>
              <p:cNvSpPr/>
              <p:nvPr/>
            </p:nvSpPr>
            <p:spPr>
              <a:xfrm>
                <a:off x="7886700" y="2705100"/>
                <a:ext cx="76200" cy="762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8081010" y="2670810"/>
                <a:ext cx="3070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结果说明的是受控候选图上的编辑桥行为。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8" name="Ellipse 68"/>
              <p:cNvSpPr/>
              <p:nvPr/>
            </p:nvSpPr>
            <p:spPr>
              <a:xfrm>
                <a:off x="7886700" y="3048000"/>
                <a:ext cx="76200" cy="762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8081010" y="295656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不能外推为真实世界端到端泛化性能。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7524750" y="3524250"/>
              <a:ext cx="4095750" cy="1809750"/>
              <a:chOff x="7524750" y="3524250"/>
              <a:chExt cx="4095750" cy="180975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7524750" y="3524250"/>
                <a:ext cx="4095750" cy="1809750"/>
              </a:xfrm>
              <a:prstGeom prst="roundRect">
                <a:avLst>
                  <a:gd name="adj" fmla="val 4211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95250" dist="28575" dir="5400000" algn="ctr" rotWithShape="0">
                  <a:srgbClr val="172033">
                    <a:alpha val="6000"/>
                  </a:srgbClr>
                </a:outerShdw>
              </a:effectLst>
            </p:spPr>
          </p:sp>
          <p:grpSp>
            <p:nvGrpSpPr>
              <p:cNvPr id="75" name="Group 75"/>
              <p:cNvGrpSpPr/>
              <p:nvPr/>
            </p:nvGrpSpPr>
            <p:grpSpPr>
              <a:xfrm>
                <a:off x="7846219" y="3826669"/>
                <a:ext cx="214312" cy="214313"/>
                <a:chOff x="7846219" y="3826669"/>
                <a:chExt cx="214312" cy="214313"/>
              </a:xfrm>
            </p:grpSpPr>
            <p:sp>
              <p:nvSpPr>
                <p:cNvPr id="72" name="Freeform 72"/>
                <p:cNvSpPr/>
                <p:nvPr/>
              </p:nvSpPr>
              <p:spPr>
                <a:xfrm>
                  <a:off x="7846219" y="3826669"/>
                  <a:ext cx="214312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107156">
                      <a:moveTo>
                        <a:pt x="0" y="107156"/>
                      </a:moveTo>
                      <a:lnTo>
                        <a:pt x="11906" y="107156"/>
                      </a:lnTo>
                      <a:moveTo>
                        <a:pt x="107156" y="0"/>
                      </a:moveTo>
                      <a:lnTo>
                        <a:pt x="107156" y="11906"/>
                      </a:lnTo>
                      <a:moveTo>
                        <a:pt x="202406" y="107156"/>
                      </a:moveTo>
                      <a:lnTo>
                        <a:pt x="214312" y="107156"/>
                      </a:lnTo>
                      <a:moveTo>
                        <a:pt x="30956" y="30956"/>
                      </a:moveTo>
                      <a:lnTo>
                        <a:pt x="39291" y="39291"/>
                      </a:lnTo>
                      <a:moveTo>
                        <a:pt x="183356" y="30956"/>
                      </a:moveTo>
                      <a:lnTo>
                        <a:pt x="175022" y="39291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7888796" y="3874294"/>
                  <a:ext cx="129159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159" h="166688">
                      <a:moveTo>
                        <a:pt x="28861" y="107156"/>
                      </a:moveTo>
                      <a:cubicBezTo>
                        <a:pt x="8361" y="91782"/>
                        <a:pt x="0" y="65015"/>
                        <a:pt x="8103" y="40706"/>
                      </a:cubicBezTo>
                      <a:cubicBezTo>
                        <a:pt x="16206" y="16397"/>
                        <a:pt x="38955" y="0"/>
                        <a:pt x="64579" y="0"/>
                      </a:cubicBezTo>
                      <a:cubicBezTo>
                        <a:pt x="90203" y="0"/>
                        <a:pt x="112953" y="16397"/>
                        <a:pt x="121056" y="40706"/>
                      </a:cubicBezTo>
                      <a:cubicBezTo>
                        <a:pt x="129159" y="65015"/>
                        <a:pt x="120797" y="91782"/>
                        <a:pt x="100298" y="107156"/>
                      </a:cubicBezTo>
                      <a:cubicBezTo>
                        <a:pt x="90870" y="116489"/>
                        <a:pt x="86449" y="129752"/>
                        <a:pt x="88392" y="142875"/>
                      </a:cubicBezTo>
                      <a:cubicBezTo>
                        <a:pt x="88392" y="156026"/>
                        <a:pt x="77731" y="166688"/>
                        <a:pt x="64579" y="166688"/>
                      </a:cubicBezTo>
                      <a:cubicBezTo>
                        <a:pt x="51428" y="166688"/>
                        <a:pt x="40767" y="156026"/>
                        <a:pt x="40767" y="142875"/>
                      </a:cubicBezTo>
                      <a:cubicBezTo>
                        <a:pt x="42710" y="129752"/>
                        <a:pt x="38288" y="116489"/>
                        <a:pt x="28861" y="107156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7925991" y="3993356"/>
                  <a:ext cx="5476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769" h="9525">
                      <a:moveTo>
                        <a:pt x="0" y="0"/>
                      </a:moveTo>
                      <a:lnTo>
                        <a:pt x="54769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76" name="TextBox 76"/>
              <p:cNvSpPr txBox="1"/>
              <p:nvPr/>
            </p:nvSpPr>
            <p:spPr>
              <a:xfrm>
                <a:off x="8188642" y="3833336"/>
                <a:ext cx="1009936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未来深化</a:t>
                </a:r>
                <a:endParaRPr lang="zh-CN" sz="172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7" name="Line 77"/>
              <p:cNvSpPr/>
              <p:nvPr/>
            </p:nvSpPr>
            <p:spPr>
              <a:xfrm>
                <a:off x="7810500" y="4229100"/>
                <a:ext cx="350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505200" h="9525">
                    <a:moveTo>
                      <a:pt x="0" y="0"/>
                    </a:moveTo>
                    <a:lnTo>
                      <a:pt x="35052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78" name="Ellipse 78"/>
              <p:cNvSpPr/>
              <p:nvPr/>
            </p:nvSpPr>
            <p:spPr>
              <a:xfrm>
                <a:off x="7886700" y="4495800"/>
                <a:ext cx="76200" cy="762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8081010" y="4461510"/>
                <a:ext cx="26948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接入真实 ASR/VLM 与真人草图采集。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0" name="Ellipse 80"/>
              <p:cNvSpPr/>
              <p:nvPr/>
            </p:nvSpPr>
            <p:spPr>
              <a:xfrm>
                <a:off x="7886700" y="4838700"/>
                <a:ext cx="76200" cy="762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8081010" y="4804410"/>
                <a:ext cx="280682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记录用户修改轨迹，训练 edit policy。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2" name="Ellipse 82"/>
              <p:cNvSpPr/>
              <p:nvPr/>
            </p:nvSpPr>
            <p:spPr>
              <a:xfrm>
                <a:off x="7886700" y="5181600"/>
                <a:ext cx="76200" cy="762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8081010" y="509016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用路径能量做排序、诊断和主动交互。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1409700" y="5772150"/>
            <a:ext cx="9372600" cy="476250"/>
            <a:chOff x="1409700" y="5772150"/>
            <a:chExt cx="9372600" cy="476250"/>
          </a:xfrm>
        </p:grpSpPr>
        <p:sp>
          <p:nvSpPr>
            <p:cNvPr id="86" name="Rectangle 86"/>
            <p:cNvSpPr/>
            <p:nvPr/>
          </p:nvSpPr>
          <p:spPr>
            <a:xfrm>
              <a:off x="1409700" y="5772150"/>
              <a:ext cx="9372600" cy="476250"/>
            </a:xfrm>
            <a:prstGeom prst="roundRect">
              <a:avLst>
                <a:gd name="adj" fmla="val 16000"/>
              </a:avLst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2014847" y="5921692"/>
              <a:ext cx="81623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价值不在夸大数字，而在把语音草图恢复变成可定义、可评测、可诊断、可继续训练的科研问题。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89" name="TextBox 89"/>
            <p:cNvSpPr txBox="1"/>
            <p:nvPr/>
          </p:nvSpPr>
          <p:spPr>
            <a:xfrm>
              <a:off x="560070" y="6379845"/>
              <a:ext cx="18530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SketchVoice · Results Boundary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 / 14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85" grpId="0"/>
      <p:bldP spid="8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210" y="375285"/>
            <a:ext cx="6873430" cy="762953"/>
            <a:chOff x="537210" y="375285"/>
            <a:chExt cx="6873430" cy="762953"/>
          </a:xfrm>
        </p:grpSpPr>
        <p:sp>
          <p:nvSpPr>
            <p:cNvPr id="3" name="TextBox 3"/>
            <p:cNvSpPr txBox="1"/>
            <p:nvPr/>
          </p:nvSpPr>
          <p:spPr>
            <a:xfrm>
              <a:off x="537210" y="375285"/>
              <a:ext cx="68734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项目知识图谱：我们实际完成了哪些节点</a:t>
              </a:r>
              <a:endParaRPr lang="zh-CN" sz="27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4355" y="863918"/>
              <a:ext cx="57950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把应用侧、科研侧和工程侧放到同一张图里，展示成果之间的依赖关系。</a:t>
              </a:r>
              <a:endParaRPr lang="zh-CN" sz="13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76400" y="1104900"/>
            <a:ext cx="8839200" cy="4705350"/>
            <a:chOff x="1676400" y="1104900"/>
            <a:chExt cx="8839200" cy="4705350"/>
          </a:xfrm>
        </p:grpSpPr>
        <p:sp>
          <p:nvSpPr>
            <p:cNvPr id="6" name="Line 6"/>
            <p:cNvSpPr/>
            <p:nvPr/>
          </p:nvSpPr>
          <p:spPr>
            <a:xfrm flipH="1" flipV="1">
              <a:off x="2286000" y="1809750"/>
              <a:ext cx="3810000" cy="150495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 flipH="1" flipV="1">
              <a:off x="1676400" y="3200400"/>
              <a:ext cx="4419600" cy="11430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 flipH="1">
              <a:off x="2324100" y="3314700"/>
              <a:ext cx="3771900" cy="148590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flipH="1" flipV="1">
              <a:off x="4857750" y="1581150"/>
              <a:ext cx="1238250" cy="173355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 flipV="1">
              <a:off x="6096000" y="1581150"/>
              <a:ext cx="1238250" cy="173355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 flipV="1">
              <a:off x="6096000" y="1809750"/>
              <a:ext cx="3771900" cy="150495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 flipV="1">
              <a:off x="6096000" y="3200400"/>
              <a:ext cx="4419600" cy="11430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3314700"/>
              <a:ext cx="3752850" cy="150495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>
              <a:off x="6096000" y="3314700"/>
              <a:ext cx="1" cy="1828800"/>
            </a:xfrm>
            <a:prstGeom prst="line">
              <a:avLst/>
            </a:prstGeom>
            <a:noFill/>
            <a:ln w="2095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5" name="Freeform 15"/>
            <p:cNvSpPr/>
            <p:nvPr/>
          </p:nvSpPr>
          <p:spPr>
            <a:xfrm>
              <a:off x="3028950" y="1104900"/>
              <a:ext cx="2171700" cy="704850"/>
            </a:xfrm>
            <a:custGeom>
              <a:avLst/>
              <a:gdLst/>
              <a:ahLst/>
              <a:cxnLst/>
              <a:rect l="l" t="t" r="r" b="b"/>
              <a:pathLst>
                <a:path w="2171700" h="704850">
                  <a:moveTo>
                    <a:pt x="0" y="704850"/>
                  </a:moveTo>
                  <a:cubicBezTo>
                    <a:pt x="704850" y="0"/>
                    <a:pt x="1581150" y="19050"/>
                    <a:pt x="2171700" y="457200"/>
                  </a:cubicBezTo>
                </a:path>
              </a:pathLst>
            </a:custGeom>
            <a:noFill/>
            <a:ln w="15240">
              <a:solidFill>
                <a:srgbClr val="94A3B8"/>
              </a:solidFill>
              <a:custDash>
                <a:ds d="375000" sp="3125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7696200" y="1123950"/>
              <a:ext cx="2419350" cy="628650"/>
            </a:xfrm>
            <a:custGeom>
              <a:avLst/>
              <a:gdLst/>
              <a:ahLst/>
              <a:cxnLst/>
              <a:rect l="l" t="t" r="r" b="b"/>
              <a:pathLst>
                <a:path w="2419350" h="628650">
                  <a:moveTo>
                    <a:pt x="0" y="457200"/>
                  </a:moveTo>
                  <a:cubicBezTo>
                    <a:pt x="838200" y="0"/>
                    <a:pt x="1790700" y="19050"/>
                    <a:pt x="2419350" y="628650"/>
                  </a:cubicBezTo>
                </a:path>
              </a:pathLst>
            </a:custGeom>
            <a:noFill/>
            <a:ln w="15240">
              <a:solidFill>
                <a:srgbClr val="94A3B8"/>
              </a:solidFill>
              <a:custDash>
                <a:ds d="375000" sp="312500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2895600" y="4838700"/>
              <a:ext cx="6381750" cy="971550"/>
            </a:xfrm>
            <a:custGeom>
              <a:avLst/>
              <a:gdLst/>
              <a:ahLst/>
              <a:cxnLst/>
              <a:rect l="l" t="t" r="r" b="b"/>
              <a:pathLst>
                <a:path w="6381750" h="971550">
                  <a:moveTo>
                    <a:pt x="0" y="0"/>
                  </a:moveTo>
                  <a:cubicBezTo>
                    <a:pt x="1200150" y="971550"/>
                    <a:pt x="4914900" y="971550"/>
                    <a:pt x="6381750" y="19050"/>
                  </a:cubicBezTo>
                </a:path>
              </a:pathLst>
            </a:custGeom>
            <a:noFill/>
            <a:ln w="15240">
              <a:solidFill>
                <a:srgbClr val="94A3B8"/>
              </a:solidFill>
              <a:custDash>
                <a:ds d="375000" sp="312500"/>
              </a:custDash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105400" y="2781300"/>
            <a:ext cx="1981200" cy="1083469"/>
            <a:chOff x="5105400" y="2781300"/>
            <a:chExt cx="1981200" cy="1083469"/>
          </a:xfrm>
        </p:grpSpPr>
        <p:sp>
          <p:nvSpPr>
            <p:cNvPr id="19" name="Rectangle 19"/>
            <p:cNvSpPr/>
            <p:nvPr/>
          </p:nvSpPr>
          <p:spPr>
            <a:xfrm>
              <a:off x="5105400" y="2781300"/>
              <a:ext cx="1981200" cy="1066800"/>
            </a:xfrm>
            <a:prstGeom prst="roundRect">
              <a:avLst>
                <a:gd name="adj" fmla="val 7143"/>
              </a:avLst>
            </a:prstGeom>
            <a:solidFill>
              <a:srgbClr val="155E75"/>
            </a:solidFill>
            <a:ln>
              <a:noFill/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28" name="Group 28"/>
            <p:cNvGrpSpPr/>
            <p:nvPr/>
          </p:nvGrpSpPr>
          <p:grpSpPr>
            <a:xfrm>
              <a:off x="5857875" y="3038475"/>
              <a:ext cx="285750" cy="301625"/>
              <a:chOff x="5857875" y="3038475"/>
              <a:chExt cx="285750" cy="3016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905500" y="30384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000750" y="3038475"/>
                <a:ext cx="31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90500">
                    <a:moveTo>
                      <a:pt x="0" y="0"/>
                    </a:moveTo>
                    <a:cubicBezTo>
                      <a:pt x="21161" y="5286"/>
                      <a:pt x="31750" y="37036"/>
                      <a:pt x="31750" y="95250"/>
                    </a:cubicBezTo>
                    <a:cubicBezTo>
                      <a:pt x="31750" y="153464"/>
                      <a:pt x="21161" y="185214"/>
                      <a:pt x="0" y="1905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969000" y="3038475"/>
                <a:ext cx="31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90500">
                    <a:moveTo>
                      <a:pt x="31750" y="0"/>
                    </a:moveTo>
                    <a:cubicBezTo>
                      <a:pt x="10589" y="5286"/>
                      <a:pt x="0" y="37036"/>
                      <a:pt x="0" y="95250"/>
                    </a:cubicBezTo>
                    <a:cubicBezTo>
                      <a:pt x="0" y="153464"/>
                      <a:pt x="10589" y="185214"/>
                      <a:pt x="31750" y="1905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905500" y="313372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857875" y="3308350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032500" y="3308350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969000" y="32766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000750" y="322897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5279436" y="3351848"/>
              <a:ext cx="16331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SketchVoice</a:t>
              </a:r>
              <a:endParaRPr lang="zh-CN" sz="19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63490" y="3666649"/>
              <a:ext cx="14650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CFBF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speech + sketch to KG</a:t>
              </a:r>
              <a:endParaRPr lang="zh-CN" sz="975" b="1" dirty="0">
                <a:solidFill>
                  <a:srgbClr val="CCFBF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9150" y="1390650"/>
            <a:ext cx="2371773" cy="876300"/>
            <a:chOff x="819150" y="1390650"/>
            <a:chExt cx="2371773" cy="876300"/>
          </a:xfrm>
        </p:grpSpPr>
        <p:sp>
          <p:nvSpPr>
            <p:cNvPr id="32" name="Rectangle 32"/>
            <p:cNvSpPr/>
            <p:nvPr/>
          </p:nvSpPr>
          <p:spPr>
            <a:xfrm>
              <a:off x="819150" y="1390650"/>
              <a:ext cx="23241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37" name="Group 37"/>
            <p:cNvGrpSpPr/>
            <p:nvPr/>
          </p:nvGrpSpPr>
          <p:grpSpPr>
            <a:xfrm>
              <a:off x="1066800" y="1708150"/>
              <a:ext cx="228600" cy="212725"/>
              <a:chOff x="1066800" y="1708150"/>
              <a:chExt cx="228600" cy="2127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66800" y="1708150"/>
                <a:ext cx="2286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215900" y="0"/>
                    </a:lnTo>
                    <a:cubicBezTo>
                      <a:pt x="222914" y="0"/>
                      <a:pt x="228600" y="5686"/>
                      <a:pt x="228600" y="12700"/>
                    </a:cubicBezTo>
                    <a:lnTo>
                      <a:pt x="228600" y="139700"/>
                    </a:lnTo>
                    <a:cubicBezTo>
                      <a:pt x="228600" y="146714"/>
                      <a:pt x="222914" y="152400"/>
                      <a:pt x="2159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17600" y="1911350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43000" y="186055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219200" y="186055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449705" y="15782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产品原型</a:t>
              </a:r>
              <a:endParaRPr lang="zh-CN" sz="135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83005" y="1931353"/>
              <a:ext cx="20079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Web 工作台、画布、录音、上传</a:t>
              </a:r>
              <a:endParaRPr lang="zh-CN" sz="10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2450" y="2857500"/>
            <a:ext cx="2247900" cy="876300"/>
            <a:chOff x="552450" y="2857500"/>
            <a:chExt cx="2247900" cy="876300"/>
          </a:xfrm>
        </p:grpSpPr>
        <p:sp>
          <p:nvSpPr>
            <p:cNvPr id="41" name="Rectangle 41"/>
            <p:cNvSpPr/>
            <p:nvPr/>
          </p:nvSpPr>
          <p:spPr>
            <a:xfrm>
              <a:off x="552450" y="2857500"/>
              <a:ext cx="22479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46" name="Group 46"/>
            <p:cNvGrpSpPr/>
            <p:nvPr/>
          </p:nvGrpSpPr>
          <p:grpSpPr>
            <a:xfrm>
              <a:off x="774700" y="3225800"/>
              <a:ext cx="279400" cy="101600"/>
              <a:chOff x="774700" y="3225800"/>
              <a:chExt cx="279400" cy="101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016000" y="322580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101600"/>
                    </a:moveTo>
                    <a:lnTo>
                      <a:pt x="0" y="0"/>
                    </a:lnTo>
                    <a:lnTo>
                      <a:pt x="38100" y="101600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27100" y="3225800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25400" y="0"/>
                    </a:moveTo>
                    <a:cubicBezTo>
                      <a:pt x="39428" y="0"/>
                      <a:pt x="50800" y="11372"/>
                      <a:pt x="50800" y="25400"/>
                    </a:cubicBezTo>
                    <a:lnTo>
                      <a:pt x="50800" y="76200"/>
                    </a:lnTo>
                    <a:cubicBezTo>
                      <a:pt x="50800" y="90228"/>
                      <a:pt x="39428" y="101600"/>
                      <a:pt x="25400" y="101600"/>
                    </a:cubicBez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4700" y="322580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82550"/>
                    </a:lnTo>
                    <a:cubicBezTo>
                      <a:pt x="38100" y="93071"/>
                      <a:pt x="29571" y="101600"/>
                      <a:pt x="19050" y="101600"/>
                    </a:cubicBezTo>
                    <a:cubicBezTo>
                      <a:pt x="8529" y="101600"/>
                      <a:pt x="0" y="93071"/>
                      <a:pt x="0" y="82550"/>
                    </a:cubicBez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50900" y="322580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88900"/>
                    </a:moveTo>
                    <a:cubicBezTo>
                      <a:pt x="0" y="95914"/>
                      <a:pt x="5686" y="101600"/>
                      <a:pt x="12700" y="101600"/>
                    </a:cubicBezTo>
                    <a:lnTo>
                      <a:pt x="25400" y="101600"/>
                    </a:lnTo>
                    <a:cubicBezTo>
                      <a:pt x="32414" y="101600"/>
                      <a:pt x="38100" y="95914"/>
                      <a:pt x="38100" y="88900"/>
                    </a:cubicBezTo>
                    <a:lnTo>
                      <a:pt x="38100" y="63500"/>
                    </a:lnTo>
                    <a:cubicBezTo>
                      <a:pt x="38100" y="56486"/>
                      <a:pt x="32414" y="50800"/>
                      <a:pt x="25400" y="50800"/>
                    </a:cubicBezTo>
                    <a:lnTo>
                      <a:pt x="12700" y="50800"/>
                    </a:lnTo>
                    <a:cubicBezTo>
                      <a:pt x="5686" y="50800"/>
                      <a:pt x="0" y="45114"/>
                      <a:pt x="0" y="381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lnTo>
                      <a:pt x="25400" y="0"/>
                    </a:lnTo>
                    <a:cubicBezTo>
                      <a:pt x="32414" y="0"/>
                      <a:pt x="38100" y="5686"/>
                      <a:pt x="3810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183005" y="3045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结构输出</a:t>
              </a:r>
              <a:endParaRPr lang="zh-CN" sz="135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4700" y="3390583"/>
              <a:ext cx="1895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Mermaid、SVG、JSON 可下载</a:t>
              </a:r>
              <a:endParaRPr lang="zh-CN" sz="10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38200" y="4476750"/>
            <a:ext cx="2400300" cy="876300"/>
            <a:chOff x="838200" y="4476750"/>
            <a:chExt cx="2400300" cy="876300"/>
          </a:xfrm>
        </p:grpSpPr>
        <p:sp>
          <p:nvSpPr>
            <p:cNvPr id="50" name="Rectangle 50"/>
            <p:cNvSpPr/>
            <p:nvPr/>
          </p:nvSpPr>
          <p:spPr>
            <a:xfrm>
              <a:off x="838200" y="4476750"/>
              <a:ext cx="24003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53" name="Group 53"/>
            <p:cNvGrpSpPr/>
            <p:nvPr/>
          </p:nvGrpSpPr>
          <p:grpSpPr>
            <a:xfrm>
              <a:off x="1085850" y="4819650"/>
              <a:ext cx="228600" cy="152400"/>
              <a:chOff x="1085850" y="4819650"/>
              <a:chExt cx="228600" cy="1524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1238250" y="4839578"/>
                <a:ext cx="76200" cy="112544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2544">
                    <a:moveTo>
                      <a:pt x="0" y="30872"/>
                    </a:moveTo>
                    <a:lnTo>
                      <a:pt x="57823" y="1967"/>
                    </a:lnTo>
                    <a:cubicBezTo>
                      <a:pt x="61759" y="0"/>
                      <a:pt x="66432" y="210"/>
                      <a:pt x="70175" y="2523"/>
                    </a:cubicBezTo>
                    <a:cubicBezTo>
                      <a:pt x="73918" y="4836"/>
                      <a:pt x="76198" y="8921"/>
                      <a:pt x="76200" y="13321"/>
                    </a:cubicBezTo>
                    <a:lnTo>
                      <a:pt x="76200" y="99223"/>
                    </a:lnTo>
                    <a:cubicBezTo>
                      <a:pt x="76198" y="103623"/>
                      <a:pt x="73918" y="107708"/>
                      <a:pt x="70175" y="110021"/>
                    </a:cubicBezTo>
                    <a:cubicBezTo>
                      <a:pt x="66432" y="112333"/>
                      <a:pt x="61759" y="112544"/>
                      <a:pt x="57823" y="110577"/>
                    </a:cubicBezTo>
                    <a:lnTo>
                      <a:pt x="0" y="81672"/>
                    </a:lnTo>
                    <a:lnTo>
                      <a:pt x="0" y="30872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85850" y="48196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468755" y="466439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终稿与讲解</a:t>
              </a:r>
              <a:endParaRPr lang="zh-CN" sz="135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66800" y="5039678"/>
              <a:ext cx="20639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图像生成、TTS、光标讲解 WebM</a:t>
              </a:r>
              <a:endParaRPr lang="zh-CN" sz="10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905250" y="1219200"/>
            <a:ext cx="2190750" cy="800100"/>
            <a:chOff x="3905250" y="1219200"/>
            <a:chExt cx="2190750" cy="800100"/>
          </a:xfrm>
        </p:grpSpPr>
        <p:sp>
          <p:nvSpPr>
            <p:cNvPr id="57" name="Rectangle 57"/>
            <p:cNvSpPr/>
            <p:nvPr/>
          </p:nvSpPr>
          <p:spPr>
            <a:xfrm>
              <a:off x="3905250" y="1219200"/>
              <a:ext cx="2190750" cy="800100"/>
            </a:xfrm>
            <a:prstGeom prst="roundRect">
              <a:avLst>
                <a:gd name="adj" fmla="val 9524"/>
              </a:avLst>
            </a:prstGeom>
            <a:solidFill>
              <a:srgbClr val="E0F2FE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61" name="Group 61"/>
            <p:cNvGrpSpPr/>
            <p:nvPr/>
          </p:nvGrpSpPr>
          <p:grpSpPr>
            <a:xfrm>
              <a:off x="4150519" y="1502569"/>
              <a:ext cx="214312" cy="214312"/>
              <a:chOff x="4150519" y="1502569"/>
              <a:chExt cx="214312" cy="21431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4245769" y="159781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198144" y="1550194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0" y="59531"/>
                    </a:moveTo>
                    <a:cubicBezTo>
                      <a:pt x="0" y="92409"/>
                      <a:pt x="26653" y="119062"/>
                      <a:pt x="59531" y="119062"/>
                    </a:cubicBezTo>
                    <a:cubicBezTo>
                      <a:pt x="92409" y="119062"/>
                      <a:pt x="119062" y="92409"/>
                      <a:pt x="119062" y="59531"/>
                    </a:cubicBezTo>
                    <a:cubicBezTo>
                      <a:pt x="119062" y="26653"/>
                      <a:pt x="92409" y="0"/>
                      <a:pt x="59531" y="0"/>
                    </a:cubicBezTo>
                    <a:cubicBezTo>
                      <a:pt x="26653" y="0"/>
                      <a:pt x="0" y="26653"/>
                      <a:pt x="0" y="59531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4150519" y="15025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4517708" y="13863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科研任务</a:t>
              </a:r>
              <a:endParaRPr lang="zh-CN" sz="1275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450398" y="173370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语音引导知识草图结构化</a:t>
              </a:r>
              <a:endParaRPr lang="zh-CN" sz="9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096000" y="1219200"/>
            <a:ext cx="2245376" cy="800100"/>
            <a:chOff x="6096000" y="1219200"/>
            <a:chExt cx="2245376" cy="800100"/>
          </a:xfrm>
        </p:grpSpPr>
        <p:sp>
          <p:nvSpPr>
            <p:cNvPr id="65" name="Rectangle 65"/>
            <p:cNvSpPr/>
            <p:nvPr/>
          </p:nvSpPr>
          <p:spPr>
            <a:xfrm>
              <a:off x="6096000" y="1219200"/>
              <a:ext cx="2190750" cy="800100"/>
            </a:xfrm>
            <a:prstGeom prst="roundRect">
              <a:avLst>
                <a:gd name="adj" fmla="val 9524"/>
              </a:avLst>
            </a:prstGeom>
            <a:solidFill>
              <a:srgbClr val="CCFBF1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72" name="Group 72"/>
            <p:cNvGrpSpPr/>
            <p:nvPr/>
          </p:nvGrpSpPr>
          <p:grpSpPr>
            <a:xfrm>
              <a:off x="6365081" y="1514475"/>
              <a:ext cx="178595" cy="190500"/>
              <a:chOff x="6365081" y="1514475"/>
              <a:chExt cx="178595" cy="1905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365081" y="16573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365081" y="15144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484144" y="15144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388894" y="156210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412706" y="1597819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472238" y="1597819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708458" y="13863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方法模型</a:t>
              </a:r>
              <a:endParaRPr lang="zh-CN" sz="1275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249353" y="1733709"/>
              <a:ext cx="20920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MMSB-Graph、图编辑桥、路径能量</a:t>
              </a:r>
              <a:endParaRPr lang="zh-CN" sz="9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048750" y="1390650"/>
            <a:ext cx="2376535" cy="876300"/>
            <a:chOff x="9048750" y="1390650"/>
            <a:chExt cx="2376535" cy="876300"/>
          </a:xfrm>
        </p:grpSpPr>
        <p:sp>
          <p:nvSpPr>
            <p:cNvPr id="76" name="Rectangle 76"/>
            <p:cNvSpPr/>
            <p:nvPr/>
          </p:nvSpPr>
          <p:spPr>
            <a:xfrm>
              <a:off x="9048750" y="1390650"/>
              <a:ext cx="23241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80" name="Group 80"/>
            <p:cNvGrpSpPr/>
            <p:nvPr/>
          </p:nvGrpSpPr>
          <p:grpSpPr>
            <a:xfrm>
              <a:off x="9309100" y="1695450"/>
              <a:ext cx="203200" cy="228600"/>
              <a:chOff x="9309100" y="1695450"/>
              <a:chExt cx="203200" cy="2286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9309100" y="169545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200" y="59142"/>
                      <a:pt x="203200" y="38100"/>
                    </a:cubicBezTo>
                    <a:cubicBezTo>
                      <a:pt x="203200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9309100" y="17335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9309100" y="18097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9679305" y="15782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数据资产</a:t>
              </a:r>
              <a:endParaRPr lang="zh-CN" sz="135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277350" y="2018983"/>
              <a:ext cx="21479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24 cases、gold graph、语音锚点</a:t>
              </a:r>
              <a:endParaRPr lang="zh-CN" sz="10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391650" y="2857500"/>
            <a:ext cx="2247900" cy="876300"/>
            <a:chOff x="9391650" y="2857500"/>
            <a:chExt cx="2247900" cy="876300"/>
          </a:xfrm>
        </p:grpSpPr>
        <p:sp>
          <p:nvSpPr>
            <p:cNvPr id="84" name="Rectangle 84"/>
            <p:cNvSpPr/>
            <p:nvPr/>
          </p:nvSpPr>
          <p:spPr>
            <a:xfrm>
              <a:off x="9391650" y="2857500"/>
              <a:ext cx="22479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91" name="Group 91"/>
            <p:cNvGrpSpPr/>
            <p:nvPr/>
          </p:nvGrpSpPr>
          <p:grpSpPr>
            <a:xfrm>
              <a:off x="9639300" y="3162300"/>
              <a:ext cx="228600" cy="228600"/>
              <a:chOff x="9639300" y="3162300"/>
              <a:chExt cx="228600" cy="22860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9639300" y="31623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0" y="228600"/>
                    </a:lnTo>
                    <a:lnTo>
                      <a:pt x="228600" y="228600"/>
                    </a:ln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9690100" y="32131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9817100" y="31877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9753600" y="32893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9730232" y="3259074"/>
                <a:ext cx="29718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9718" h="36576">
                    <a:moveTo>
                      <a:pt x="0" y="0"/>
                    </a:moveTo>
                    <a:lnTo>
                      <a:pt x="29718" y="36576"/>
                    </a:ln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9792818" y="3235223"/>
                <a:ext cx="36030" cy="58242"/>
              </a:xfrm>
              <a:custGeom>
                <a:avLst/>
                <a:gdLst/>
                <a:ahLst/>
                <a:cxnLst/>
                <a:rect l="l" t="t" r="r" b="b"/>
                <a:pathLst>
                  <a:path w="36030" h="58242">
                    <a:moveTo>
                      <a:pt x="0" y="58242"/>
                    </a:moveTo>
                    <a:lnTo>
                      <a:pt x="36030" y="0"/>
                    </a:ln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10022205" y="3045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评测结果</a:t>
              </a:r>
              <a:endParaRPr lang="zh-CN" sz="135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93" name="Image 9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039350" y="3295650"/>
              <a:ext cx="1524000" cy="209550"/>
            </a:xfrm>
            <a:prstGeom prst="rect">
              <a:avLst/>
            </a:prstGeom>
          </p:spPr>
        </p:pic>
      </p:grpSp>
      <p:grpSp>
        <p:nvGrpSpPr>
          <p:cNvPr id="103" name="Group 103"/>
          <p:cNvGrpSpPr/>
          <p:nvPr/>
        </p:nvGrpSpPr>
        <p:grpSpPr>
          <a:xfrm>
            <a:off x="8953500" y="4476750"/>
            <a:ext cx="2542604" cy="876300"/>
            <a:chOff x="8953500" y="4476750"/>
            <a:chExt cx="2542604" cy="876300"/>
          </a:xfrm>
        </p:grpSpPr>
        <p:sp>
          <p:nvSpPr>
            <p:cNvPr id="95" name="Rectangle 95"/>
            <p:cNvSpPr/>
            <p:nvPr/>
          </p:nvSpPr>
          <p:spPr>
            <a:xfrm>
              <a:off x="8953500" y="4476750"/>
              <a:ext cx="24003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100" name="Group 100"/>
            <p:cNvGrpSpPr/>
            <p:nvPr/>
          </p:nvGrpSpPr>
          <p:grpSpPr>
            <a:xfrm>
              <a:off x="9201150" y="4794250"/>
              <a:ext cx="228600" cy="203200"/>
              <a:chOff x="9201150" y="4794250"/>
              <a:chExt cx="228600" cy="203200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9201150" y="4794250"/>
                <a:ext cx="228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63500"/>
                    </a:lnTo>
                    <a:cubicBezTo>
                      <a:pt x="228600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9201150" y="4895850"/>
                <a:ext cx="228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63500"/>
                    </a:lnTo>
                    <a:cubicBezTo>
                      <a:pt x="228600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9251950" y="4845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9251950" y="4946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101" name="TextBox 101"/>
            <p:cNvSpPr txBox="1"/>
            <p:nvPr/>
          </p:nvSpPr>
          <p:spPr>
            <a:xfrm>
              <a:off x="9584055" y="46643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工程保障</a:t>
              </a:r>
              <a:endParaRPr lang="zh-CN" sz="135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201150" y="5039678"/>
              <a:ext cx="22949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FastAPI、mock fallback、分层服务</a:t>
              </a:r>
              <a:endParaRPr lang="zh-CN" sz="10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4857750" y="4953000"/>
            <a:ext cx="2476500" cy="876300"/>
            <a:chOff x="4857750" y="4953000"/>
            <a:chExt cx="2476500" cy="876300"/>
          </a:xfrm>
        </p:grpSpPr>
        <p:sp>
          <p:nvSpPr>
            <p:cNvPr id="104" name="Rectangle 104"/>
            <p:cNvSpPr/>
            <p:nvPr/>
          </p:nvSpPr>
          <p:spPr>
            <a:xfrm>
              <a:off x="4857750" y="4953000"/>
              <a:ext cx="24765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>
              <a:outerShdw blurRad="76200" dist="28575" dir="5400000" algn="ctr" rotWithShape="0">
                <a:srgbClr val="172033">
                  <a:alpha val="6000"/>
                </a:srgbClr>
              </a:outerShdw>
            </a:effectLst>
          </p:spPr>
        </p:sp>
        <p:grpSp>
          <p:nvGrpSpPr>
            <p:cNvPr id="110" name="Group 110"/>
            <p:cNvGrpSpPr/>
            <p:nvPr/>
          </p:nvGrpSpPr>
          <p:grpSpPr>
            <a:xfrm>
              <a:off x="5105400" y="5308600"/>
              <a:ext cx="228600" cy="127000"/>
              <a:chOff x="5105400" y="5308600"/>
              <a:chExt cx="228600" cy="127000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5118100" y="5321300"/>
                <a:ext cx="203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01600">
                    <a:moveTo>
                      <a:pt x="0" y="101600"/>
                    </a:moveTo>
                    <a:lnTo>
                      <a:pt x="76200" y="12700"/>
                    </a:lnTo>
                    <a:lnTo>
                      <a:pt x="139700" y="76200"/>
                    </a:ln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5245100" y="53848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5181600" y="53213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5105400" y="54102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5308600" y="53086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111" name="TextBox 111"/>
            <p:cNvSpPr txBox="1"/>
            <p:nvPr/>
          </p:nvSpPr>
          <p:spPr>
            <a:xfrm>
              <a:off x="5488305" y="514064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可解释轨迹</a:t>
              </a:r>
              <a:endParaRPr lang="zh-CN" sz="135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5181600" y="5529263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中间图、编辑序列、路径能量诊断</a:t>
              </a:r>
              <a:endParaRPr lang="zh-CN" sz="10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114" name="TextBox 114"/>
            <p:cNvSpPr txBox="1"/>
            <p:nvPr/>
          </p:nvSpPr>
          <p:spPr>
            <a:xfrm>
              <a:off x="560070" y="6379845"/>
              <a:ext cx="22791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SketchVoice · Project Knowledge Graph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13 / 14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1" grpId="0"/>
      <p:bldP spid="40" grpId="0"/>
      <p:bldP spid="49" grpId="0"/>
      <p:bldP spid="56" grpId="0"/>
      <p:bldP spid="64" grpId="0"/>
      <p:bldP spid="75" grpId="0"/>
      <p:bldP spid="83" grpId="0"/>
      <p:bldP spid="94" grpId="0"/>
      <p:bldP spid="103" grpId="0"/>
      <p:bldP spid="1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71450"/>
            </a:xfrm>
            <a:prstGeom prst="rect">
              <a:avLst/>
            </a:prstGeom>
            <a:solidFill>
              <a:srgbClr val="155E75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437322" y="495300"/>
            <a:ext cx="9317355" cy="821531"/>
            <a:chOff x="1437322" y="495300"/>
            <a:chExt cx="9317355" cy="821531"/>
          </a:xfrm>
        </p:grpSpPr>
        <p:sp>
          <p:nvSpPr>
            <p:cNvPr id="5" name="TextBox 5"/>
            <p:cNvSpPr txBox="1"/>
            <p:nvPr/>
          </p:nvSpPr>
          <p:spPr>
            <a:xfrm>
              <a:off x="1437322" y="495300"/>
              <a:ext cx="931735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总结：把自然表达升级为可研究的知识结构生产线</a:t>
              </a:r>
              <a:endParaRPr lang="zh-CN" sz="3000" b="1" dirty="0">
                <a:solidFill>
                  <a:srgbClr val="1720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959138" y="1027271"/>
              <a:ext cx="827372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SketchVoice 不是单点 demo，而是“应用闭环 + 科研模型 + 评测协议 + 可解释诊断”的完整链路。</a:t>
              </a:r>
              <a:endParaRPr lang="zh-CN" sz="142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28750" y="1485900"/>
            <a:ext cx="9334500" cy="781050"/>
            <a:chOff x="1428750" y="1485900"/>
            <a:chExt cx="9334500" cy="781050"/>
          </a:xfrm>
        </p:grpSpPr>
        <p:sp>
          <p:nvSpPr>
            <p:cNvPr id="8" name="Rectangle 8"/>
            <p:cNvSpPr/>
            <p:nvPr/>
          </p:nvSpPr>
          <p:spPr>
            <a:xfrm>
              <a:off x="1428750" y="1485900"/>
              <a:ext cx="9334500" cy="781050"/>
            </a:xfrm>
            <a:prstGeom prst="roundRect">
              <a:avLst>
                <a:gd name="adj" fmla="val 9756"/>
              </a:avLst>
            </a:prstGeom>
            <a:solidFill>
              <a:srgbClr val="155E75"/>
            </a:solidFill>
            <a:ln>
              <a:noFill/>
            </a:ln>
            <a:effectLst>
              <a:outerShdw blurRad="114300" dist="38100" dir="5400000" algn="ctr" rotWithShape="0">
                <a:srgbClr val="172033">
                  <a:alpha val="6750"/>
                </a:srgbClr>
              </a:outerShdw>
            </a:effectLst>
          </p:spPr>
        </p:sp>
        <p:grpSp>
          <p:nvGrpSpPr>
            <p:cNvPr id="12" name="Group 12"/>
            <p:cNvGrpSpPr/>
            <p:nvPr/>
          </p:nvGrpSpPr>
          <p:grpSpPr>
            <a:xfrm>
              <a:off x="1857375" y="1733550"/>
              <a:ext cx="285750" cy="285750"/>
              <a:chOff x="1857375" y="1733550"/>
              <a:chExt cx="285750" cy="2857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857375" y="1733550"/>
                <a:ext cx="2857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5" y="142875"/>
                    </a:moveTo>
                    <a:lnTo>
                      <a:pt x="285750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2" y="5238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914144" y="1797050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4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3" y="21862"/>
                      <a:pt x="161408" y="54274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0" y="155318"/>
                      <a:pt x="115265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8"/>
                      <a:pt x="38481" y="14287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963738" y="1955800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2358390" y="1624965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一句话结论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64105" y="1940242"/>
              <a:ext cx="83333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F2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我们把“边说边画”的低结构表达，转化为可编辑、可导出、可评测、可诊断的多模态科研表达基础设施。</a:t>
              </a:r>
              <a:endParaRPr lang="zh-CN" sz="1350" dirty="0">
                <a:solidFill>
                  <a:srgbClr val="E0F2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66750" y="2781300"/>
            <a:ext cx="10858500" cy="1695450"/>
            <a:chOff x="666750" y="2781300"/>
            <a:chExt cx="10858500" cy="1695450"/>
          </a:xfrm>
        </p:grpSpPr>
        <p:grpSp>
          <p:nvGrpSpPr>
            <p:cNvPr id="25" name="Group 25"/>
            <p:cNvGrpSpPr/>
            <p:nvPr/>
          </p:nvGrpSpPr>
          <p:grpSpPr>
            <a:xfrm>
              <a:off x="666750" y="2781300"/>
              <a:ext cx="2343150" cy="1695450"/>
              <a:chOff x="666750" y="2781300"/>
              <a:chExt cx="2343150" cy="16954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66750" y="2781300"/>
                <a:ext cx="20193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38100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938212" y="3067050"/>
                <a:ext cx="257175" cy="238125"/>
                <a:chOff x="938212" y="3067050"/>
                <a:chExt cx="257175" cy="238125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938212" y="3067050"/>
                  <a:ext cx="2571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71450">
                      <a:moveTo>
                        <a:pt x="0" y="14288"/>
                      </a:moveTo>
                      <a:cubicBezTo>
                        <a:pt x="0" y="6397"/>
                        <a:pt x="6397" y="0"/>
                        <a:pt x="14288" y="0"/>
                      </a:cubicBezTo>
                      <a:lnTo>
                        <a:pt x="242888" y="0"/>
                      </a:lnTo>
                      <a:cubicBezTo>
                        <a:pt x="250778" y="0"/>
                        <a:pt x="257175" y="6397"/>
                        <a:pt x="257175" y="14288"/>
                      </a:cubicBezTo>
                      <a:lnTo>
                        <a:pt x="257175" y="157162"/>
                      </a:lnTo>
                      <a:cubicBezTo>
                        <a:pt x="257175" y="165053"/>
                        <a:pt x="250778" y="171450"/>
                        <a:pt x="242888" y="171450"/>
                      </a:cubicBezTo>
                      <a:lnTo>
                        <a:pt x="14288" y="171450"/>
                      </a:lnTo>
                      <a:cubicBezTo>
                        <a:pt x="6397" y="171450"/>
                        <a:pt x="0" y="165053"/>
                        <a:pt x="0" y="157162"/>
                      </a:cubicBezTo>
                      <a:lnTo>
                        <a:pt x="0" y="14288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995362" y="3295650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023938" y="323850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109662" y="323850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875348" y="3468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产品价值</a:t>
                </a:r>
                <a:endParaRPr lang="zh-CN" sz="15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81062" y="386000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完成可操作工作台，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81062" y="4107656"/>
                <a:ext cx="21288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覆盖输入、预览、下载、讲解。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914650" y="2781300"/>
              <a:ext cx="2019300" cy="1695450"/>
              <a:chOff x="2914650" y="2781300"/>
              <a:chExt cx="2019300" cy="16954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2914650" y="2781300"/>
                <a:ext cx="20193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38100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3214688" y="3067050"/>
                <a:ext cx="214312" cy="228600"/>
                <a:chOff x="3214688" y="3067050"/>
                <a:chExt cx="214312" cy="22860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3214688" y="32385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3214688" y="306705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3357562" y="306705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3243262" y="312420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271838" y="3167062"/>
                  <a:ext cx="1143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00012">
                      <a:moveTo>
                        <a:pt x="0" y="100012"/>
                      </a:moveTo>
                      <a:lnTo>
                        <a:pt x="85725" y="100012"/>
                      </a:lnTo>
                      <a:cubicBezTo>
                        <a:pt x="101507" y="100012"/>
                        <a:pt x="114300" y="87219"/>
                        <a:pt x="114300" y="71438"/>
                      </a:cubicBezTo>
                      <a:lnTo>
                        <a:pt x="1143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343275" y="3167062"/>
                  <a:ext cx="857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42862">
                      <a:moveTo>
                        <a:pt x="0" y="42862"/>
                      </a:moveTo>
                      <a:lnTo>
                        <a:pt x="42862" y="0"/>
                      </a:lnTo>
                      <a:lnTo>
                        <a:pt x="85725" y="42862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3123248" y="3468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科研价值</a:t>
                </a:r>
                <a:endParaRPr lang="zh-CN" sz="15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128962" y="386000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定义语音引导知识草图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128962" y="4107656"/>
                <a:ext cx="17087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结构化与 MMSB-Graph。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162550" y="2781300"/>
              <a:ext cx="2019300" cy="1695450"/>
              <a:chOff x="5162550" y="2781300"/>
              <a:chExt cx="2019300" cy="16954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162550" y="2781300"/>
                <a:ext cx="20193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38100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5434012" y="3052762"/>
                <a:ext cx="257176" cy="257175"/>
                <a:chOff x="5434012" y="3052762"/>
                <a:chExt cx="257176" cy="257175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5434012" y="3052762"/>
                  <a:ext cx="25717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57175">
                      <a:moveTo>
                        <a:pt x="0" y="0"/>
                      </a:moveTo>
                      <a:lnTo>
                        <a:pt x="0" y="257175"/>
                      </a:lnTo>
                      <a:lnTo>
                        <a:pt x="257175" y="257175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5491162" y="3109912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5634038" y="308133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5562600" y="319563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5536311" y="3161633"/>
                  <a:ext cx="33433" cy="41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33" h="41148">
                      <a:moveTo>
                        <a:pt x="0" y="0"/>
                      </a:moveTo>
                      <a:lnTo>
                        <a:pt x="33433" y="41148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5606720" y="3134801"/>
                  <a:ext cx="40534" cy="65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34" h="65522">
                      <a:moveTo>
                        <a:pt x="0" y="65522"/>
                      </a:moveTo>
                      <a:lnTo>
                        <a:pt x="40534" y="0"/>
                      </a:lnTo>
                    </a:path>
                  </a:pathLst>
                </a:custGeom>
                <a:noFill/>
                <a:ln w="19050">
                  <a:solidFill>
                    <a:srgbClr val="16A34A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5371148" y="3468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评测价值</a:t>
                </a:r>
                <a:endParaRPr lang="zh-CN" sz="15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376862" y="3860006"/>
                <a:ext cx="158877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24 个样例、对照基线、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pic>
            <p:nvPicPr>
              <p:cNvPr id="48" name="Image 4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391150" y="4076700"/>
                <a:ext cx="1428750" cy="180975"/>
              </a:xfrm>
              <a:prstGeom prst="rect">
                <a:avLst/>
              </a:prstGeom>
            </p:spPr>
          </p:pic>
        </p:grpSp>
        <p:grpSp>
          <p:nvGrpSpPr>
            <p:cNvPr id="59" name="Group 59"/>
            <p:cNvGrpSpPr/>
            <p:nvPr/>
          </p:nvGrpSpPr>
          <p:grpSpPr>
            <a:xfrm>
              <a:off x="7410450" y="2781300"/>
              <a:ext cx="2019300" cy="1695450"/>
              <a:chOff x="7410450" y="2781300"/>
              <a:chExt cx="2019300" cy="16954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7410450" y="2781300"/>
                <a:ext cx="20193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38100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7681912" y="3067050"/>
                <a:ext cx="257175" cy="228600"/>
                <a:chOff x="7681912" y="3067050"/>
                <a:chExt cx="257175" cy="228600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7681912" y="306705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7681912" y="3181350"/>
                  <a:ext cx="25717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14300">
                      <a:moveTo>
                        <a:pt x="0" y="42862"/>
                      </a:moveTo>
                      <a:cubicBezTo>
                        <a:pt x="0" y="19190"/>
                        <a:pt x="19190" y="0"/>
                        <a:pt x="42862" y="0"/>
                      </a:cubicBezTo>
                      <a:lnTo>
                        <a:pt x="214312" y="0"/>
                      </a:lnTo>
                      <a:cubicBezTo>
                        <a:pt x="237985" y="0"/>
                        <a:pt x="257175" y="19190"/>
                        <a:pt x="257175" y="42862"/>
                      </a:cubicBezTo>
                      <a:lnTo>
                        <a:pt x="257175" y="71438"/>
                      </a:lnTo>
                      <a:cubicBezTo>
                        <a:pt x="257175" y="95110"/>
                        <a:pt x="237985" y="114300"/>
                        <a:pt x="214312" y="114300"/>
                      </a:cubicBezTo>
                      <a:lnTo>
                        <a:pt x="42862" y="114300"/>
                      </a:lnTo>
                      <a:cubicBezTo>
                        <a:pt x="19190" y="114300"/>
                        <a:pt x="0" y="95110"/>
                        <a:pt x="0" y="71438"/>
                      </a:cubicBezTo>
                      <a:lnTo>
                        <a:pt x="0" y="42862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739062" y="31242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739062" y="3238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19050">
                  <a:solidFill>
                    <a:srgbClr val="155E75"/>
                  </a:solidFill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7619048" y="3468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工程价值</a:t>
                </a:r>
                <a:endParaRPr lang="zh-CN" sz="15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624762" y="3860006"/>
                <a:ext cx="158877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模型服务可替换，mock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624762" y="410765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保障展示和复现实验。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9658350" y="2781300"/>
              <a:ext cx="1866900" cy="1695450"/>
              <a:chOff x="9658350" y="2781300"/>
              <a:chExt cx="1866900" cy="169545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9658350" y="2781300"/>
                <a:ext cx="1866900" cy="1695450"/>
              </a:xfrm>
              <a:prstGeom prst="roundRect">
                <a:avLst>
                  <a:gd name="adj" fmla="val 4494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  <a:effectLst>
                <a:outerShdw blurRad="114300" dist="38100" dir="5400000" algn="ctr" rotWithShape="0">
                  <a:srgbClr val="172033">
                    <a:alpha val="6750"/>
                  </a:srgbClr>
                </a:outerShdw>
              </a:effectLst>
            </p:spPr>
          </p:sp>
          <p:grpSp>
            <p:nvGrpSpPr>
              <p:cNvPr id="66" name="Group 66"/>
              <p:cNvGrpSpPr/>
              <p:nvPr/>
            </p:nvGrpSpPr>
            <p:grpSpPr>
              <a:xfrm>
                <a:off x="9929812" y="3067050"/>
                <a:ext cx="257175" cy="238125"/>
                <a:chOff x="9929812" y="3067050"/>
                <a:chExt cx="257175" cy="23812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9929812" y="3067050"/>
                  <a:ext cx="2571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9525">
                      <a:moveTo>
                        <a:pt x="0" y="0"/>
                      </a:moveTo>
                      <a:lnTo>
                        <a:pt x="257175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9944100" y="3067050"/>
                  <a:ext cx="2286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71450">
                      <a:moveTo>
                        <a:pt x="0" y="0"/>
                      </a:moveTo>
                      <a:lnTo>
                        <a:pt x="0" y="142875"/>
                      </a:lnTo>
                      <a:cubicBezTo>
                        <a:pt x="0" y="158657"/>
                        <a:pt x="12793" y="171450"/>
                        <a:pt x="28575" y="171450"/>
                      </a:cubicBezTo>
                      <a:lnTo>
                        <a:pt x="200025" y="171450"/>
                      </a:lnTo>
                      <a:cubicBezTo>
                        <a:pt x="215807" y="171450"/>
                        <a:pt x="228600" y="158657"/>
                        <a:pt x="228600" y="142875"/>
                      </a:cubicBezTo>
                      <a:lnTo>
                        <a:pt x="228600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10058400" y="3238500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10015538" y="3295650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10001250" y="3124200"/>
                  <a:ext cx="1143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7150">
                      <a:moveTo>
                        <a:pt x="0" y="57150"/>
                      </a:moveTo>
                      <a:lnTo>
                        <a:pt x="42862" y="14288"/>
                      </a:lnTo>
                      <a:lnTo>
                        <a:pt x="71438" y="42862"/>
                      </a:lnTo>
                      <a:lnTo>
                        <a:pt x="114300" y="0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67" name="TextBox 67"/>
              <p:cNvSpPr txBox="1"/>
              <p:nvPr/>
            </p:nvSpPr>
            <p:spPr>
              <a:xfrm>
                <a:off x="9866948" y="346852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表达价值</a:t>
                </a:r>
                <a:endParaRPr lang="zh-CN" sz="1575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9872662" y="3860006"/>
                <a:ext cx="116121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把课堂/科研讲解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9872662" y="41076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沉淀为结构化资产。</a:t>
                </a:r>
                <a:endPara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1885950" y="4657725"/>
            <a:ext cx="8305800" cy="509587"/>
            <a:chOff x="1885950" y="4657725"/>
            <a:chExt cx="8305800" cy="509587"/>
          </a:xfrm>
        </p:grpSpPr>
        <p:sp>
          <p:nvSpPr>
            <p:cNvPr id="72" name="Line 72"/>
            <p:cNvSpPr/>
            <p:nvPr/>
          </p:nvSpPr>
          <p:spPr>
            <a:xfrm>
              <a:off x="1885950" y="4762500"/>
              <a:ext cx="8305800" cy="1"/>
            </a:xfrm>
            <a:prstGeom prst="line">
              <a:avLst/>
            </a:pr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1926860" y="4657725"/>
              <a:ext cx="908780" cy="509587"/>
              <a:chOff x="1926860" y="4657725"/>
              <a:chExt cx="908780" cy="509587"/>
            </a:xfrm>
          </p:grpSpPr>
          <p:sp>
            <p:nvSpPr>
              <p:cNvPr id="73" name="Ellipse 73"/>
              <p:cNvSpPr/>
              <p:nvPr/>
            </p:nvSpPr>
            <p:spPr>
              <a:xfrm>
                <a:off x="2276475" y="4657725"/>
                <a:ext cx="209550" cy="209550"/>
              </a:xfrm>
              <a:prstGeom prst="ellipse">
                <a:avLst/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1926860" y="49539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真实用户数据</a:t>
                </a:r>
                <a:endParaRPr lang="zh-CN" sz="10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4041410" y="4657725"/>
              <a:ext cx="908780" cy="509587"/>
              <a:chOff x="4041410" y="4657725"/>
              <a:chExt cx="908780" cy="509587"/>
            </a:xfrm>
          </p:grpSpPr>
          <p:sp>
            <p:nvSpPr>
              <p:cNvPr id="76" name="Ellipse 76"/>
              <p:cNvSpPr/>
              <p:nvPr/>
            </p:nvSpPr>
            <p:spPr>
              <a:xfrm>
                <a:off x="4391025" y="4657725"/>
                <a:ext cx="209550" cy="209550"/>
              </a:xfrm>
              <a:prstGeom prst="ellipse">
                <a:avLst/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4041410" y="49539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草图解析增强</a:t>
                </a:r>
                <a:endParaRPr lang="zh-CN" sz="10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6155960" y="4657725"/>
              <a:ext cx="908780" cy="509587"/>
              <a:chOff x="6155960" y="4657725"/>
              <a:chExt cx="908780" cy="509587"/>
            </a:xfrm>
          </p:grpSpPr>
          <p:sp>
            <p:nvSpPr>
              <p:cNvPr id="79" name="Ellipse 79"/>
              <p:cNvSpPr/>
              <p:nvPr/>
            </p:nvSpPr>
            <p:spPr>
              <a:xfrm>
                <a:off x="6505575" y="4657725"/>
                <a:ext cx="209550" cy="209550"/>
              </a:xfrm>
              <a:prstGeom prst="ellipse">
                <a:avLst/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6155960" y="49539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编辑策略训练</a:t>
                </a:r>
                <a:endParaRPr lang="zh-CN" sz="10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8270510" y="4657725"/>
              <a:ext cx="908780" cy="509587"/>
              <a:chOff x="8270510" y="4657725"/>
              <a:chExt cx="908780" cy="509587"/>
            </a:xfrm>
          </p:grpSpPr>
          <p:sp>
            <p:nvSpPr>
              <p:cNvPr id="82" name="Ellipse 82"/>
              <p:cNvSpPr/>
              <p:nvPr/>
            </p:nvSpPr>
            <p:spPr>
              <a:xfrm>
                <a:off x="8620125" y="4657725"/>
                <a:ext cx="209550" cy="209550"/>
              </a:xfrm>
              <a:prstGeom prst="ellipse">
                <a:avLst/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8270510" y="49539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720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前端诊断反馈</a:t>
                </a:r>
                <a:endParaRPr lang="zh-CN" sz="1050" b="1" dirty="0">
                  <a:solidFill>
                    <a:srgbClr val="1720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2038350" y="5524500"/>
            <a:ext cx="8115300" cy="495300"/>
            <a:chOff x="2038350" y="5524500"/>
            <a:chExt cx="8115300" cy="495300"/>
          </a:xfrm>
        </p:grpSpPr>
        <p:sp>
          <p:nvSpPr>
            <p:cNvPr id="86" name="Rectangle 86"/>
            <p:cNvSpPr/>
            <p:nvPr/>
          </p:nvSpPr>
          <p:spPr>
            <a:xfrm>
              <a:off x="2038350" y="5524500"/>
              <a:ext cx="81153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2486454" y="5684996"/>
              <a:ext cx="721909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55E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所以，这个项目既有能演示的应用成果，也有可继续深化的科研问题和实验框架。</a:t>
              </a:r>
              <a:endParaRPr lang="zh-CN" sz="1425" b="1" dirty="0">
                <a:solidFill>
                  <a:srgbClr val="155E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89" name="TextBox 89"/>
            <p:cNvSpPr txBox="1"/>
            <p:nvPr/>
          </p:nvSpPr>
          <p:spPr>
            <a:xfrm>
              <a:off x="560070" y="6379845"/>
              <a:ext cx="14570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SketchVoice · Conclusion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14 / 14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71" grpId="0"/>
      <p:bldP spid="85" grpId="0"/>
      <p:bldP spid="88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2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3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4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5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6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7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8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9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10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11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12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13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14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15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16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17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18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19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20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21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22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23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24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25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26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27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28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29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30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31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32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33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34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35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36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37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38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39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40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41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42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43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44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45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46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47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48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49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50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51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52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53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54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55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56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57.xml><?xml version="1.0" encoding="utf-8"?>
<p:tagLst xmlns:p="http://schemas.openxmlformats.org/presentationml/2006/main">
  <p:tag name="KSO_WM_DIAGRAM_VIRTUALLY_FRAME" val="{&quot;height&quot;:315,&quot;left&quot;:45,&quot;top&quot;:112.5,&quot;width&quot;:942.9056692913385}"/>
</p:tagLst>
</file>

<file path=ppt/tags/tag58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59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60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61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62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63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64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65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66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67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68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69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70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71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72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73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74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75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76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77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78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79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80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81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82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83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84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85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86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ags/tag87.xml><?xml version="1.0" encoding="utf-8"?>
<p:tagLst xmlns:p="http://schemas.openxmlformats.org/presentationml/2006/main">
  <p:tag name="KSO_WM_DIAGRAM_VIRTUALLY_FRAME" val="{&quot;height&quot;:133.5,&quot;left&quot;:52.5,&quot;top&quot;:228,&quot;width&quot;:85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4717</Words>
  <Application>WPS 演示</Application>
  <PresentationFormat>On-screen Show (16:9)</PresentationFormat>
  <Paragraphs>608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future</cp:lastModifiedBy>
  <cp:revision>16</cp:revision>
  <dcterms:created xsi:type="dcterms:W3CDTF">2026-06-14T08:26:00Z</dcterms:created>
  <dcterms:modified xsi:type="dcterms:W3CDTF">2026-06-14T12:03:04Z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160A312486D54F9788479FB10583248A_12</vt:lpwstr>
  </property>
</Properties>
</file>