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大家好，我汇报的项目是 SketchVoice，核心目标是把“边说边画”的自然表达转成可编辑知识图。这里既有一个可演示的产品闭环，也有背后的结构恢复方法 MMSB-Graph。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真实讨论里，很多有效信息不是写在规范文档里，而是散落在白板草图、口头解释和临时补充中。问题是这些内容会很快消失，后续复盘、整理和复用都需要大量人工成本。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所以产品侧先从用户旅程出发：用户在画布上画草图，同时录入语音说明，系统把这些输入整理成结构化图。最后输出的不只是图片，而是 Mermaid、JSON、SVG 和可继续编辑的终稿。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这个原型的重点是把课堂展示需要的主链路跑通。它支持草图输入、语音转写、图结构生成、图片渲染、语音讲解和导出，让“记录想法”变成“交付结构化结果”。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产品问题进一步抽象成一个科研任务：给定手绘草图 S 和同步语音 U，恢复知识图 G。这里的关键不是简单画图，而是从两个不完整模态中恢复节点、边、方向和语义标签。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工程实现上，前端承担交互画布、语音录入和结果展示，后端组织转写、结构生成、渲染和讲解服务。这样的分层设计让 mock fallback、外部模型服务和评测模块都可以替换。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方法侧的核心是 MMSB-Graph。它不直接一步生成最终图，而是先构造候选图，再通过图编辑路径逐步修正结构，这样更容易解释错误来自哪里，也更贴近用户实际修改过程。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这里有三个中间图：草图图保留空间结构，但语义弱；语音图语义强，但缺少布局；融合图把二者合并成初始候选。后续的编辑桥就是在这个候选基础上继续恢复完整知识结构。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图编辑桥把结构恢复拆成插入节点、删除节点、插入边、删除边和修正方向等离散操作。代价函数同时考虑结构变化、语义差异、方向错误、布局保持和语音覆盖，路径能量用于衡量整体修正是否自然。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为了验证这条链路，我们构建了 24 个可控知识草图样例，覆盖线性、分支、闭环、模型架构和实验流程。评测指标不只看节点和边，也看方向准确率、图编辑距离、语音覆盖和布局保持。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结果可以看到，草图单模态主要缺语义，语音单模态主要缺空间结构，早期融合和贪心修复只能解决一部分问题。MMSB-Graph 的优势在于把补全和修正显式建模，因此整体一致性和编辑成本更好。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从产品闭环看，输入、生成、交付和评测不是分开的。用户的修改可以反过来成为评测依据，评测结果又能推动模型和交互设计迭代，这是这个项目区别于单次生成 demo 的地方。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这里也需要说明真实性边界：当前实验是合成条件图上的可控验证，不能直接等同于大规模真实世界性能。但它已经证明任务定义、评测链路和图编辑过程是可运行、可计算、可演示的。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最后总结一下，产品层我们做了 SketchVoice 工作台，方法层提出了语音引导知识草图结构化和 MMSB-Graph，系统层打通了生成、导出与评测闭环。一句话，本项目把“边说边画”的自然表达变成结构化知识资产，并给出可解释的恢复路径。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25a91e8a88d312c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476250"/>
            <a:ext cx="12192000" cy="7334250"/>
            <a:chOff x="0" y="-476250"/>
            <a:chExt cx="12192000" cy="7334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953500" y="-476250"/>
              <a:ext cx="3238500" cy="32385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96450" y="190500"/>
              <a:ext cx="1943100" cy="1943100"/>
            </a:xfrm>
            <a:prstGeom prst="ellipse">
              <a:avLst/>
            </a:prstGeom>
            <a:solidFill>
              <a:srgbClr val="CCFBF1">
                <a:alpha val="8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95300" y="514350"/>
              <a:ext cx="7429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15340" y="1291590"/>
            <a:ext cx="6617884" cy="2537460"/>
            <a:chOff x="815340" y="1291590"/>
            <a:chExt cx="6617884" cy="2537460"/>
          </a:xfrm>
        </p:grpSpPr>
        <p:sp>
          <p:nvSpPr>
            <p:cNvPr id="7" name="TextBox 7"/>
            <p:cNvSpPr txBox="1"/>
            <p:nvPr/>
          </p:nvSpPr>
          <p:spPr>
            <a:xfrm>
              <a:off x="815340" y="1291590"/>
              <a:ext cx="402000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4390" y="2101215"/>
              <a:ext cx="659883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把“边说边画”变成可编辑知识图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540" y="2834640"/>
              <a:ext cx="56864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语音引导的知识草图结构化任务与 MMSB-Graph 方法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71850"/>
              <a:ext cx="5581650" cy="45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44905" y="3521392"/>
              <a:ext cx="50029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产品闭环：草图 + 语音 → 结构化图 → 可编辑输出 → 可评测结果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39000" y="2247900"/>
            <a:ext cx="4095750" cy="2743200"/>
            <a:chOff x="7239000" y="2247900"/>
            <a:chExt cx="4095750" cy="2743200"/>
          </a:xfrm>
        </p:grpSpPr>
        <p:sp>
          <p:nvSpPr>
            <p:cNvPr id="13" name="Rectangle 13"/>
            <p:cNvSpPr/>
            <p:nvPr/>
          </p:nvSpPr>
          <p:spPr>
            <a:xfrm>
              <a:off x="7239000" y="2247900"/>
              <a:ext cx="3429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7597775" y="2469136"/>
              <a:ext cx="210564" cy="210564"/>
              <a:chOff x="7597775" y="2469136"/>
              <a:chExt cx="210564" cy="21056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597775" y="2469136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25966" y="249753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039100" y="24955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草图画布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905750" y="3257550"/>
              <a:ext cx="3429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8278019" y="3446462"/>
              <a:ext cx="188912" cy="265907"/>
              <a:chOff x="8278019" y="3446462"/>
              <a:chExt cx="188912" cy="26590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31994" y="3446462"/>
                <a:ext cx="80962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48431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  <a:cubicBezTo>
                      <a:pt x="80962" y="130307"/>
                      <a:pt x="62838" y="148431"/>
                      <a:pt x="40481" y="148431"/>
                    </a:cubicBezTo>
                    <a:cubicBezTo>
                      <a:pt x="18124" y="148431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8019" y="3554412"/>
                <a:ext cx="188912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2" y="52167"/>
                      <a:pt x="188912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18500" y="370284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72475" y="3648869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705850" y="3505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语音讲解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39000" y="4267200"/>
              <a:ext cx="3429000" cy="723900"/>
            </a:xfrm>
            <a:prstGeom prst="roundRect">
              <a:avLst>
                <a:gd name="adj" fmla="val 10526"/>
              </a:avLst>
            </a:prstGeom>
            <a:solidFill>
              <a:srgbClr val="155E75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584281" y="4498181"/>
              <a:ext cx="242887" cy="256382"/>
              <a:chOff x="7584281" y="4498181"/>
              <a:chExt cx="242887" cy="25638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624762" y="449818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05725" y="449818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78738" y="449818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624762" y="457914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584281" y="472757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32712" y="472757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78738" y="47005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05725" y="466010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038148" y="455437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结构化知识图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953500" y="29718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cubicBezTo>
                    <a:pt x="0" y="171450"/>
                    <a:pt x="0" y="171450"/>
                    <a:pt x="0" y="285750"/>
                  </a:cubicBezTo>
                </a:path>
              </a:pathLst>
            </a:custGeom>
            <a:noFill/>
            <a:ln w="28575">
              <a:solidFill>
                <a:srgbClr val="94A3B8"/>
              </a:solidFill>
              <a:custDash>
                <a:ds d="233333" sp="200000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8953500" y="39814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cubicBezTo>
                    <a:pt x="0" y="171450"/>
                    <a:pt x="0" y="171450"/>
                    <a:pt x="0" y="285750"/>
                  </a:cubicBezTo>
                </a:path>
              </a:pathLst>
            </a:custGeom>
            <a:noFill/>
            <a:ln w="28575">
              <a:solidFill>
                <a:srgbClr val="94A3B8"/>
              </a:solidFill>
              <a:custDash>
                <a:ds d="233333" sp="200000"/>
              </a:custDash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62012" y="6069806"/>
            <a:ext cx="10465118" cy="228600"/>
            <a:chOff x="862012" y="6069806"/>
            <a:chExt cx="10465118" cy="228600"/>
          </a:xfrm>
        </p:grpSpPr>
        <p:sp>
          <p:nvSpPr>
            <p:cNvPr id="39" name="TextBox 39"/>
            <p:cNvSpPr txBox="1"/>
            <p:nvPr/>
          </p:nvSpPr>
          <p:spPr>
            <a:xfrm>
              <a:off x="862012" y="6069806"/>
              <a:ext cx="1431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课程结项答辩 · 2026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02220" y="6094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95300" y="495300"/>
              <a:ext cx="4000500" cy="5676900"/>
            </a:xfrm>
            <a:prstGeom prst="roundRect">
              <a:avLst>
                <a:gd name="adj" fmla="val 1905"/>
              </a:avLst>
            </a:prstGeom>
            <a:gradFill>
              <a:gsLst>
                <a:gs pos="0">
                  <a:srgbClr val="E0F2FE"/>
                </a:gs>
                <a:gs pos="100000">
                  <a:srgbClr val="CCFBF1"/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33010" y="508635"/>
            <a:ext cx="7629525" cy="743903"/>
            <a:chOff x="5033010" y="508635"/>
            <a:chExt cx="7629525" cy="743903"/>
          </a:xfrm>
        </p:grpSpPr>
        <p:sp>
          <p:nvSpPr>
            <p:cNvPr id="5" name="TextBox 5"/>
            <p:cNvSpPr txBox="1"/>
            <p:nvPr/>
          </p:nvSpPr>
          <p:spPr>
            <a:xfrm>
              <a:off x="5033010" y="50863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产品出发点：科研讨论结束后，信息很难复用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050155" y="9782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真实表达是混合的，但可复用交付物需要结构化。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2515" y="1395412"/>
            <a:ext cx="3651885" cy="3281363"/>
            <a:chOff x="1072515" y="1395412"/>
            <a:chExt cx="3651885" cy="3281363"/>
          </a:xfrm>
        </p:grpSpPr>
        <p:grpSp>
          <p:nvGrpSpPr>
            <p:cNvPr id="10" name="Group 10"/>
            <p:cNvGrpSpPr/>
            <p:nvPr/>
          </p:nvGrpSpPr>
          <p:grpSpPr>
            <a:xfrm>
              <a:off x="1190625" y="1446750"/>
              <a:ext cx="334425" cy="334425"/>
              <a:chOff x="1190625" y="1446750"/>
              <a:chExt cx="334425" cy="3344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90625" y="1446750"/>
                <a:ext cx="334425" cy="334425"/>
              </a:xfrm>
              <a:custGeom>
                <a:avLst/>
                <a:gdLst/>
                <a:ahLst/>
                <a:cxnLst/>
                <a:rect l="l" t="t" r="r" b="b"/>
                <a:pathLst>
                  <a:path w="334425" h="334425">
                    <a:moveTo>
                      <a:pt x="0" y="334425"/>
                    </a:moveTo>
                    <a:lnTo>
                      <a:pt x="85725" y="334425"/>
                    </a:lnTo>
                    <a:lnTo>
                      <a:pt x="310753" y="109397"/>
                    </a:lnTo>
                    <a:cubicBezTo>
                      <a:pt x="334425" y="85725"/>
                      <a:pt x="334425" y="47345"/>
                      <a:pt x="310753" y="23672"/>
                    </a:cubicBezTo>
                    <a:cubicBezTo>
                      <a:pt x="287081" y="0"/>
                      <a:pt x="248700" y="0"/>
                      <a:pt x="225028" y="23672"/>
                    </a:cubicBezTo>
                    <a:lnTo>
                      <a:pt x="0" y="248700"/>
                    </a:lnTo>
                    <a:lnTo>
                      <a:pt x="0" y="3344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94222" y="1491853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916906" y="1395412"/>
              <a:ext cx="300038" cy="416719"/>
              <a:chOff x="1916906" y="1395412"/>
              <a:chExt cx="300038" cy="41671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002631" y="1395412"/>
                <a:ext cx="128588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235744">
                    <a:moveTo>
                      <a:pt x="0" y="64294"/>
                    </a:moveTo>
                    <a:cubicBezTo>
                      <a:pt x="0" y="28785"/>
                      <a:pt x="28785" y="0"/>
                      <a:pt x="64294" y="0"/>
                    </a:cubicBezTo>
                    <a:cubicBezTo>
                      <a:pt x="99802" y="0"/>
                      <a:pt x="128588" y="28785"/>
                      <a:pt x="128588" y="64294"/>
                    </a:cubicBezTo>
                    <a:lnTo>
                      <a:pt x="128588" y="171450"/>
                    </a:lnTo>
                    <a:cubicBezTo>
                      <a:pt x="128588" y="206958"/>
                      <a:pt x="99802" y="235744"/>
                      <a:pt x="64294" y="235744"/>
                    </a:cubicBezTo>
                    <a:cubicBezTo>
                      <a:pt x="28785" y="235744"/>
                      <a:pt x="0" y="206958"/>
                      <a:pt x="0" y="171450"/>
                    </a:cubicBez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916906" y="1566862"/>
                <a:ext cx="30003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50019">
                    <a:moveTo>
                      <a:pt x="0" y="0"/>
                    </a:moveTo>
                    <a:cubicBezTo>
                      <a:pt x="0" y="82853"/>
                      <a:pt x="67166" y="150019"/>
                      <a:pt x="150019" y="150019"/>
                    </a:cubicBezTo>
                    <a:cubicBezTo>
                      <a:pt x="232872" y="150019"/>
                      <a:pt x="300038" y="82853"/>
                      <a:pt x="300038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981200" y="1802606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066925" y="1716881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72515" y="21250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边说边画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2515" y="26012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是科研表达的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2515" y="30775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自然形态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104900" y="37528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38100">
              <a:solidFill>
                <a:srgbClr val="155E7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5850" y="40671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但讨论结束后，用户要的不是一张草稿，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5850" y="4371975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而是能继续编辑、展示和复用的结构。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6375" y="1733550"/>
            <a:ext cx="7895748" cy="3600450"/>
            <a:chOff x="5286375" y="1733550"/>
            <a:chExt cx="7895748" cy="3600450"/>
          </a:xfrm>
        </p:grpSpPr>
        <p:sp>
          <p:nvSpPr>
            <p:cNvPr id="23" name="Line 23"/>
            <p:cNvSpPr/>
            <p:nvPr/>
          </p:nvSpPr>
          <p:spPr>
            <a:xfrm>
              <a:off x="5410200" y="1733550"/>
              <a:ext cx="9525" cy="3600450"/>
            </a:xfrm>
            <a:custGeom>
              <a:avLst/>
              <a:gdLst/>
              <a:ahLst/>
              <a:cxnLst/>
              <a:rect l="l" t="t" r="r" b="b"/>
              <a:pathLst>
                <a:path w="9525" h="3600450">
                  <a:moveTo>
                    <a:pt x="0" y="0"/>
                  </a:moveTo>
                  <a:lnTo>
                    <a:pt x="0" y="3600450"/>
                  </a:lnTo>
                </a:path>
              </a:pathLst>
            </a:custGeom>
            <a:noFill/>
            <a:ln w="19050">
              <a:solidFill>
                <a:srgbClr val="CBD5E1"/>
              </a:solidFill>
              <a:custDash>
                <a:ds d="350000" sp="350000"/>
              </a:custDash>
            </a:ln>
          </p:spPr>
        </p:sp>
        <p:sp>
          <p:nvSpPr>
            <p:cNvPr id="24" name="Ellipse 24"/>
            <p:cNvSpPr/>
            <p:nvPr/>
          </p:nvSpPr>
          <p:spPr>
            <a:xfrm>
              <a:off x="5286375" y="1895475"/>
              <a:ext cx="247650" cy="2476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30240" y="1767840"/>
              <a:ext cx="33221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草图留下结构，但语义不完整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35002" y="2132171"/>
              <a:ext cx="744712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模块位置、流程关系、并行或闭环能看出来；节点名称、箭头方向和关系标签经常缺失。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286375" y="3209925"/>
              <a:ext cx="247650" cy="2476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30240" y="3082290"/>
              <a:ext cx="30700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语音说清意图，但没有布局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35002" y="3446621"/>
              <a:ext cx="63069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讲解能补充节点、顺序和因果关系；但语音本身无法直接恢复二维图结构。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286375" y="4524375"/>
              <a:ext cx="247650" cy="2476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30240" y="4396740"/>
              <a:ext cx="35741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手工整理成本高，交付链路断开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35002" y="4761071"/>
              <a:ext cx="63069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用户还要补 Mermaid、图像、JSON 和讲解稿；产品机会就在这条断链上。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3870" y="6379845"/>
            <a:ext cx="11224260" cy="182880"/>
            <a:chOff x="483870" y="6379845"/>
            <a:chExt cx="11224260" cy="182880"/>
          </a:xfrm>
        </p:grpSpPr>
        <p:sp>
          <p:nvSpPr>
            <p:cNvPr id="34" name="TextBox 34"/>
            <p:cNvSpPr txBox="1"/>
            <p:nvPr/>
          </p:nvSpPr>
          <p:spPr>
            <a:xfrm>
              <a:off x="483870" y="63798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Product Story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32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495383" cy="743903"/>
            <a:chOff x="537210" y="394335"/>
            <a:chExt cx="649538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用户旅程：从画布和录音到多格式交付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产品闭环把一次口头讲解转化为一组可查看、可下载、可继续编辑的产物。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66750" y="2076450"/>
            <a:ext cx="10858500" cy="2476500"/>
            <a:chOff x="666750" y="2076450"/>
            <a:chExt cx="10858500" cy="2476500"/>
          </a:xfrm>
        </p:grpSpPr>
        <p:sp>
          <p:nvSpPr>
            <p:cNvPr id="6" name="Line 6"/>
            <p:cNvSpPr/>
            <p:nvPr/>
          </p:nvSpPr>
          <p:spPr>
            <a:xfrm>
              <a:off x="1428750" y="3429000"/>
              <a:ext cx="9334500" cy="1"/>
            </a:xfrm>
            <a:prstGeom prst="line">
              <a:avLst/>
            </a:prstGeom>
            <a:noFill/>
            <a:ln w="38100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66750" y="2076450"/>
              <a:ext cx="1905000" cy="2476500"/>
              <a:chOff x="666750" y="2076450"/>
              <a:chExt cx="1905000" cy="2476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66750" y="2076450"/>
                <a:ext cx="1905000" cy="247650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8" name="Rectangle 8"/>
              <p:cNvSpPr/>
              <p:nvPr/>
            </p:nvSpPr>
            <p:spPr>
              <a:xfrm>
                <a:off x="838200" y="22669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996950" y="2430094"/>
                <a:ext cx="173406" cy="173406"/>
                <a:chOff x="996950" y="2430094"/>
                <a:chExt cx="173406" cy="17340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996950" y="2430094"/>
                  <a:ext cx="173406" cy="17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06" h="173406">
                      <a:moveTo>
                        <a:pt x="0" y="173406"/>
                      </a:moveTo>
                      <a:lnTo>
                        <a:pt x="44450" y="173406"/>
                      </a:lnTo>
                      <a:lnTo>
                        <a:pt x="161131" y="56725"/>
                      </a:lnTo>
                      <a:cubicBezTo>
                        <a:pt x="173406" y="44450"/>
                        <a:pt x="173406" y="24549"/>
                        <a:pt x="161131" y="12275"/>
                      </a:cubicBezTo>
                      <a:cubicBezTo>
                        <a:pt x="148857" y="0"/>
                        <a:pt x="128956" y="0"/>
                        <a:pt x="116681" y="12275"/>
                      </a:cubicBezTo>
                      <a:lnTo>
                        <a:pt x="0" y="128956"/>
                      </a:lnTo>
                      <a:lnTo>
                        <a:pt x="0" y="173406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02519" y="245348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44450" y="444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465262" y="2403475"/>
                <a:ext cx="155575" cy="220662"/>
                <a:chOff x="1465262" y="2403475"/>
                <a:chExt cx="155575" cy="220662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509712" y="2403475"/>
                  <a:ext cx="6667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22238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88900"/>
                      </a:lnTo>
                      <a:cubicBezTo>
                        <a:pt x="66675" y="107312"/>
                        <a:pt x="51749" y="122238"/>
                        <a:pt x="33338" y="122238"/>
                      </a:cubicBezTo>
                      <a:cubicBezTo>
                        <a:pt x="14926" y="122238"/>
                        <a:pt x="0" y="107312"/>
                        <a:pt x="0" y="88900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465262" y="2492375"/>
                  <a:ext cx="155575" cy="77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77787">
                      <a:moveTo>
                        <a:pt x="0" y="0"/>
                      </a:moveTo>
                      <a:cubicBezTo>
                        <a:pt x="0" y="42961"/>
                        <a:pt x="34827" y="77787"/>
                        <a:pt x="77787" y="77787"/>
                      </a:cubicBezTo>
                      <a:cubicBezTo>
                        <a:pt x="120748" y="77787"/>
                        <a:pt x="155575" y="42961"/>
                        <a:pt x="15557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98600" y="2614612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543050" y="2570162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855345" y="294608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60108" y="3367564"/>
                <a:ext cx="7124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草图画布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0108" y="3653314"/>
                <a:ext cx="12225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录音或上传音频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0108" y="3939064"/>
                <a:ext cx="7124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文本补充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81426" y="423005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S + 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857500" y="2076450"/>
              <a:ext cx="1905000" cy="2476500"/>
              <a:chOff x="2857500" y="2076450"/>
              <a:chExt cx="1905000" cy="2476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857500" y="2076450"/>
                <a:ext cx="1905000" cy="247650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028950" y="22669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3176588" y="2414588"/>
                <a:ext cx="200025" cy="200025"/>
                <a:chOff x="3176588" y="2414588"/>
                <a:chExt cx="200025" cy="2000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176588" y="24145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309938" y="2447925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221038" y="24145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332162" y="252571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3046095" y="29460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转写与补全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050858" y="3367564"/>
                <a:ext cx="104401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ASR 得到文本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050858" y="365331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用户可改转写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50858" y="3939064"/>
                <a:ext cx="12225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保留交互上下文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52123" y="423005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transcript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048250" y="2076450"/>
              <a:ext cx="1905000" cy="2476500"/>
              <a:chOff x="5048250" y="2076450"/>
              <a:chExt cx="1905000" cy="2476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048250" y="2076450"/>
                <a:ext cx="1905000" cy="2476500"/>
              </a:xfrm>
              <a:prstGeom prst="roundRect">
                <a:avLst>
                  <a:gd name="adj" fmla="val 400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219700" y="22669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FFFFF">
                  <a:alpha val="18000"/>
                </a:srgbClr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367338" y="2414588"/>
                <a:ext cx="200024" cy="211137"/>
                <a:chOff x="5367338" y="2414588"/>
                <a:chExt cx="200024" cy="211137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5400675" y="241458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467350" y="241458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45125" y="241458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400675" y="248126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367338" y="260350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489575" y="260350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445125" y="25812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467350" y="254793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236845" y="29460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结构化图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41608" y="3367564"/>
                <a:ext cx="7124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节点与边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241608" y="3653314"/>
                <a:ext cx="7124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关系方向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241608" y="3939064"/>
                <a:ext cx="54244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置信度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192917" y="4230052"/>
                <a:ext cx="4117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G_hat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7239000" y="2076450"/>
              <a:ext cx="1905000" cy="2476500"/>
              <a:chOff x="7239000" y="2076450"/>
              <a:chExt cx="1905000" cy="2476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239000" y="2076450"/>
                <a:ext cx="1905000" cy="247650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410450" y="22669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7558088" y="2425700"/>
                <a:ext cx="200025" cy="187325"/>
                <a:chOff x="7558088" y="2425700"/>
                <a:chExt cx="200025" cy="187325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558088" y="24257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602538" y="26035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624762" y="25590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691438" y="25590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7427595" y="294608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预览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432358" y="3367564"/>
                <a:ext cx="7124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432358" y="3653314"/>
                <a:ext cx="70396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SVG 图形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432358" y="3939064"/>
                <a:ext cx="100150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JSON 标签页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222647" y="4230052"/>
                <a:ext cx="5727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editable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9429750" y="2076450"/>
              <a:ext cx="2095500" cy="2476500"/>
              <a:chOff x="9429750" y="2076450"/>
              <a:chExt cx="2095500" cy="24765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9429750" y="2076450"/>
                <a:ext cx="2095500" cy="247650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9601200" y="22669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9771062" y="2414588"/>
                <a:ext cx="177800" cy="211138"/>
                <a:chOff x="9771062" y="2414588"/>
                <a:chExt cx="177800" cy="211138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9871075" y="2414588"/>
                  <a:ext cx="55563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5562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2"/>
                        <a:pt x="11113" y="55562"/>
                      </a:cubicBezTo>
                      <a:lnTo>
                        <a:pt x="55563" y="5556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771062" y="2414588"/>
                  <a:ext cx="177800" cy="21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8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2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3" y="144463"/>
                      </a:moveTo>
                      <a:lnTo>
                        <a:pt x="177800" y="177800"/>
                      </a:lnTo>
                      <a:lnTo>
                        <a:pt x="144463" y="2111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9618345" y="294608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623108" y="3367564"/>
                <a:ext cx="130754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下载 SVG / JSON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623108" y="3653314"/>
                <a:ext cx="54244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终稿图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623108" y="3939064"/>
                <a:ext cx="86548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讲解 WebM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0311813" y="4230052"/>
                <a:ext cx="845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deliverables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2476500" y="5334000"/>
            <a:ext cx="7239000" cy="514350"/>
            <a:chOff x="2476500" y="5334000"/>
            <a:chExt cx="7239000" cy="514350"/>
          </a:xfrm>
        </p:grpSpPr>
        <p:sp>
          <p:nvSpPr>
            <p:cNvPr id="78" name="Rectangle 78"/>
            <p:cNvSpPr/>
            <p:nvPr/>
          </p:nvSpPr>
          <p:spPr>
            <a:xfrm>
              <a:off x="2476500" y="5334000"/>
              <a:ext cx="7239000" cy="514350"/>
            </a:xfrm>
            <a:prstGeom prst="roundRect">
              <a:avLst>
                <a:gd name="adj" fmla="val 14815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187184" y="5479732"/>
              <a:ext cx="58176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核心产品价值：把一次临时表达，变成可复用的结构资产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1" name="TextBox 81"/>
            <p:cNvSpPr txBox="1"/>
            <p:nvPr/>
          </p:nvSpPr>
          <p:spPr>
            <a:xfrm>
              <a:off x="560070" y="637984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Product Journey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667330" cy="743903"/>
            <a:chOff x="537210" y="394335"/>
            <a:chExt cx="76673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6673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产品能力：不只是生成图，而是生成“工作台”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价值来自完整操作面，而不是一次模型调用。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428750"/>
            <a:ext cx="11974902" cy="4000500"/>
            <a:chOff x="571500" y="1428750"/>
            <a:chExt cx="11974902" cy="40005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428750"/>
              <a:ext cx="4703446" cy="1809750"/>
              <a:chOff x="571500" y="1428750"/>
              <a:chExt cx="4703446" cy="1809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83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985838" y="1835150"/>
                <a:ext cx="200025" cy="187325"/>
                <a:chOff x="985838" y="183515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85838" y="183515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30288" y="20129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52512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19188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0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输入工作台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2042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画布、录音、上传音频、转写文本补充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3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2008" y="2643664"/>
                <a:ext cx="4452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用户不需要先整理成规范格式，直接把讨论过程放进系统。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381500" y="1428750"/>
              <a:ext cx="3870341" cy="1809750"/>
              <a:chOff x="4381500" y="1428750"/>
              <a:chExt cx="3870341" cy="1809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64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795838" y="1824038"/>
                <a:ext cx="200024" cy="211137"/>
                <a:chOff x="4795838" y="1824038"/>
                <a:chExt cx="200024" cy="2111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829175" y="182403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895850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873625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829175" y="189071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795838" y="201295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918075" y="201295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873625" y="19907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95850" y="195738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31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结构化建模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18760" y="204216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节点、边、方向、类型、置信度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464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632008" y="2643664"/>
                <a:ext cx="361983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核心不是“画得像”，而是恢复可编辑知识结构。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191500" y="1428750"/>
              <a:ext cx="3853339" cy="1809750"/>
              <a:chOff x="8191500" y="1428750"/>
              <a:chExt cx="3853339" cy="1809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19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45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583612" y="1879600"/>
                <a:ext cx="244476" cy="88900"/>
                <a:chOff x="8583612" y="1879600"/>
                <a:chExt cx="244476" cy="889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94750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88900"/>
                      </a:moveTo>
                      <a:lnTo>
                        <a:pt x="0" y="0"/>
                      </a:lnTo>
                      <a:lnTo>
                        <a:pt x="33338" y="88900"/>
                      </a:ln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716962" y="18796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22225" y="0"/>
                      </a:move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66675"/>
                      </a:lnTo>
                      <a:cubicBezTo>
                        <a:pt x="44450" y="78950"/>
                        <a:pt x="34500" y="88900"/>
                        <a:pt x="22225" y="88900"/>
                      </a:cubicBez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83612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0"/>
                      </a:moveTo>
                      <a:lnTo>
                        <a:pt x="33338" y="0"/>
                      </a:lnTo>
                      <a:lnTo>
                        <a:pt x="33338" y="72231"/>
                      </a:lnTo>
                      <a:cubicBezTo>
                        <a:pt x="33338" y="81437"/>
                        <a:pt x="25875" y="88900"/>
                        <a:pt x="16669" y="88900"/>
                      </a:cubicBezTo>
                      <a:cubicBezTo>
                        <a:pt x="7463" y="88900"/>
                        <a:pt x="0" y="81437"/>
                        <a:pt x="0" y="72231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50288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77787"/>
                      </a:moveTo>
                      <a:cubicBezTo>
                        <a:pt x="0" y="83925"/>
                        <a:pt x="4975" y="88900"/>
                        <a:pt x="11113" y="88900"/>
                      </a:cubicBezTo>
                      <a:lnTo>
                        <a:pt x="22225" y="88900"/>
                      </a:lnTo>
                      <a:cubicBezTo>
                        <a:pt x="28362" y="88900"/>
                        <a:pt x="33338" y="83925"/>
                        <a:pt x="33338" y="77787"/>
                      </a:cubicBezTo>
                      <a:lnTo>
                        <a:pt x="33338" y="55562"/>
                      </a:lnTo>
                      <a:cubicBezTo>
                        <a:pt x="33338" y="49425"/>
                        <a:pt x="28362" y="44450"/>
                        <a:pt x="22225" y="44450"/>
                      </a:cubicBezTo>
                      <a:lnTo>
                        <a:pt x="11113" y="44450"/>
                      </a:lnTo>
                      <a:cubicBezTo>
                        <a:pt x="4975" y="44450"/>
                        <a:pt x="0" y="39475"/>
                        <a:pt x="0" y="33338"/>
                      </a:cubicBezTo>
                      <a:lnTo>
                        <a:pt x="0" y="11112"/>
                      </a:ln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22225" y="0"/>
                      </a:lnTo>
                      <a:cubicBezTo>
                        <a:pt x="28362" y="0"/>
                        <a:pt x="33338" y="4975"/>
                        <a:pt x="33338" y="11112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12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多视图预览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0421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 / 图形 / AI 图像 / JSON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45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42008" y="264366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同一个结构可以用不同形式检查、修改和下载。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19500"/>
              <a:ext cx="4023360" cy="1809750"/>
              <a:chOff x="571500" y="3619500"/>
              <a:chExt cx="4023360" cy="1809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3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85838" y="4014788"/>
                <a:ext cx="200025" cy="200025"/>
                <a:chOff x="985838" y="4014788"/>
                <a:chExt cx="200025" cy="2000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119188" y="4070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85838" y="40147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85838" y="4093764"/>
                  <a:ext cx="144463" cy="65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65486">
                      <a:moveTo>
                        <a:pt x="0" y="65486"/>
                      </a:moveTo>
                      <a:lnTo>
                        <a:pt x="55562" y="9923"/>
                      </a:lnTo>
                      <a:cubicBezTo>
                        <a:pt x="65875" y="0"/>
                        <a:pt x="78588" y="0"/>
                        <a:pt x="88900" y="9923"/>
                      </a:cubicBezTo>
                      <a:lnTo>
                        <a:pt x="144463" y="65486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08075" y="4115989"/>
                  <a:ext cx="77787" cy="43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43261">
                      <a:moveTo>
                        <a:pt x="0" y="21036"/>
                      </a:moveTo>
                      <a:lnTo>
                        <a:pt x="11112" y="9923"/>
                      </a:lnTo>
                      <a:cubicBezTo>
                        <a:pt x="21425" y="0"/>
                        <a:pt x="34138" y="0"/>
                        <a:pt x="44450" y="9923"/>
                      </a:cubicBezTo>
                      <a:lnTo>
                        <a:pt x="77787" y="4326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503045" y="38985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草稿图与终稿图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508760" y="4232910"/>
                <a:ext cx="20627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豆包草稿图 + OpenAI 终稿图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3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22008" y="4834414"/>
                <a:ext cx="37728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把结构图进一步包装成论文或汇报可用的方法图。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4381500" y="3619500"/>
              <a:ext cx="3853339" cy="1809750"/>
              <a:chOff x="4381500" y="3619500"/>
              <a:chExt cx="3853339" cy="18097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8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464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95838" y="4025438"/>
                <a:ext cx="200025" cy="178262"/>
                <a:chOff x="4795838" y="4025438"/>
                <a:chExt cx="200025" cy="178262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962525" y="40703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0"/>
                      </a:moveTo>
                      <a:cubicBezTo>
                        <a:pt x="18412" y="0"/>
                        <a:pt x="33338" y="14926"/>
                        <a:pt x="33338" y="33338"/>
                      </a:cubicBezTo>
                      <a:cubicBezTo>
                        <a:pt x="33338" y="51749"/>
                        <a:pt x="18412" y="66675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40288" y="4070350"/>
                  <a:ext cx="333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33350">
                      <a:moveTo>
                        <a:pt x="33338" y="0"/>
                      </a:moveTo>
                      <a:lnTo>
                        <a:pt x="33338" y="122238"/>
                      </a:lnTo>
                      <a:cubicBezTo>
                        <a:pt x="33338" y="128375"/>
                        <a:pt x="28362" y="133350"/>
                        <a:pt x="22225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795838" y="4025438"/>
                  <a:ext cx="166689" cy="1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9" h="156500">
                      <a:moveTo>
                        <a:pt x="100012" y="44912"/>
                      </a:moveTo>
                      <a:lnTo>
                        <a:pt x="150285" y="3018"/>
                      </a:lnTo>
                      <a:cubicBezTo>
                        <a:pt x="153268" y="534"/>
                        <a:pt x="157418" y="0"/>
                        <a:pt x="160932" y="1648"/>
                      </a:cubicBezTo>
                      <a:cubicBezTo>
                        <a:pt x="164446" y="3295"/>
                        <a:pt x="166689" y="6827"/>
                        <a:pt x="166688" y="10708"/>
                      </a:cubicBezTo>
                      <a:lnTo>
                        <a:pt x="166688" y="145792"/>
                      </a:lnTo>
                      <a:cubicBezTo>
                        <a:pt x="166689" y="149673"/>
                        <a:pt x="164446" y="153205"/>
                        <a:pt x="160932" y="154852"/>
                      </a:cubicBezTo>
                      <a:cubicBezTo>
                        <a:pt x="157418" y="156500"/>
                        <a:pt x="153268" y="155965"/>
                        <a:pt x="150285" y="153482"/>
                      </a:cubicBezTo>
                      <a:lnTo>
                        <a:pt x="100012" y="111587"/>
                      </a:lnTo>
                      <a:lnTo>
                        <a:pt x="11113" y="111587"/>
                      </a:lnTo>
                      <a:cubicBezTo>
                        <a:pt x="4975" y="111587"/>
                        <a:pt x="0" y="106612"/>
                        <a:pt x="0" y="100475"/>
                      </a:cubicBezTo>
                      <a:lnTo>
                        <a:pt x="0" y="56025"/>
                      </a:lnTo>
                      <a:cubicBezTo>
                        <a:pt x="0" y="49888"/>
                        <a:pt x="4975" y="44912"/>
                        <a:pt x="11113" y="44912"/>
                      </a:cubicBezTo>
                      <a:lnTo>
                        <a:pt x="100012" y="44912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531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终稿图讲解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318760" y="4232910"/>
                <a:ext cx="24707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分段脚本、TTS、光标坐标、WebM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464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632008" y="483441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输出不止是静态图，也能变成可播放讲解材料。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191500" y="3619500"/>
              <a:ext cx="4354902" cy="1809750"/>
              <a:chOff x="8191500" y="3619500"/>
              <a:chExt cx="4354902" cy="18097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819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45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628062" y="4014788"/>
                <a:ext cx="177800" cy="211138"/>
                <a:chOff x="8628062" y="4014788"/>
                <a:chExt cx="177800" cy="211138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8728075" y="4014788"/>
                  <a:ext cx="55562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2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2"/>
                        <a:pt x="11112" y="55562"/>
                      </a:cubicBezTo>
                      <a:lnTo>
                        <a:pt x="55562" y="555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628062" y="4014788"/>
                  <a:ext cx="177800" cy="21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8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2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3"/>
                      </a:moveTo>
                      <a:lnTo>
                        <a:pt x="177800" y="177800"/>
                      </a:lnTo>
                      <a:lnTo>
                        <a:pt x="144462" y="2111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912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下载与演示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128760" y="423291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SVG、JSON、Mermaid、图像、WebM</a:t>
                </a:r>
              </a:p>
            </p:txBody>
          </p:sp>
          <p:sp>
            <p:nvSpPr>
              <p:cNvPr id="76" name="Line 76"/>
              <p:cNvSpPr/>
              <p:nvPr/>
            </p:nvSpPr>
            <p:spPr>
              <a:xfrm>
                <a:off x="845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42008" y="4834414"/>
                <a:ext cx="410439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Mock 模式保证课堂演示时即使无 key 也能跑通闭环。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798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Capability Map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32435"/>
            <a:ext cx="6190202" cy="743903"/>
            <a:chOff x="537210" y="432435"/>
            <a:chExt cx="619020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3243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产品问题反推科研任务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02018"/>
              <a:ext cx="61730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只有把产品问题形式化为“结构恢复”，才能解释为什么必须联合草图和语音。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0092" y="1785461"/>
            <a:ext cx="3878580" cy="3131820"/>
            <a:chOff x="740092" y="1785461"/>
            <a:chExt cx="3878580" cy="3131820"/>
          </a:xfrm>
        </p:grpSpPr>
        <p:sp>
          <p:nvSpPr>
            <p:cNvPr id="6" name="TextBox 6"/>
            <p:cNvSpPr txBox="1"/>
            <p:nvPr/>
          </p:nvSpPr>
          <p:spPr>
            <a:xfrm>
              <a:off x="740092" y="1785461"/>
              <a:ext cx="2791254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我们要恢复的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0092" y="2356961"/>
              <a:ext cx="3242810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不是一张图片，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0092" y="2928461"/>
              <a:ext cx="2791254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而是可编辑的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0092" y="3499961"/>
              <a:ext cx="2339697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25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知识结构。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4305300"/>
              <a:ext cx="371475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2002" y="4627721"/>
              <a:ext cx="38366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这就是从产品故事进入科研问题的关键转折。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19750" y="1600200"/>
            <a:ext cx="6338068" cy="3714750"/>
            <a:chOff x="5619750" y="1600200"/>
            <a:chExt cx="6338068" cy="3714750"/>
          </a:xfrm>
        </p:grpSpPr>
        <p:sp>
          <p:nvSpPr>
            <p:cNvPr id="13" name="Rectangle 13"/>
            <p:cNvSpPr/>
            <p:nvPr/>
          </p:nvSpPr>
          <p:spPr>
            <a:xfrm>
              <a:off x="5619750" y="1600200"/>
              <a:ext cx="5715000" cy="371475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1430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5905500" y="1885950"/>
              <a:ext cx="552450" cy="552450"/>
            </a:xfrm>
            <a:prstGeom prst="roundRect">
              <a:avLst>
                <a:gd name="adj" fmla="val 13793"/>
              </a:avLst>
            </a:prstGeom>
            <a:solidFill>
              <a:srgbClr val="E0F2FE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067425" y="2047875"/>
              <a:ext cx="228600" cy="228600"/>
              <a:chOff x="6067425" y="2047875"/>
              <a:chExt cx="228600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169025" y="214947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118225" y="20986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67425" y="20478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644640" y="2015490"/>
              <a:ext cx="5313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Speech-Guided Sketch-to-Knowledge-Graph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1308" y="23579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语音引导的知识草图结构化任务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905500" y="27813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74092" y="3014186"/>
              <a:ext cx="139638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Input: S + 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78855" y="33785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手绘草图提供空间结构，同步语音提供语义锚点。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38481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74092" y="4138136"/>
              <a:ext cx="27731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Output: G_hat = (V, E)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78855" y="45024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节点包含标签、语义类型、解释和置信度。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78855" y="48072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边包含方向、关系类型、关系标签和置信度。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560070" y="6379845"/>
              <a:ext cx="19190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Problem Definition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系统架构：前端交互、后端服务和模型能力分层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77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产品闭环由浏览器工作台、FastAPI 接口、结构化模型、图像与语音服务共同完成。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1409700"/>
            <a:ext cx="10963276" cy="4495800"/>
            <a:chOff x="838200" y="1409700"/>
            <a:chExt cx="10963276" cy="4495800"/>
          </a:xfrm>
        </p:grpSpPr>
        <p:grpSp>
          <p:nvGrpSpPr>
            <p:cNvPr id="15" name="Group 15"/>
            <p:cNvGrpSpPr/>
            <p:nvPr/>
          </p:nvGrpSpPr>
          <p:grpSpPr>
            <a:xfrm>
              <a:off x="838200" y="1409700"/>
              <a:ext cx="10515600" cy="914400"/>
              <a:chOff x="838200" y="1409700"/>
              <a:chExt cx="1051560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38200" y="1409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66800" y="1638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14438" y="1778000"/>
                <a:ext cx="200025" cy="187325"/>
                <a:chOff x="1214438" y="177800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214438" y="17780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58888" y="19558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81112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47788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827848" y="15825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前端工作台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31658" y="1919764"/>
                <a:ext cx="46229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画布、录音、上传、标签页预览、下载、讲解播放和光标动画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2552700"/>
              <a:ext cx="10963276" cy="914400"/>
              <a:chOff x="838200" y="2552700"/>
              <a:chExt cx="10963276" cy="914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2552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66800" y="2781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14438" y="2921000"/>
                <a:ext cx="200025" cy="177800"/>
                <a:chOff x="1214438" y="2921000"/>
                <a:chExt cx="200025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14438" y="29210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14438" y="30099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58888" y="2965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58888" y="3054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827848" y="2725579"/>
                <a:ext cx="156164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FastAPI 服务层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32610" y="3070860"/>
                <a:ext cx="42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/api/generate /api/render-image /api/narrate-image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708708" y="300561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统一接收草图、音频、文本和结构化结果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8200" y="3695700"/>
              <a:ext cx="10515600" cy="1066800"/>
              <a:chOff x="838200" y="3695700"/>
              <a:chExt cx="1051560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" y="3695700"/>
                <a:ext cx="105156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66800" y="398145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4438" y="4110038"/>
                <a:ext cx="200025" cy="200025"/>
                <a:chOff x="1214438" y="4110038"/>
                <a:chExt cx="20002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214438" y="41100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347788" y="4143375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258888" y="41100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70012" y="422116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27848" y="383047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模型与生成服务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31658" y="4167664"/>
                <a:ext cx="6187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ASR 转写、多模态结构化、豆包草稿图、OpenAI 终稿图、OpenAI/豆包/Mock TTS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847850" y="4457700"/>
                <a:ext cx="1619250" cy="209550"/>
              </a:xfrm>
              <a:prstGeom prst="roundRect">
                <a:avLst>
                  <a:gd name="adj" fmla="val 36364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216039" y="4504849"/>
                <a:ext cx="882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mock fallback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38200" y="4991100"/>
              <a:ext cx="10515600" cy="914400"/>
              <a:chOff x="838200" y="4991100"/>
              <a:chExt cx="10515600" cy="914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8200" y="49911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66800" y="52197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236662" y="5348288"/>
                <a:ext cx="177800" cy="211137"/>
                <a:chOff x="1236662" y="5348288"/>
                <a:chExt cx="177800" cy="21113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336675" y="5348288"/>
                  <a:ext cx="55562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2" y="55563"/>
                      </a:cubicBezTo>
                      <a:lnTo>
                        <a:pt x="55562" y="55563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36662" y="5348288"/>
                  <a:ext cx="177800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7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2"/>
                      </a:moveTo>
                      <a:lnTo>
                        <a:pt x="177800" y="177800"/>
                      </a:lnTo>
                      <a:lnTo>
                        <a:pt x="144462" y="211137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827848" y="516397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输出与导出层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831658" y="5501164"/>
                <a:ext cx="48099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Mermaid、SVG、JSON、AI 图像、讲解音频、浏览器录制 WebM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915400" y="1695450"/>
            <a:ext cx="2000250" cy="4057650"/>
            <a:chOff x="8915400" y="1695450"/>
            <a:chExt cx="2000250" cy="4057650"/>
          </a:xfrm>
        </p:grpSpPr>
        <p:sp>
          <p:nvSpPr>
            <p:cNvPr id="48" name="Rectangle 48"/>
            <p:cNvSpPr/>
            <p:nvPr/>
          </p:nvSpPr>
          <p:spPr>
            <a:xfrm>
              <a:off x="8915400" y="169545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8201" y="18326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用户看到的是闭环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15400" y="533400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12212" y="5471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系统内部是分层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619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Architecture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213673" cy="743903"/>
            <a:chOff x="537210" y="394335"/>
            <a:chExt cx="721367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2136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MMSB-Graph：让产品输出可解释、可修复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它不是替代产品，而是让产品生成的知识图更可靠、更可诊断。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90550" y="2000250"/>
            <a:ext cx="11010900" cy="2428875"/>
            <a:chOff x="590550" y="2000250"/>
            <a:chExt cx="11010900" cy="2428875"/>
          </a:xfrm>
        </p:grpSpPr>
        <p:sp>
          <p:nvSpPr>
            <p:cNvPr id="6" name="Line 6"/>
            <p:cNvSpPr/>
            <p:nvPr/>
          </p:nvSpPr>
          <p:spPr>
            <a:xfrm>
              <a:off x="1428750" y="3352800"/>
              <a:ext cx="9334500" cy="1"/>
            </a:xfrm>
            <a:prstGeom prst="line">
              <a:avLst/>
            </a:pr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90550" y="2000250"/>
              <a:ext cx="1962150" cy="2428875"/>
              <a:chOff x="590550" y="2000250"/>
              <a:chExt cx="1962150" cy="24288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90550" y="2000250"/>
                <a:ext cx="1962150" cy="2428875"/>
              </a:xfrm>
              <a:prstGeom prst="roundRect">
                <a:avLst>
                  <a:gd name="adj" fmla="val 388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2008" y="22626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1768466" y="2225675"/>
                <a:ext cx="215909" cy="215900"/>
                <a:chOff x="1768466" y="2225675"/>
                <a:chExt cx="215909" cy="2159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822450" y="2279650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148431" y="3616"/>
                      </a:moveTo>
                      <a:cubicBezTo>
                        <a:pt x="156781" y="8437"/>
                        <a:pt x="161925" y="17346"/>
                        <a:pt x="161925" y="26987"/>
                      </a:cubicBezTo>
                      <a:lnTo>
                        <a:pt x="161925" y="134937"/>
                      </a:lnTo>
                      <a:cubicBezTo>
                        <a:pt x="161925" y="149842"/>
                        <a:pt x="149842" y="161925"/>
                        <a:pt x="134937" y="161925"/>
                      </a:cubicBezTo>
                      <a:lnTo>
                        <a:pt x="26987" y="161925"/>
                      </a:lnTo>
                      <a:cubicBezTo>
                        <a:pt x="12083" y="161925"/>
                        <a:pt x="0" y="149842"/>
                        <a:pt x="0" y="134937"/>
                      </a:cubicBezTo>
                      <a:lnTo>
                        <a:pt x="0" y="26987"/>
                      </a:lnTo>
                      <a:cubicBezTo>
                        <a:pt x="0" y="12083"/>
                        <a:pt x="12083" y="0"/>
                        <a:pt x="26987" y="0"/>
                      </a:cubicBezTo>
                      <a:lnTo>
                        <a:pt x="67469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768466" y="2225675"/>
                  <a:ext cx="161934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34" h="161925">
                      <a:moveTo>
                        <a:pt x="13503" y="158336"/>
                      </a:moveTo>
                      <a:cubicBezTo>
                        <a:pt x="5145" y="153510"/>
                        <a:pt x="0" y="144589"/>
                        <a:pt x="9" y="134938"/>
                      </a:cubicBezTo>
                      <a:lnTo>
                        <a:pt x="9" y="26988"/>
                      </a:lnTo>
                      <a:cubicBezTo>
                        <a:pt x="9" y="12083"/>
                        <a:pt x="12092" y="0"/>
                        <a:pt x="26997" y="0"/>
                      </a:cubicBezTo>
                      <a:lnTo>
                        <a:pt x="134947" y="0"/>
                      </a:lnTo>
                      <a:cubicBezTo>
                        <a:pt x="149852" y="0"/>
                        <a:pt x="161934" y="12083"/>
                        <a:pt x="161934" y="26988"/>
                      </a:cubicBezTo>
                      <a:lnTo>
                        <a:pt x="161934" y="134938"/>
                      </a:lnTo>
                      <a:cubicBezTo>
                        <a:pt x="161934" y="149842"/>
                        <a:pt x="149852" y="161925"/>
                        <a:pt x="134947" y="161925"/>
                      </a:cubicBezTo>
                      <a:lnTo>
                        <a:pt x="94466" y="16192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817245" y="26984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多模态观测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22008" y="3119914"/>
                <a:ext cx="8824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草图给结构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22008" y="3405664"/>
                <a:ext cx="8824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语音给语义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4865" y="3906202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S, U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781300" y="2000250"/>
              <a:ext cx="1962150" cy="2428875"/>
              <a:chOff x="2781300" y="2000250"/>
              <a:chExt cx="1962150" cy="24288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781300" y="2000250"/>
                <a:ext cx="1962150" cy="2428875"/>
              </a:xfrm>
              <a:prstGeom prst="roundRect">
                <a:avLst>
                  <a:gd name="adj" fmla="val 388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012758" y="22626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3945731" y="2212181"/>
                <a:ext cx="242887" cy="256382"/>
                <a:chOff x="3945731" y="2212181"/>
                <a:chExt cx="242887" cy="25638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986212" y="221218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2"/>
                      </a:moveTo>
                      <a:cubicBezTo>
                        <a:pt x="0" y="125677"/>
                        <a:pt x="36248" y="161925"/>
                        <a:pt x="80962" y="161925"/>
                      </a:cubicBezTo>
                      <a:cubicBezTo>
                        <a:pt x="125677" y="161925"/>
                        <a:pt x="161925" y="125677"/>
                        <a:pt x="161925" y="80962"/>
                      </a:cubicBezTo>
                      <a:cubicBezTo>
                        <a:pt x="161925" y="36248"/>
                        <a:pt x="125677" y="0"/>
                        <a:pt x="80962" y="0"/>
                      </a:cubicBezTo>
                      <a:cubicBezTo>
                        <a:pt x="36248" y="0"/>
                        <a:pt x="0" y="36248"/>
                        <a:pt x="0" y="80962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067175" y="2212181"/>
                  <a:ext cx="26987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7" h="161925">
                      <a:moveTo>
                        <a:pt x="0" y="0"/>
                      </a:moveTo>
                      <a:cubicBezTo>
                        <a:pt x="17987" y="4493"/>
                        <a:pt x="26987" y="31481"/>
                        <a:pt x="26987" y="80962"/>
                      </a:cubicBezTo>
                      <a:cubicBezTo>
                        <a:pt x="26987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040188" y="2212181"/>
                  <a:ext cx="26987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7" h="161925">
                      <a:moveTo>
                        <a:pt x="26987" y="0"/>
                      </a:moveTo>
                      <a:cubicBezTo>
                        <a:pt x="9000" y="4493"/>
                        <a:pt x="0" y="31481"/>
                        <a:pt x="0" y="80962"/>
                      </a:cubicBezTo>
                      <a:cubicBezTo>
                        <a:pt x="0" y="130444"/>
                        <a:pt x="9000" y="157432"/>
                        <a:pt x="26987" y="1619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986212" y="229314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945731" y="2441575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094162" y="2441575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040188" y="24145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067175" y="2374106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007995" y="26984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条件图构建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012758" y="3119914"/>
                <a:ext cx="96750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草图图 `Gs`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12758" y="3405664"/>
                <a:ext cx="96750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语音图 `Gu`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015615" y="3906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candidate graphs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972050" y="2000250"/>
              <a:ext cx="1962150" cy="2428875"/>
              <a:chOff x="4972050" y="2000250"/>
              <a:chExt cx="1962150" cy="242887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972050" y="2000250"/>
                <a:ext cx="1962150" cy="2428875"/>
              </a:xfrm>
              <a:prstGeom prst="roundRect">
                <a:avLst>
                  <a:gd name="adj" fmla="val 3883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203508" y="22626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6149966" y="2225675"/>
                <a:ext cx="215909" cy="215900"/>
                <a:chOff x="6149966" y="2225675"/>
                <a:chExt cx="215909" cy="21590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203950" y="2279650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148431" y="3616"/>
                      </a:moveTo>
                      <a:cubicBezTo>
                        <a:pt x="156781" y="8437"/>
                        <a:pt x="161925" y="17346"/>
                        <a:pt x="161925" y="26987"/>
                      </a:cubicBezTo>
                      <a:lnTo>
                        <a:pt x="161925" y="134937"/>
                      </a:lnTo>
                      <a:cubicBezTo>
                        <a:pt x="161925" y="149842"/>
                        <a:pt x="149842" y="161925"/>
                        <a:pt x="134937" y="161925"/>
                      </a:cubicBezTo>
                      <a:lnTo>
                        <a:pt x="26987" y="161925"/>
                      </a:lnTo>
                      <a:cubicBezTo>
                        <a:pt x="12083" y="161925"/>
                        <a:pt x="0" y="149842"/>
                        <a:pt x="0" y="134937"/>
                      </a:cubicBezTo>
                      <a:lnTo>
                        <a:pt x="0" y="26987"/>
                      </a:lnTo>
                      <a:cubicBezTo>
                        <a:pt x="0" y="12083"/>
                        <a:pt x="12083" y="0"/>
                        <a:pt x="26987" y="0"/>
                      </a:cubicBezTo>
                      <a:lnTo>
                        <a:pt x="67469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149966" y="2225675"/>
                  <a:ext cx="161934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34" h="161925">
                      <a:moveTo>
                        <a:pt x="13503" y="158336"/>
                      </a:moveTo>
                      <a:cubicBezTo>
                        <a:pt x="5145" y="153510"/>
                        <a:pt x="0" y="144589"/>
                        <a:pt x="9" y="134938"/>
                      </a:cubicBezTo>
                      <a:lnTo>
                        <a:pt x="9" y="26988"/>
                      </a:lnTo>
                      <a:cubicBezTo>
                        <a:pt x="9" y="12083"/>
                        <a:pt x="12092" y="0"/>
                        <a:pt x="26997" y="0"/>
                      </a:cubicBezTo>
                      <a:lnTo>
                        <a:pt x="134947" y="0"/>
                      </a:lnTo>
                      <a:cubicBezTo>
                        <a:pt x="149852" y="0"/>
                        <a:pt x="161934" y="12083"/>
                        <a:pt x="161934" y="26988"/>
                      </a:cubicBezTo>
                      <a:lnTo>
                        <a:pt x="161934" y="134938"/>
                      </a:lnTo>
                      <a:cubicBezTo>
                        <a:pt x="161934" y="149842"/>
                        <a:pt x="149852" y="161925"/>
                        <a:pt x="134947" y="161925"/>
                      </a:cubicBezTo>
                      <a:lnTo>
                        <a:pt x="94466" y="1619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5198745" y="26984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融合候选图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203508" y="3119914"/>
                <a:ext cx="12225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结构与语义对齐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203508" y="3405664"/>
                <a:ext cx="11375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生成初始 `Gf`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206365" y="3906202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162800" y="2000250"/>
              <a:ext cx="1962150" cy="2428875"/>
              <a:chOff x="7162800" y="2000250"/>
              <a:chExt cx="1962150" cy="2428875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162800" y="2000250"/>
                <a:ext cx="1962150" cy="2428875"/>
              </a:xfrm>
              <a:prstGeom prst="roundRect">
                <a:avLst>
                  <a:gd name="adj" fmla="val 388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394258" y="22626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8354219" y="2225675"/>
                <a:ext cx="202405" cy="215900"/>
                <a:chOff x="8354219" y="2225675"/>
                <a:chExt cx="202405" cy="21590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8354219" y="2387600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354219" y="2225675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489156" y="2225675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381206" y="2279650"/>
                  <a:ext cx="9525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7950">
                      <a:moveTo>
                        <a:pt x="0" y="0"/>
                      </a:moveTo>
                      <a:lnTo>
                        <a:pt x="0" y="1079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408194" y="2320131"/>
                  <a:ext cx="107950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94456">
                      <a:moveTo>
                        <a:pt x="0" y="94456"/>
                      </a:moveTo>
                      <a:lnTo>
                        <a:pt x="80962" y="94456"/>
                      </a:lnTo>
                      <a:cubicBezTo>
                        <a:pt x="95867" y="94456"/>
                        <a:pt x="107950" y="82374"/>
                        <a:pt x="107950" y="67469"/>
                      </a:cubicBezTo>
                      <a:lnTo>
                        <a:pt x="1079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475662" y="2320131"/>
                  <a:ext cx="80962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40481">
                      <a:moveTo>
                        <a:pt x="0" y="40481"/>
                      </a:moveTo>
                      <a:lnTo>
                        <a:pt x="40481" y="0"/>
                      </a:lnTo>
                      <a:lnTo>
                        <a:pt x="80962" y="4048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7389495" y="26984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图编辑桥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394258" y="31199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插入、删除、修正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94258" y="340566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记录每步代价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97115" y="3906202"/>
                <a:ext cx="6497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edit path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353550" y="2000250"/>
              <a:ext cx="2247900" cy="2428875"/>
              <a:chOff x="9353550" y="2000250"/>
              <a:chExt cx="2247900" cy="2428875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9353550" y="2000250"/>
                <a:ext cx="2247900" cy="2428875"/>
              </a:xfrm>
              <a:prstGeom prst="roundRect">
                <a:avLst>
                  <a:gd name="adj" fmla="val 339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585008" y="22626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0735469" y="2212181"/>
                <a:ext cx="215900" cy="256381"/>
                <a:chOff x="10735469" y="2212181"/>
                <a:chExt cx="215900" cy="256381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10856912" y="2212181"/>
                  <a:ext cx="67469" cy="67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67469">
                      <a:moveTo>
                        <a:pt x="0" y="0"/>
                      </a:moveTo>
                      <a:lnTo>
                        <a:pt x="0" y="53975"/>
                      </a:lnTo>
                      <a:cubicBezTo>
                        <a:pt x="0" y="61427"/>
                        <a:pt x="6041" y="67469"/>
                        <a:pt x="13494" y="67469"/>
                      </a:cubicBezTo>
                      <a:lnTo>
                        <a:pt x="67469" y="67469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735469" y="2212181"/>
                  <a:ext cx="215900" cy="256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256381">
                      <a:moveTo>
                        <a:pt x="87709" y="242888"/>
                      </a:moveTo>
                      <a:lnTo>
                        <a:pt x="26988" y="242888"/>
                      </a:lnTo>
                      <a:cubicBezTo>
                        <a:pt x="12083" y="242888"/>
                        <a:pt x="0" y="230805"/>
                        <a:pt x="0" y="215900"/>
                      </a:cubicBez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121444" y="0"/>
                      </a:lnTo>
                      <a:lnTo>
                        <a:pt x="188913" y="67469"/>
                      </a:lnTo>
                      <a:lnTo>
                        <a:pt x="188913" y="134937"/>
                      </a:lnTo>
                      <a:moveTo>
                        <a:pt x="121444" y="215900"/>
                      </a:moveTo>
                      <a:lnTo>
                        <a:pt x="215900" y="215900"/>
                      </a:lnTo>
                      <a:moveTo>
                        <a:pt x="175419" y="175419"/>
                      </a:moveTo>
                      <a:lnTo>
                        <a:pt x="215900" y="215900"/>
                      </a:lnTo>
                      <a:lnTo>
                        <a:pt x="175419" y="25638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9580245" y="26984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可编辑知识图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585008" y="3119914"/>
                <a:ext cx="8824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结构可解释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585008" y="3405664"/>
                <a:ext cx="8824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错误可定位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587865" y="390620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Mermaid / JSON / SVG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1809750" y="5143500"/>
            <a:ext cx="8572500" cy="552450"/>
            <a:chOff x="1809750" y="5143500"/>
            <a:chExt cx="8572500" cy="552450"/>
          </a:xfrm>
        </p:grpSpPr>
        <p:sp>
          <p:nvSpPr>
            <p:cNvPr id="68" name="Rectangle 68"/>
            <p:cNvSpPr/>
            <p:nvPr/>
          </p:nvSpPr>
          <p:spPr>
            <a:xfrm>
              <a:off x="1809750" y="5143500"/>
              <a:ext cx="8572500" cy="552450"/>
            </a:xfrm>
            <a:prstGeom prst="roundRect">
              <a:avLst>
                <a:gd name="adj" fmla="val 13793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690472" y="5308282"/>
              <a:ext cx="68110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从产品角度看，MMSB-Graph 是“减少用户修改成本”的方法层设计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60070" y="6379845"/>
              <a:ext cx="2147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MMSB-Graph Overview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117336" cy="743903"/>
            <a:chOff x="537210" y="394335"/>
            <a:chExt cx="6117336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1173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三种中间图：把不完整信息显式拆开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48768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`Gs`、`Gu`、`Gf` 让产品调试从黑箱输出变成可观察过程。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" y="1504950"/>
            <a:ext cx="10688955" cy="3905250"/>
            <a:chOff x="781050" y="1504950"/>
            <a:chExt cx="10688955" cy="3905250"/>
          </a:xfrm>
        </p:grpSpPr>
        <p:grpSp>
          <p:nvGrpSpPr>
            <p:cNvPr id="18" name="Group 18"/>
            <p:cNvGrpSpPr/>
            <p:nvPr/>
          </p:nvGrpSpPr>
          <p:grpSpPr>
            <a:xfrm>
              <a:off x="781050" y="1504950"/>
              <a:ext cx="3143250" cy="3905250"/>
              <a:chOff x="781050" y="1504950"/>
              <a:chExt cx="3143250" cy="3905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81050" y="1504950"/>
                <a:ext cx="3143250" cy="3905250"/>
              </a:xfrm>
              <a:prstGeom prst="roundRect">
                <a:avLst>
                  <a:gd name="adj" fmla="val 242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525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781050" y="1504950"/>
                <a:ext cx="3143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152525" y="1825866"/>
                <a:ext cx="260109" cy="260109"/>
                <a:chOff x="1152525" y="1825866"/>
                <a:chExt cx="260109" cy="260109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152525" y="1825866"/>
                  <a:ext cx="260109" cy="260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09" h="260109">
                      <a:moveTo>
                        <a:pt x="0" y="260109"/>
                      </a:moveTo>
                      <a:lnTo>
                        <a:pt x="66675" y="260109"/>
                      </a:lnTo>
                      <a:lnTo>
                        <a:pt x="241697" y="85087"/>
                      </a:lnTo>
                      <a:cubicBezTo>
                        <a:pt x="260109" y="66675"/>
                        <a:pt x="260109" y="36824"/>
                        <a:pt x="241697" y="18412"/>
                      </a:cubicBezTo>
                      <a:cubicBezTo>
                        <a:pt x="223285" y="0"/>
                        <a:pt x="193434" y="0"/>
                        <a:pt x="175022" y="18412"/>
                      </a:cubicBezTo>
                      <a:lnTo>
                        <a:pt x="0" y="193434"/>
                      </a:lnTo>
                      <a:lnTo>
                        <a:pt x="0" y="260109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310878" y="1860947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649730" y="17449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Gs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59255" y="206406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66800" y="27336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优势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8705" y="3092768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保留模块位置和空间结构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8705" y="3397568"/>
                <a:ext cx="21945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能表达分支、上下游、闭环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6800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缺口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8705" y="4311968"/>
                <a:ext cx="25546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标签不稳、语义弱、方向可能错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524375" y="1504950"/>
              <a:ext cx="3143250" cy="3905250"/>
              <a:chOff x="4524375" y="1504950"/>
              <a:chExt cx="3143250" cy="3905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524375" y="1504950"/>
                <a:ext cx="3143250" cy="3905250"/>
              </a:xfrm>
              <a:prstGeom prst="roundRect">
                <a:avLst>
                  <a:gd name="adj" fmla="val 242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525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524375" y="1504950"/>
                <a:ext cx="3143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912519" y="1785938"/>
                <a:ext cx="233362" cy="326231"/>
                <a:chOff x="4912519" y="1785938"/>
                <a:chExt cx="233362" cy="326231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979194" y="1785938"/>
                  <a:ext cx="100012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83356">
                      <a:moveTo>
                        <a:pt x="0" y="50006"/>
                      </a:moveTo>
                      <a:cubicBezTo>
                        <a:pt x="0" y="22389"/>
                        <a:pt x="22389" y="0"/>
                        <a:pt x="50006" y="0"/>
                      </a:cubicBezTo>
                      <a:cubicBezTo>
                        <a:pt x="77624" y="0"/>
                        <a:pt x="100012" y="22389"/>
                        <a:pt x="100012" y="50006"/>
                      </a:cubicBezTo>
                      <a:lnTo>
                        <a:pt x="100012" y="133350"/>
                      </a:lnTo>
                      <a:cubicBezTo>
                        <a:pt x="100012" y="160968"/>
                        <a:pt x="77624" y="183356"/>
                        <a:pt x="50006" y="183356"/>
                      </a:cubicBezTo>
                      <a:cubicBezTo>
                        <a:pt x="22389" y="183356"/>
                        <a:pt x="0" y="160968"/>
                        <a:pt x="0" y="133350"/>
                      </a:cubicBez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912519" y="1919288"/>
                  <a:ext cx="23336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16681">
                      <a:moveTo>
                        <a:pt x="0" y="0"/>
                      </a:moveTo>
                      <a:cubicBezTo>
                        <a:pt x="0" y="64441"/>
                        <a:pt x="52240" y="116681"/>
                        <a:pt x="116681" y="116681"/>
                      </a:cubicBezTo>
                      <a:cubicBezTo>
                        <a:pt x="181123" y="116681"/>
                        <a:pt x="233362" y="64441"/>
                        <a:pt x="233362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962525" y="2102644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029200" y="2035969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393055" y="17449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Gu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02580" y="206406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10125" y="27336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优势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12030" y="3092768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节点命名和语义更完整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12030" y="3397568"/>
                <a:ext cx="2374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能补充顺序、因果和设计意图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810125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缺口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12030" y="4311968"/>
                <a:ext cx="2374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缺少二维布局，难直接变成图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267700" y="1504950"/>
              <a:ext cx="3202305" cy="3905250"/>
              <a:chOff x="8267700" y="1504950"/>
              <a:chExt cx="3202305" cy="39052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267700" y="1504950"/>
                <a:ext cx="3143250" cy="3905250"/>
              </a:xfrm>
              <a:prstGeom prst="roundRect">
                <a:avLst>
                  <a:gd name="adj" fmla="val 2424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525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267700" y="1504950"/>
                <a:ext cx="3143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639163" y="1819275"/>
                <a:ext cx="266712" cy="266700"/>
                <a:chOff x="8639163" y="1819275"/>
                <a:chExt cx="266712" cy="2667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05850" y="1885950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183356" y="4467"/>
                      </a:moveTo>
                      <a:cubicBezTo>
                        <a:pt x="193671" y="10422"/>
                        <a:pt x="200025" y="21427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83344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639163" y="1819275"/>
                  <a:ext cx="200037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37" h="200025">
                      <a:moveTo>
                        <a:pt x="16680" y="195591"/>
                      </a:moveTo>
                      <a:cubicBezTo>
                        <a:pt x="6356" y="189630"/>
                        <a:pt x="0" y="178609"/>
                        <a:pt x="12" y="166688"/>
                      </a:cubicBezTo>
                      <a:lnTo>
                        <a:pt x="12" y="33338"/>
                      </a:lnTo>
                      <a:cubicBezTo>
                        <a:pt x="12" y="14926"/>
                        <a:pt x="14937" y="0"/>
                        <a:pt x="33349" y="0"/>
                      </a:cubicBezTo>
                      <a:lnTo>
                        <a:pt x="166699" y="0"/>
                      </a:lnTo>
                      <a:cubicBezTo>
                        <a:pt x="185111" y="0"/>
                        <a:pt x="200037" y="14926"/>
                        <a:pt x="200037" y="33338"/>
                      </a:cubicBezTo>
                      <a:lnTo>
                        <a:pt x="200037" y="166688"/>
                      </a:lnTo>
                      <a:cubicBezTo>
                        <a:pt x="200037" y="185099"/>
                        <a:pt x="185111" y="200025"/>
                        <a:pt x="166699" y="200025"/>
                      </a:cubicBezTo>
                      <a:lnTo>
                        <a:pt x="116693" y="2000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136380" y="1744980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45905" y="206406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融合图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53450" y="27336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作用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555355" y="3092768"/>
                <a:ext cx="21945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把空间结构和语义锚点合并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555355" y="3397568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作为图编辑桥的初始候选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553450" y="39528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产品意义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55355" y="431196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可定位错误来自视觉、语音还是融合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3522176" y="5841682"/>
            <a:ext cx="5147648" cy="335280"/>
            <a:chOff x="3522176" y="5841682"/>
            <a:chExt cx="5147648" cy="335280"/>
          </a:xfrm>
        </p:grpSpPr>
        <p:sp>
          <p:nvSpPr>
            <p:cNvPr id="48" name="TextBox 48"/>
            <p:cNvSpPr txBox="1"/>
            <p:nvPr/>
          </p:nvSpPr>
          <p:spPr>
            <a:xfrm>
              <a:off x="3522176" y="5841682"/>
              <a:ext cx="51476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显式中间图让“模型为什么这么画”有了可解释入口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60070" y="6379845"/>
              <a:ext cx="2045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Intermediate Graphs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495383" cy="743903"/>
            <a:chOff x="537210" y="394335"/>
            <a:chExt cx="649538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图编辑桥：逐步恢复，而不是一次猜完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编辑路径让结构恢复过程可解释、可追踪、可评估修改代价。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66750" y="1790700"/>
            <a:ext cx="11049000" cy="1714500"/>
            <a:chOff x="666750" y="1790700"/>
            <a:chExt cx="11049000" cy="1714500"/>
          </a:xfrm>
        </p:grpSpPr>
        <p:grpSp>
          <p:nvGrpSpPr>
            <p:cNvPr id="14" name="Group 14"/>
            <p:cNvGrpSpPr/>
            <p:nvPr/>
          </p:nvGrpSpPr>
          <p:grpSpPr>
            <a:xfrm>
              <a:off x="666750" y="1790700"/>
              <a:ext cx="1714500" cy="1714500"/>
              <a:chOff x="666750" y="1790700"/>
              <a:chExt cx="1714500" cy="1714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66750" y="1790700"/>
                <a:ext cx="17145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362523" y="19964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  <p:sp>
            <p:nvSpPr>
              <p:cNvPr id="8" name="Ellipse 8"/>
              <p:cNvSpPr/>
              <p:nvPr/>
            </p:nvSpPr>
            <p:spPr>
              <a:xfrm>
                <a:off x="1104900" y="2590800"/>
                <a:ext cx="266700" cy="266700"/>
              </a:xfrm>
              <a:prstGeom prst="ellipse">
                <a:avLst/>
              </a:prstGeom>
              <a:solidFill>
                <a:srgbClr val="E0F2FE"/>
              </a:solidFill>
              <a:ln w="9525">
                <a:solidFill>
                  <a:srgbClr val="155E75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657350" y="2590800"/>
                <a:ext cx="266700" cy="266700"/>
              </a:xfrm>
              <a:prstGeom prst="ellipse">
                <a:avLst/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390650" y="2971800"/>
                <a:ext cx="266700" cy="266700"/>
              </a:xfrm>
              <a:prstGeom prst="ellipse">
                <a:avLst/>
              </a:prstGeom>
              <a:solidFill>
                <a:srgbClr val="FEF3C7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371600" y="27241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581150" y="2857500"/>
                <a:ext cx="2095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3350">
                    <a:moveTo>
                      <a:pt x="2095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08710" y="320421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融合候选图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24193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276600" y="1885950"/>
              <a:ext cx="1428750" cy="1524000"/>
              <a:chOff x="3276600" y="1885950"/>
              <a:chExt cx="1428750" cy="1524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276600" y="1885950"/>
                <a:ext cx="1428750" cy="15240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709197" y="2102168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edit 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51872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插入节点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01641" y="288845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补缺失概念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47434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600700" y="1885950"/>
              <a:ext cx="1428750" cy="1524000"/>
              <a:chOff x="5600700" y="1885950"/>
              <a:chExt cx="1428750" cy="1524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600700" y="1885950"/>
                <a:ext cx="1428750" cy="15240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33297" y="2102168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edit 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80986" y="25241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25741" y="288845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补流程关系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70675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924800" y="1885950"/>
              <a:ext cx="1619250" cy="1524000"/>
              <a:chOff x="7924800" y="1885950"/>
              <a:chExt cx="1619250" cy="1524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924800" y="1885950"/>
                <a:ext cx="161925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452647" y="2102168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edit 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95322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修正方向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70081" y="28884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纠正因果流向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9582150" y="2647950"/>
              <a:ext cx="7620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439400" y="1790700"/>
              <a:ext cx="1276350" cy="1714500"/>
              <a:chOff x="10439400" y="1790700"/>
              <a:chExt cx="1276350" cy="1714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439400" y="1790700"/>
                <a:ext cx="1276350" cy="1714500"/>
              </a:xfrm>
              <a:prstGeom prst="roundRect">
                <a:avLst>
                  <a:gd name="adj" fmla="val 5970"/>
                </a:avLst>
              </a:prstGeom>
              <a:solidFill>
                <a:srgbClr val="DCFCE7"/>
              </a:solidFill>
              <a:ln w="9525">
                <a:solidFill>
                  <a:srgbClr val="16A34A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916098" y="1996440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G*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10927556" y="2583656"/>
                <a:ext cx="300037" cy="316707"/>
                <a:chOff x="10927556" y="2583656"/>
                <a:chExt cx="300037" cy="316707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977562" y="2583656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1077575" y="2583656"/>
                  <a:ext cx="33338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200025">
                      <a:moveTo>
                        <a:pt x="0" y="0"/>
                      </a:moveTo>
                      <a:cubicBezTo>
                        <a:pt x="22219" y="5551"/>
                        <a:pt x="33338" y="38888"/>
                        <a:pt x="33338" y="100012"/>
                      </a:cubicBezTo>
                      <a:cubicBezTo>
                        <a:pt x="33338" y="161137"/>
                        <a:pt x="22219" y="194474"/>
                        <a:pt x="0" y="2000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044238" y="2583656"/>
                  <a:ext cx="33338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200025">
                      <a:moveTo>
                        <a:pt x="33338" y="0"/>
                      </a:moveTo>
                      <a:cubicBezTo>
                        <a:pt x="11118" y="5551"/>
                        <a:pt x="0" y="38888"/>
                        <a:pt x="0" y="100012"/>
                      </a:cubicBezTo>
                      <a:cubicBezTo>
                        <a:pt x="0" y="161137"/>
                        <a:pt x="11118" y="194474"/>
                        <a:pt x="33338" y="2000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977562" y="2683669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927556" y="2867025"/>
                  <a:ext cx="1166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81" h="9525">
                      <a:moveTo>
                        <a:pt x="0" y="0"/>
                      </a:moveTo>
                      <a:lnTo>
                        <a:pt x="116681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1110912" y="2867025"/>
                  <a:ext cx="1166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81" h="9525">
                      <a:moveTo>
                        <a:pt x="0" y="0"/>
                      </a:moveTo>
                      <a:lnTo>
                        <a:pt x="116681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1044238" y="28336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1077575" y="2783681"/>
                  <a:ext cx="9525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006">
                      <a:moveTo>
                        <a:pt x="0" y="0"/>
                      </a:move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0822305" y="3204210"/>
                <a:ext cx="5105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目标图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76300" y="4191000"/>
            <a:ext cx="10467976" cy="1219200"/>
            <a:chOff x="876300" y="4191000"/>
            <a:chExt cx="10467976" cy="1219200"/>
          </a:xfrm>
        </p:grpSpPr>
        <p:sp>
          <p:nvSpPr>
            <p:cNvPr id="48" name="Rectangle 48"/>
            <p:cNvSpPr/>
            <p:nvPr/>
          </p:nvSpPr>
          <p:spPr>
            <a:xfrm>
              <a:off x="876300" y="4191000"/>
              <a:ext cx="1043940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41095" y="441293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每一步都可以计算代价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000" y="4791075"/>
              <a:ext cx="7725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c(Gt, Gt+1) = structure + semantic + direction + layout - speech_coverage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4905" y="50930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E(G0:T) = 1/T Σ c(Gt, Gt+1)²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0555" y="4616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产品含义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51508" y="492966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可以追踪错误来源，估计用户修改负担。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379845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Graph Editing Bridge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072313" cy="743903"/>
            <a:chOff x="537210" y="394335"/>
            <a:chExt cx="707231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57392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数据与评测：用可控样例验证链路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055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评测不是只看图像好不好看，而是看结构是否正确、语音是否覆盖、修改成本是否下降。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1428750"/>
            <a:ext cx="3714750" cy="4191000"/>
            <a:chOff x="666750" y="1428750"/>
            <a:chExt cx="3714750" cy="419100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3714750" cy="4191000"/>
            </a:xfrm>
            <a:prstGeom prst="roundRect">
              <a:avLst>
                <a:gd name="adj" fmla="val 2051"/>
              </a:avLst>
            </a:prstGeom>
            <a:solidFill>
              <a:srgbClr val="155E75"/>
            </a:solidFill>
            <a:ln>
              <a:noFill/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82675" y="1864519"/>
              <a:ext cx="292100" cy="328612"/>
              <a:chOff x="1082675" y="1864519"/>
              <a:chExt cx="292100" cy="32861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82675" y="1864519"/>
                <a:ext cx="29210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09538">
                    <a:moveTo>
                      <a:pt x="0" y="54769"/>
                    </a:moveTo>
                    <a:cubicBezTo>
                      <a:pt x="0" y="85017"/>
                      <a:pt x="65389" y="109538"/>
                      <a:pt x="146050" y="109538"/>
                    </a:cubicBezTo>
                    <a:cubicBezTo>
                      <a:pt x="226711" y="109538"/>
                      <a:pt x="292100" y="85017"/>
                      <a:pt x="292100" y="54769"/>
                    </a:cubicBezTo>
                    <a:cubicBezTo>
                      <a:pt x="292100" y="24521"/>
                      <a:pt x="226711" y="0"/>
                      <a:pt x="146050" y="0"/>
                    </a:cubicBezTo>
                    <a:cubicBezTo>
                      <a:pt x="65389" y="0"/>
                      <a:pt x="0" y="24521"/>
                      <a:pt x="0" y="54769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82675" y="1919288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2675" y="2028825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51635" y="1884998"/>
              <a:ext cx="23430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24 个知识草图样例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9648" y="25922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覆盖结构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2505" y="2959418"/>
              <a:ext cx="26086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线性流程 / 分支结构 / 反馈闭环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2505" y="326421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模型架构图 / 实验流程图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9650" y="37528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CCFBF1">
                  <a:alpha val="5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9648" y="398287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每例包含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2505" y="4350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草图、语音、转写、标准节点边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2505" y="46548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语音锚点、草图区坐标、难度标签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2500" y="1428750"/>
            <a:ext cx="6477000" cy="3810000"/>
            <a:chOff x="4762500" y="1428750"/>
            <a:chExt cx="6477000" cy="3810000"/>
          </a:xfrm>
        </p:grpSpPr>
        <p:grpSp>
          <p:nvGrpSpPr>
            <p:cNvPr id="23" name="Group 23"/>
            <p:cNvGrpSpPr/>
            <p:nvPr/>
          </p:nvGrpSpPr>
          <p:grpSpPr>
            <a:xfrm>
              <a:off x="4762500" y="1428750"/>
              <a:ext cx="2000250" cy="1066800"/>
              <a:chOff x="4762500" y="1428750"/>
              <a:chExt cx="2000250" cy="1066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762500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988242" y="1623536"/>
                <a:ext cx="9133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Node F1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94910" y="2023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节点恢复是否正确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000875" y="1428750"/>
              <a:ext cx="2000250" cy="1066800"/>
              <a:chOff x="7000875" y="1428750"/>
              <a:chExt cx="2000250" cy="10668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00875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226618" y="1623536"/>
                <a:ext cx="9133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Edge F1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233285" y="20231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边关系是否完整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39250" y="1428750"/>
              <a:ext cx="2000250" cy="1066800"/>
              <a:chOff x="9239250" y="1428750"/>
              <a:chExt cx="2000250" cy="1066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239250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465945" y="1631632"/>
                <a:ext cx="10699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Direction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71660" y="2023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因果方向是否正确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762500" y="2800350"/>
              <a:ext cx="2000250" cy="1066800"/>
              <a:chOff x="4762500" y="2800350"/>
              <a:chExt cx="2000250" cy="1066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762500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988242" y="2995136"/>
                <a:ext cx="44234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GED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94910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离标准图还有多远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000875" y="2800350"/>
              <a:ext cx="2000250" cy="1066800"/>
              <a:chOff x="7000875" y="2800350"/>
              <a:chExt cx="2000250" cy="1066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000875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227570" y="30032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Speech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33285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语音语义覆盖程度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239250" y="2800350"/>
              <a:ext cx="2000250" cy="1066800"/>
              <a:chOff x="9239250" y="2800350"/>
              <a:chExt cx="2000250" cy="1066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239250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465945" y="30032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Layout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471660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草图布局保持程度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4762500" y="4171950"/>
              <a:ext cx="3114675" cy="1066800"/>
              <a:chOff x="4762500" y="4171950"/>
              <a:chExt cx="3114675" cy="10668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762500" y="4171950"/>
                <a:ext cx="3114675" cy="1066800"/>
              </a:xfrm>
              <a:prstGeom prst="roundRect">
                <a:avLst>
                  <a:gd name="adj" fmla="val 714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988242" y="4366736"/>
                <a:ext cx="11186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Edit Cost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93958" y="47582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用户还需要改多少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15300" y="4171950"/>
              <a:ext cx="3124200" cy="1066800"/>
              <a:chOff x="8115300" y="4171950"/>
              <a:chExt cx="3124200" cy="1066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115300" y="4171950"/>
                <a:ext cx="31242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341042" y="4366736"/>
                <a:ext cx="144469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Path Energy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46758" y="47582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修复过程是否自然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991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Evaluation Protocol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288340" cy="743903"/>
            <a:chOff x="537210" y="394335"/>
            <a:chExt cx="728834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实验结果：多模态编辑路径带来结构一致性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2711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在可控验证中，MMSB-Graph 同时提升节点、边和方向恢复，并把人工修改成本降到最低。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333500"/>
            <a:ext cx="11049000" cy="2190750"/>
            <a:chOff x="571500" y="1333500"/>
            <a:chExt cx="11049000" cy="21907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438150"/>
            </a:xfrm>
            <a:prstGeom prst="roundRect">
              <a:avLst>
                <a:gd name="adj" fmla="val 17391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2008" y="14816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1272" y="14897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Node F1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2422" y="14897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Edge F1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87913" y="1489710"/>
              <a:ext cx="7781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Direction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94793" y="148971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16963" y="1489710"/>
              <a:ext cx="7781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Edit Cost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71500" y="1927860"/>
              <a:ext cx="11049000" cy="1529715"/>
              <a:chOff x="571500" y="1927860"/>
              <a:chExt cx="11049000" cy="1529715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571500" y="21907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71500" y="26289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71500" y="30670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22960" y="1927860"/>
                <a:ext cx="9629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Sketch only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79368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483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0.387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4173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0.281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1338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0.587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70783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9.292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2960" y="2366010"/>
                <a:ext cx="9629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Speech only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9368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0.890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7483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0.564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4173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0.394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1338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0.391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70783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6.188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960" y="28041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Greedy Repair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9368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37483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0.842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4173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0.729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01338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0.129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070783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1.792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5800" y="3133725"/>
                <a:ext cx="108204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22960" y="3213735"/>
                <a:ext cx="10218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MMSB-Graph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7826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36383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3073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23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0597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71500" y="3829050"/>
            <a:ext cx="7239000" cy="2114550"/>
            <a:chOff x="571500" y="3829050"/>
            <a:chExt cx="7239000" cy="2114550"/>
          </a:xfrm>
        </p:grpSpPr>
        <p:sp>
          <p:nvSpPr>
            <p:cNvPr id="44" name="Rectangle 44"/>
            <p:cNvSpPr/>
            <p:nvPr/>
          </p:nvSpPr>
          <p:spPr>
            <a:xfrm>
              <a:off x="571500" y="3829050"/>
              <a:ext cx="7239000" cy="2114550"/>
            </a:xfrm>
            <a:prstGeom prst="roundRect">
              <a:avLst>
                <a:gd name="adj" fmla="val 36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289" y="4038600"/>
              <a:ext cx="4551422" cy="169545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781050" y="4038600"/>
              <a:ext cx="6819900" cy="1695450"/>
            </a:xfrm>
            <a:prstGeom prst="rect">
              <a:avLst/>
            </a:prstGeom>
            <a:noFill/>
            <a:ln w="19050">
              <a:solidFill>
                <a:srgbClr val="155E75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115300" y="3829050"/>
            <a:ext cx="3505200" cy="2114550"/>
            <a:chOff x="8115300" y="3829050"/>
            <a:chExt cx="3505200" cy="2114550"/>
          </a:xfrm>
        </p:grpSpPr>
        <p:sp>
          <p:nvSpPr>
            <p:cNvPr id="48" name="Rectangle 48"/>
            <p:cNvSpPr/>
            <p:nvPr/>
          </p:nvSpPr>
          <p:spPr>
            <a:xfrm>
              <a:off x="8115300" y="3829050"/>
              <a:ext cx="3505200" cy="2114550"/>
            </a:xfrm>
            <a:prstGeom prst="roundRect">
              <a:avLst>
                <a:gd name="adj" fmla="val 36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grpSp>
          <p:nvGrpSpPr>
            <p:cNvPr id="53" name="Group 53"/>
            <p:cNvGrpSpPr/>
            <p:nvPr/>
          </p:nvGrpSpPr>
          <p:grpSpPr>
            <a:xfrm>
              <a:off x="8478032" y="4138612"/>
              <a:ext cx="264143" cy="261178"/>
              <a:chOff x="8478032" y="4138612"/>
              <a:chExt cx="264143" cy="26117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478032" y="4152900"/>
                <a:ext cx="246868" cy="246890"/>
              </a:xfrm>
              <a:custGeom>
                <a:avLst/>
                <a:gdLst/>
                <a:ahLst/>
                <a:cxnLst/>
                <a:rect l="l" t="t" r="r" b="b"/>
                <a:pathLst>
                  <a:path w="246868" h="246890">
                    <a:moveTo>
                      <a:pt x="246868" y="57722"/>
                    </a:moveTo>
                    <a:lnTo>
                      <a:pt x="73675" y="230943"/>
                    </a:lnTo>
                    <a:cubicBezTo>
                      <a:pt x="57736" y="246886"/>
                      <a:pt x="31890" y="246890"/>
                      <a:pt x="15946" y="230950"/>
                    </a:cubicBezTo>
                    <a:cubicBezTo>
                      <a:pt x="3" y="215011"/>
                      <a:pt x="0" y="189165"/>
                      <a:pt x="15939" y="173222"/>
                    </a:cubicBezTo>
                    <a:lnTo>
                      <a:pt x="18913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539162" y="42814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679050" y="4310062"/>
                <a:ext cx="63125" cy="72986"/>
              </a:xfrm>
              <a:custGeom>
                <a:avLst/>
                <a:gdLst/>
                <a:ahLst/>
                <a:cxnLst/>
                <a:rect l="l" t="t" r="r" b="b"/>
                <a:pathLst>
                  <a:path w="63125" h="72986">
                    <a:moveTo>
                      <a:pt x="31563" y="0"/>
                    </a:moveTo>
                    <a:lnTo>
                      <a:pt x="52994" y="22860"/>
                    </a:lnTo>
                    <a:cubicBezTo>
                      <a:pt x="63125" y="34348"/>
                      <a:pt x="62397" y="51781"/>
                      <a:pt x="51342" y="62384"/>
                    </a:cubicBezTo>
                    <a:cubicBezTo>
                      <a:pt x="40287" y="72986"/>
                      <a:pt x="22838" y="72986"/>
                      <a:pt x="11784" y="62384"/>
                    </a:cubicBezTo>
                    <a:cubicBezTo>
                      <a:pt x="729" y="51781"/>
                      <a:pt x="0" y="34348"/>
                      <a:pt x="10131" y="22860"/>
                    </a:cubicBezTo>
                    <a:lnTo>
                      <a:pt x="31563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53462" y="41386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932545" y="41652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怎么解释结果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2005" y="46739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草图单模态：边恢复弱。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2005" y="49977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语音单模态：语义强但布局不足。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22005" y="53216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编辑桥：把补全和修正显式化。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9" name="TextBox 59"/>
            <p:cNvSpPr txBox="1"/>
            <p:nvPr/>
          </p:nvSpPr>
          <p:spPr>
            <a:xfrm>
              <a:off x="560070" y="637984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Results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251478" cy="743903"/>
            <a:chOff x="537210" y="394335"/>
            <a:chExt cx="72514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工程闭环：产品、模型、评测可以互相反馈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完整性体现在“用户可操作、模型可替换、结果可评测”。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76508" y="1333500"/>
            <a:ext cx="4733734" cy="4476750"/>
            <a:chOff x="1776508" y="1333500"/>
            <a:chExt cx="4733734" cy="4476750"/>
          </a:xfrm>
        </p:grpSpPr>
        <p:sp>
          <p:nvSpPr>
            <p:cNvPr id="6" name="Ellipse 6"/>
            <p:cNvSpPr/>
            <p:nvPr/>
          </p:nvSpPr>
          <p:spPr>
            <a:xfrm>
              <a:off x="2476500" y="2076450"/>
              <a:ext cx="3238500" cy="3238500"/>
            </a:xfrm>
            <a:prstGeom prst="ellipse">
              <a:avLst/>
            </a:pr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279186" y="3389948"/>
              <a:ext cx="16331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48526" y="37785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产品与科研闭环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4095750" y="1790700"/>
              <a:ext cx="1790700" cy="2190750"/>
            </a:xfrm>
            <a:custGeom>
              <a:avLst/>
              <a:gdLst/>
              <a:ahLst/>
              <a:cxnLst/>
              <a:rect l="l" t="t" r="r" b="b"/>
              <a:pathLst>
                <a:path w="1790700" h="2190750">
                  <a:moveTo>
                    <a:pt x="0" y="0"/>
                  </a:moveTo>
                  <a:cubicBezTo>
                    <a:pt x="1143000" y="209550"/>
                    <a:pt x="1790700" y="1114425"/>
                    <a:pt x="1619250" y="219075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2476500" y="4667250"/>
              <a:ext cx="2857500" cy="1143000"/>
            </a:xfrm>
            <a:custGeom>
              <a:avLst/>
              <a:gdLst/>
              <a:ahLst/>
              <a:cxnLst/>
              <a:rect l="l" t="t" r="r" b="b"/>
              <a:pathLst>
                <a:path w="2857500" h="1143000">
                  <a:moveTo>
                    <a:pt x="2857500" y="285750"/>
                  </a:moveTo>
                  <a:cubicBezTo>
                    <a:pt x="1981200" y="1143000"/>
                    <a:pt x="666750" y="990600"/>
                    <a:pt x="0" y="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00300" y="1733550"/>
              <a:ext cx="1695450" cy="1028700"/>
            </a:xfrm>
            <a:custGeom>
              <a:avLst/>
              <a:gdLst/>
              <a:ahLst/>
              <a:cxnLst/>
              <a:rect l="l" t="t" r="r" b="b"/>
              <a:pathLst>
                <a:path w="1695450" h="1028700">
                  <a:moveTo>
                    <a:pt x="0" y="1028700"/>
                  </a:moveTo>
                  <a:cubicBezTo>
                    <a:pt x="457200" y="171450"/>
                    <a:pt x="933450" y="0"/>
                    <a:pt x="1695450" y="5715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638550" y="1333500"/>
              <a:ext cx="914400" cy="1271588"/>
              <a:chOff x="3638550" y="1333500"/>
              <a:chExt cx="914400" cy="1271588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3638550" y="1333500"/>
                <a:ext cx="914400" cy="9144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956050" y="1657905"/>
                <a:ext cx="272495" cy="272495"/>
                <a:chOff x="3956050" y="1657905"/>
                <a:chExt cx="272495" cy="272495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956050" y="1657905"/>
                  <a:ext cx="272495" cy="272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495" h="272495">
                      <a:moveTo>
                        <a:pt x="0" y="272495"/>
                      </a:moveTo>
                      <a:lnTo>
                        <a:pt x="69850" y="272495"/>
                      </a:lnTo>
                      <a:lnTo>
                        <a:pt x="253206" y="89139"/>
                      </a:lnTo>
                      <a:cubicBezTo>
                        <a:pt x="272495" y="69850"/>
                        <a:pt x="272495" y="38577"/>
                        <a:pt x="253206" y="19289"/>
                      </a:cubicBezTo>
                      <a:cubicBezTo>
                        <a:pt x="233918" y="0"/>
                        <a:pt x="202645" y="0"/>
                        <a:pt x="183356" y="19289"/>
                      </a:cubicBezTo>
                      <a:lnTo>
                        <a:pt x="0" y="202645"/>
                      </a:lnTo>
                      <a:lnTo>
                        <a:pt x="0" y="27249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4121944" y="1694656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0"/>
                      </a:moveTo>
                      <a:lnTo>
                        <a:pt x="69850" y="698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3700558" y="23307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用户输入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257800" y="3524250"/>
              <a:ext cx="1252442" cy="1290638"/>
              <a:chOff x="5257800" y="3524250"/>
              <a:chExt cx="1252442" cy="1290638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257800" y="3524250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5557838" y="3824288"/>
                <a:ext cx="314325" cy="314325"/>
                <a:chOff x="5557838" y="3824288"/>
                <a:chExt cx="314325" cy="3143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557838" y="38242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52388" y="314325"/>
                      </a:moveTo>
                      <a:lnTo>
                        <a:pt x="314325" y="52388"/>
                      </a:lnTo>
                      <a:lnTo>
                        <a:pt x="261938" y="0"/>
                      </a:lnTo>
                      <a:lnTo>
                        <a:pt x="0" y="261938"/>
                      </a:lnTo>
                      <a:lnTo>
                        <a:pt x="52388" y="3143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767388" y="38766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627688" y="3824288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34925" y="0"/>
                      </a:moveTo>
                      <a:cubicBezTo>
                        <a:pt x="34925" y="19289"/>
                        <a:pt x="50561" y="34925"/>
                        <a:pt x="69850" y="34925"/>
                      </a:cubicBezTo>
                      <a:cubicBezTo>
                        <a:pt x="50561" y="34925"/>
                        <a:pt x="34925" y="50561"/>
                        <a:pt x="34925" y="69850"/>
                      </a:cubicBezTo>
                      <a:cubicBezTo>
                        <a:pt x="34925" y="50561"/>
                        <a:pt x="19289" y="34925"/>
                        <a:pt x="0" y="34925"/>
                      </a:cubicBezTo>
                      <a:cubicBezTo>
                        <a:pt x="19289" y="34925"/>
                        <a:pt x="34925" y="19289"/>
                        <a:pt x="34925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802312" y="39989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34925" y="0"/>
                      </a:moveTo>
                      <a:cubicBezTo>
                        <a:pt x="34925" y="19289"/>
                        <a:pt x="50561" y="34925"/>
                        <a:pt x="69850" y="34925"/>
                      </a:cubicBezTo>
                      <a:cubicBezTo>
                        <a:pt x="50561" y="34925"/>
                        <a:pt x="34925" y="50561"/>
                        <a:pt x="34925" y="69850"/>
                      </a:cubicBezTo>
                      <a:cubicBezTo>
                        <a:pt x="34925" y="50561"/>
                        <a:pt x="19289" y="34925"/>
                        <a:pt x="0" y="34925"/>
                      </a:cubicBezTo>
                      <a:cubicBezTo>
                        <a:pt x="19289" y="34925"/>
                        <a:pt x="34925" y="19289"/>
                        <a:pt x="34925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5719858" y="45405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模型生成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52708" y="4210050"/>
              <a:ext cx="1080992" cy="1309688"/>
              <a:chOff x="1852708" y="4210050"/>
              <a:chExt cx="1080992" cy="1309688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2019300" y="4210050"/>
                <a:ext cx="914400" cy="914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2319338" y="4510088"/>
                <a:ext cx="314325" cy="314325"/>
                <a:chOff x="2319338" y="4510088"/>
                <a:chExt cx="314325" cy="314325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2319338" y="45100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0" y="0"/>
                      </a:moveTo>
                      <a:lnTo>
                        <a:pt x="0" y="314325"/>
                      </a:lnTo>
                      <a:lnTo>
                        <a:pt x="314325" y="3143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389188" y="4579938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563812" y="45450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476500" y="46847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44369" y="4643152"/>
                  <a:ext cx="40862" cy="50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62" h="50292">
                      <a:moveTo>
                        <a:pt x="0" y="0"/>
                      </a:moveTo>
                      <a:lnTo>
                        <a:pt x="40862" y="5029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530424" y="4610357"/>
                  <a:ext cx="49541" cy="80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41" h="80083">
                      <a:moveTo>
                        <a:pt x="0" y="80083"/>
                      </a:moveTo>
                      <a:lnTo>
                        <a:pt x="4954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52708" y="5245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自动评测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776508" y="2305050"/>
              <a:ext cx="1080992" cy="1290638"/>
              <a:chOff x="1776508" y="2305050"/>
              <a:chExt cx="1080992" cy="1290638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1943100" y="2305050"/>
                <a:ext cx="914400" cy="914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2278062" y="2605088"/>
                <a:ext cx="279400" cy="331787"/>
                <a:chOff x="2278062" y="2605088"/>
                <a:chExt cx="279400" cy="33178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2435225" y="2605088"/>
                  <a:ext cx="87312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87313">
                      <a:moveTo>
                        <a:pt x="0" y="0"/>
                      </a:moveTo>
                      <a:lnTo>
                        <a:pt x="0" y="69850"/>
                      </a:lnTo>
                      <a:cubicBezTo>
                        <a:pt x="0" y="79494"/>
                        <a:pt x="7818" y="87313"/>
                        <a:pt x="17463" y="87313"/>
                      </a:cubicBezTo>
                      <a:lnTo>
                        <a:pt x="87312" y="87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2278062" y="2605088"/>
                  <a:ext cx="279400" cy="3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0" h="331787">
                      <a:moveTo>
                        <a:pt x="113506" y="314325"/>
                      </a:moveTo>
                      <a:lnTo>
                        <a:pt x="34925" y="314325"/>
                      </a:lnTo>
                      <a:cubicBezTo>
                        <a:pt x="15636" y="314325"/>
                        <a:pt x="0" y="298689"/>
                        <a:pt x="0" y="279400"/>
                      </a:cubicBez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57162" y="0"/>
                      </a:lnTo>
                      <a:lnTo>
                        <a:pt x="244475" y="87313"/>
                      </a:lnTo>
                      <a:lnTo>
                        <a:pt x="244475" y="174625"/>
                      </a:lnTo>
                      <a:moveTo>
                        <a:pt x="157162" y="279400"/>
                      </a:moveTo>
                      <a:lnTo>
                        <a:pt x="279400" y="279400"/>
                      </a:lnTo>
                      <a:moveTo>
                        <a:pt x="227013" y="227012"/>
                      </a:moveTo>
                      <a:lnTo>
                        <a:pt x="279400" y="279400"/>
                      </a:lnTo>
                      <a:lnTo>
                        <a:pt x="227013" y="331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776508" y="33213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导出交付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7334250" y="1676400"/>
            <a:ext cx="3931587" cy="3771900"/>
            <a:chOff x="7334250" y="1676400"/>
            <a:chExt cx="3931587" cy="3771900"/>
          </a:xfrm>
        </p:grpSpPr>
        <p:sp>
          <p:nvSpPr>
            <p:cNvPr id="43" name="Rectangle 43"/>
            <p:cNvSpPr/>
            <p:nvPr/>
          </p:nvSpPr>
          <p:spPr>
            <a:xfrm>
              <a:off x="7334250" y="1676400"/>
              <a:ext cx="3905250" cy="3771900"/>
            </a:xfrm>
            <a:prstGeom prst="roundRect">
              <a:avLst>
                <a:gd name="adj" fmla="val 202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7673340" y="1920240"/>
              <a:ext cx="23140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闭环带来的工程价值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96200" y="2381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78102" y="2665571"/>
              <a:ext cx="9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1. 可演示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80008" y="2967514"/>
              <a:ext cx="32117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mock 模式和样例数据保证课堂展示不断。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78102" y="3408521"/>
              <a:ext cx="9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2. 可替换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80008" y="3710464"/>
              <a:ext cx="35858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ASR、结构化模型、图像和 TTS 服务分层接入。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78102" y="4151471"/>
              <a:ext cx="914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3. 可评测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80008" y="44534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预测图与标准图对齐，输出结构化指标。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96200" y="4953000"/>
              <a:ext cx="291465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11732" y="5042535"/>
              <a:ext cx="24835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输入 → 生成 → 交付 → 评测 → 迭代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3798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Engineering Loop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真实性边界：当前是可控验证，不是大规模宣称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产品原型已经跑通闭环，但科研结论需要限定在合成条件图的验证范围内。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466850"/>
            <a:ext cx="4343400" cy="3976688"/>
            <a:chOff x="571500" y="1466850"/>
            <a:chExt cx="4343400" cy="3976688"/>
          </a:xfrm>
        </p:grpSpPr>
        <p:sp>
          <p:nvSpPr>
            <p:cNvPr id="6" name="Rectangle 6"/>
            <p:cNvSpPr/>
            <p:nvPr/>
          </p:nvSpPr>
          <p:spPr>
            <a:xfrm>
              <a:off x="571500" y="1466850"/>
              <a:ext cx="4343400" cy="3905250"/>
            </a:xfrm>
            <a:prstGeom prst="roundRect">
              <a:avLst>
                <a:gd name="adj" fmla="val 195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876300" y="1809750"/>
              <a:ext cx="1257300" cy="342900"/>
            </a:xfrm>
            <a:prstGeom prst="roundRect">
              <a:avLst>
                <a:gd name="adj" fmla="val 22222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1713" y="19007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边界说明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4298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讲清楚边界，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284892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反而让产品故事更可信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34861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250" y="3800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当前定位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4159568"/>
              <a:ext cx="3472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SketchVoice 是可演示、可导出、可评测的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44453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课程项目原型。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4883468"/>
              <a:ext cx="331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MMSB-Graph 当前验证的是结构恢复链路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51692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和图编辑路径的可计算性。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448300" y="1466850"/>
            <a:ext cx="6172200" cy="3905250"/>
            <a:chOff x="5448300" y="1466850"/>
            <a:chExt cx="6172200" cy="3905250"/>
          </a:xfrm>
        </p:grpSpPr>
        <p:sp>
          <p:nvSpPr>
            <p:cNvPr id="18" name="Rectangle 18"/>
            <p:cNvSpPr/>
            <p:nvPr/>
          </p:nvSpPr>
          <p:spPr>
            <a:xfrm>
              <a:off x="5448300" y="1466850"/>
              <a:ext cx="6172200" cy="3905250"/>
            </a:xfrm>
            <a:prstGeom prst="roundRect">
              <a:avLst>
                <a:gd name="adj" fmla="val 195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27" name="Group 27"/>
            <p:cNvGrpSpPr/>
            <p:nvPr/>
          </p:nvGrpSpPr>
          <p:grpSpPr>
            <a:xfrm>
              <a:off x="5753100" y="1885950"/>
              <a:ext cx="4877753" cy="635794"/>
              <a:chOff x="5753100" y="1885950"/>
              <a:chExt cx="4877753" cy="635794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753100" y="1885950"/>
                <a:ext cx="533400" cy="5334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5887232" y="2024062"/>
                <a:ext cx="264143" cy="261178"/>
                <a:chOff x="5887232" y="2024062"/>
                <a:chExt cx="264143" cy="261178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887232" y="2038350"/>
                  <a:ext cx="246868" cy="24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868" h="246890">
                      <a:moveTo>
                        <a:pt x="246868" y="57722"/>
                      </a:moveTo>
                      <a:lnTo>
                        <a:pt x="73675" y="230943"/>
                      </a:lnTo>
                      <a:cubicBezTo>
                        <a:pt x="57736" y="246886"/>
                        <a:pt x="31890" y="246890"/>
                        <a:pt x="15946" y="230950"/>
                      </a:cubicBezTo>
                      <a:cubicBezTo>
                        <a:pt x="3" y="215011"/>
                        <a:pt x="0" y="189165"/>
                        <a:pt x="15939" y="173222"/>
                      </a:cubicBezTo>
                      <a:lnTo>
                        <a:pt x="189132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948362" y="2166938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088250" y="2195512"/>
                  <a:ext cx="63125" cy="7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25" h="72986">
                      <a:moveTo>
                        <a:pt x="31563" y="0"/>
                      </a:moveTo>
                      <a:lnTo>
                        <a:pt x="52994" y="22860"/>
                      </a:lnTo>
                      <a:cubicBezTo>
                        <a:pt x="63125" y="34348"/>
                        <a:pt x="62397" y="51781"/>
                        <a:pt x="51342" y="62384"/>
                      </a:cubicBezTo>
                      <a:cubicBezTo>
                        <a:pt x="40287" y="72986"/>
                        <a:pt x="22838" y="72986"/>
                        <a:pt x="11784" y="62384"/>
                      </a:cubicBezTo>
                      <a:cubicBezTo>
                        <a:pt x="729" y="51781"/>
                        <a:pt x="0" y="34348"/>
                        <a:pt x="10131" y="22860"/>
                      </a:cubicBezTo>
                      <a:lnTo>
                        <a:pt x="31563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062662" y="20240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0"/>
                      </a:moveTo>
                      <a:lnTo>
                        <a:pt x="85725" y="857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6514148" y="190642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当前能说明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17958" y="2262664"/>
                <a:ext cx="41128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任务定义成立，评测链路可运行，图编辑过程可计算。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6019800" y="2552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753100" y="3067050"/>
              <a:ext cx="5217796" cy="635794"/>
              <a:chOff x="5753100" y="3067050"/>
              <a:chExt cx="5217796" cy="635794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5753100" y="3067050"/>
                <a:ext cx="533400" cy="5334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5891212" y="3205162"/>
                <a:ext cx="257176" cy="257175"/>
                <a:chOff x="5891212" y="3205162"/>
                <a:chExt cx="257176" cy="2571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891212" y="320516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0"/>
                      </a:moveTo>
                      <a:lnTo>
                        <a:pt x="0" y="257175"/>
                      </a:lnTo>
                      <a:lnTo>
                        <a:pt x="257175" y="2571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948362" y="326231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091238" y="32337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019800" y="33480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993511" y="3314033"/>
                  <a:ext cx="33433" cy="41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33" h="41148">
                      <a:moveTo>
                        <a:pt x="0" y="0"/>
                      </a:moveTo>
                      <a:lnTo>
                        <a:pt x="33433" y="4114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063920" y="3287201"/>
                  <a:ext cx="40534" cy="6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34" h="65522">
                      <a:moveTo>
                        <a:pt x="0" y="65522"/>
                      </a:moveTo>
                      <a:lnTo>
                        <a:pt x="40534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6514148" y="308752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不能直接说明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17958" y="3443764"/>
                <a:ext cx="4452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大规模真实世界性能、复杂手写图鲁棒性、长期用户成本。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6019800" y="37338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753100" y="4248150"/>
              <a:ext cx="5047774" cy="635794"/>
              <a:chOff x="5753100" y="4248150"/>
              <a:chExt cx="5047774" cy="635794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5753100" y="424815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5891212" y="4386262"/>
                <a:ext cx="257175" cy="257175"/>
                <a:chOff x="5891212" y="4386262"/>
                <a:chExt cx="257175" cy="25717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5891212" y="4386262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14288" y="128588"/>
                      </a:lnTo>
                      <a:moveTo>
                        <a:pt x="128588" y="0"/>
                      </a:moveTo>
                      <a:lnTo>
                        <a:pt x="128588" y="14288"/>
                      </a:lnTo>
                      <a:moveTo>
                        <a:pt x="242888" y="128588"/>
                      </a:moveTo>
                      <a:lnTo>
                        <a:pt x="257175" y="128588"/>
                      </a:lnTo>
                      <a:moveTo>
                        <a:pt x="37147" y="37147"/>
                      </a:moveTo>
                      <a:lnTo>
                        <a:pt x="47149" y="47149"/>
                      </a:lnTo>
                      <a:moveTo>
                        <a:pt x="220028" y="37147"/>
                      </a:moveTo>
                      <a:lnTo>
                        <a:pt x="210026" y="47149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942305" y="4443412"/>
                  <a:ext cx="15499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90" h="200025">
                      <a:moveTo>
                        <a:pt x="34633" y="128588"/>
                      </a:moveTo>
                      <a:cubicBezTo>
                        <a:pt x="10034" y="110138"/>
                        <a:pt x="0" y="78018"/>
                        <a:pt x="9724" y="48847"/>
                      </a:cubicBezTo>
                      <a:cubicBezTo>
                        <a:pt x="19447" y="19676"/>
                        <a:pt x="46746" y="0"/>
                        <a:pt x="77495" y="0"/>
                      </a:cubicBezTo>
                      <a:cubicBezTo>
                        <a:pt x="108244" y="0"/>
                        <a:pt x="135543" y="19676"/>
                        <a:pt x="145267" y="48847"/>
                      </a:cubicBezTo>
                      <a:cubicBezTo>
                        <a:pt x="154990" y="78018"/>
                        <a:pt x="144957" y="110138"/>
                        <a:pt x="120358" y="128588"/>
                      </a:cubicBezTo>
                      <a:cubicBezTo>
                        <a:pt x="109044" y="139786"/>
                        <a:pt x="103739" y="155703"/>
                        <a:pt x="106070" y="171450"/>
                      </a:cubicBezTo>
                      <a:cubicBezTo>
                        <a:pt x="106070" y="187232"/>
                        <a:pt x="93277" y="200025"/>
                        <a:pt x="77495" y="200025"/>
                      </a:cubicBezTo>
                      <a:cubicBezTo>
                        <a:pt x="61714" y="200025"/>
                        <a:pt x="48920" y="187232"/>
                        <a:pt x="48920" y="171450"/>
                      </a:cubicBezTo>
                      <a:cubicBezTo>
                        <a:pt x="51252" y="155703"/>
                        <a:pt x="45946" y="139786"/>
                        <a:pt x="34633" y="128588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986939" y="4586288"/>
                  <a:ext cx="65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23" h="9525">
                      <a:moveTo>
                        <a:pt x="0" y="0"/>
                      </a:moveTo>
                      <a:lnTo>
                        <a:pt x="65723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514148" y="4268629"/>
                <a:ext cx="18042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下一步产品化验证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517958" y="4624864"/>
                <a:ext cx="428291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接入真实用户数据，记录人工修改，形成产品反馈指标。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581150" y="5753100"/>
            <a:ext cx="9029700" cy="438150"/>
            <a:chOff x="1581150" y="5753100"/>
            <a:chExt cx="9029700" cy="438150"/>
          </a:xfrm>
        </p:grpSpPr>
        <p:sp>
          <p:nvSpPr>
            <p:cNvPr id="50" name="Rectangle 50"/>
            <p:cNvSpPr/>
            <p:nvPr/>
          </p:nvSpPr>
          <p:spPr>
            <a:xfrm>
              <a:off x="1581150" y="5753100"/>
              <a:ext cx="9029700" cy="438150"/>
            </a:xfrm>
            <a:prstGeom prst="roundRect">
              <a:avLst>
                <a:gd name="adj" fmla="val 17391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546311" y="5885021"/>
              <a:ext cx="709937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结论：本项目证明了“产品闭环 + 结构恢复方法 + 可评测协议”可以被完整打通。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路 Boundary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9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714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826262" y="691515"/>
            <a:ext cx="8539477" cy="918210"/>
            <a:chOff x="1826262" y="691515"/>
            <a:chExt cx="8539477" cy="918210"/>
          </a:xfrm>
        </p:grpSpPr>
        <p:sp>
          <p:nvSpPr>
            <p:cNvPr id="5" name="TextBox 5"/>
            <p:cNvSpPr txBox="1"/>
            <p:nvPr/>
          </p:nvSpPr>
          <p:spPr>
            <a:xfrm>
              <a:off x="1826262" y="691515"/>
              <a:ext cx="853947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总结：产品闭环 + 方法支撑 + 可评测系统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41446" y="1304925"/>
              <a:ext cx="8109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SketchVoice 将“语音 + 草图”的自然表达过程，转化为可编辑、可导出、可评价的知识图。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981200" y="1924050"/>
            <a:ext cx="8229600" cy="895350"/>
            <a:chOff x="1981200" y="1924050"/>
            <a:chExt cx="8229600" cy="895350"/>
          </a:xfrm>
        </p:grpSpPr>
        <p:sp>
          <p:nvSpPr>
            <p:cNvPr id="8" name="Rectangle 8"/>
            <p:cNvSpPr/>
            <p:nvPr/>
          </p:nvSpPr>
          <p:spPr>
            <a:xfrm>
              <a:off x="1981200" y="1924050"/>
              <a:ext cx="8229600" cy="895350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14300" dist="28575" dir="5400000" algn="ctr" rotWithShape="0">
                <a:srgbClr val="172033">
                  <a:alpha val="675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2514600" y="2105025"/>
              <a:ext cx="1559147" cy="533400"/>
              <a:chOff x="2514600" y="2105025"/>
              <a:chExt cx="1559147" cy="5334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2514600" y="2105025"/>
                <a:ext cx="533400" cy="5334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2681288" y="2228850"/>
                <a:ext cx="200025" cy="280987"/>
                <a:chOff x="2681288" y="2228850"/>
                <a:chExt cx="200025" cy="280987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738438" y="2228850"/>
                  <a:ext cx="857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57162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cubicBezTo>
                        <a:pt x="66535" y="0"/>
                        <a:pt x="85725" y="19190"/>
                        <a:pt x="85725" y="42862"/>
                      </a:cubicBezTo>
                      <a:lnTo>
                        <a:pt x="85725" y="114300"/>
                      </a:lnTo>
                      <a:cubicBezTo>
                        <a:pt x="85725" y="137972"/>
                        <a:pt x="66535" y="157162"/>
                        <a:pt x="42862" y="157162"/>
                      </a:cubicBezTo>
                      <a:cubicBezTo>
                        <a:pt x="19190" y="157162"/>
                        <a:pt x="0" y="137972"/>
                        <a:pt x="0" y="114300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681288" y="2343150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0" y="0"/>
                      </a:moveTo>
                      <a:cubicBezTo>
                        <a:pt x="0" y="55235"/>
                        <a:pt x="44777" y="100012"/>
                        <a:pt x="100012" y="100012"/>
                      </a:cubicBezTo>
                      <a:cubicBezTo>
                        <a:pt x="155248" y="100012"/>
                        <a:pt x="200025" y="55235"/>
                        <a:pt x="20002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2724150" y="2500312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781300" y="2443162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3239452" y="22845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说清语义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4286250" y="23717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314950" y="2105025"/>
              <a:ext cx="1559147" cy="533400"/>
              <a:chOff x="5314950" y="2105025"/>
              <a:chExt cx="1559147" cy="5334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314950" y="2105025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5453062" y="2243138"/>
                <a:ext cx="257175" cy="271462"/>
                <a:chOff x="5453062" y="2243138"/>
                <a:chExt cx="257175" cy="27146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495925" y="2243138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581650" y="2243138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553075" y="2243138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495925" y="2328862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453062" y="2486025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610225" y="2486025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553075" y="24574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581650" y="2414588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039802" y="22845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恢复结构</a:t>
                </a: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7067550" y="23717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096250" y="2105025"/>
              <a:ext cx="1559147" cy="533400"/>
              <a:chOff x="8096250" y="2105025"/>
              <a:chExt cx="1559147" cy="5334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8096250" y="2105025"/>
                <a:ext cx="533400" cy="533400"/>
              </a:xfrm>
              <a:prstGeom prst="ellipse">
                <a:avLst/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8262938" y="2243138"/>
                <a:ext cx="228600" cy="271462"/>
                <a:chOff x="8262938" y="2243138"/>
                <a:chExt cx="228600" cy="271462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391525" y="22431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262938" y="2243138"/>
                  <a:ext cx="228600" cy="271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71462">
                      <a:moveTo>
                        <a:pt x="92869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142875"/>
                      </a:lnTo>
                      <a:moveTo>
                        <a:pt x="128588" y="228600"/>
                      </a:moveTo>
                      <a:lnTo>
                        <a:pt x="228600" y="228600"/>
                      </a:lnTo>
                      <a:moveTo>
                        <a:pt x="185738" y="185738"/>
                      </a:moveTo>
                      <a:lnTo>
                        <a:pt x="228600" y="228600"/>
                      </a:lnTo>
                      <a:lnTo>
                        <a:pt x="185738" y="27146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8821102" y="22845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交付结果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800100" y="3295650"/>
            <a:ext cx="10591800" cy="1866900"/>
            <a:chOff x="800100" y="3295650"/>
            <a:chExt cx="10591800" cy="1866900"/>
          </a:xfrm>
        </p:grpSpPr>
        <p:grpSp>
          <p:nvGrpSpPr>
            <p:cNvPr id="48" name="Group 48"/>
            <p:cNvGrpSpPr/>
            <p:nvPr/>
          </p:nvGrpSpPr>
          <p:grpSpPr>
            <a:xfrm>
              <a:off x="800100" y="3295650"/>
              <a:ext cx="3257550" cy="1866900"/>
              <a:chOff x="800100" y="3295650"/>
              <a:chExt cx="3257550" cy="18669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00100" y="3295650"/>
                <a:ext cx="3257550" cy="1866900"/>
              </a:xfrm>
              <a:prstGeom prst="roundRect">
                <a:avLst>
                  <a:gd name="adj" fmla="val 408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28575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114425" y="3625850"/>
                <a:ext cx="285750" cy="263525"/>
                <a:chOff x="1114425" y="3625850"/>
                <a:chExt cx="285750" cy="26352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1114425" y="3625850"/>
                  <a:ext cx="285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1905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269875" y="0"/>
                      </a:lnTo>
                      <a:cubicBezTo>
                        <a:pt x="278643" y="0"/>
                        <a:pt x="285750" y="7107"/>
                        <a:pt x="285750" y="15875"/>
                      </a:cubicBezTo>
                      <a:lnTo>
                        <a:pt x="285750" y="174625"/>
                      </a:lnTo>
                      <a:cubicBezTo>
                        <a:pt x="285750" y="183393"/>
                        <a:pt x="278643" y="190500"/>
                        <a:pt x="269875" y="190500"/>
                      </a:cubicBezTo>
                      <a:lnTo>
                        <a:pt x="15875" y="190500"/>
                      </a:lnTo>
                      <a:cubicBezTo>
                        <a:pt x="7107" y="190500"/>
                        <a:pt x="0" y="183393"/>
                        <a:pt x="0" y="1746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177925" y="3879850"/>
                  <a:ext cx="158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9525">
                      <a:moveTo>
                        <a:pt x="0" y="0"/>
                      </a:moveTo>
                      <a:lnTo>
                        <a:pt x="158750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209675" y="38163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304925" y="38163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596390" y="365379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产品层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49655" y="4216718"/>
                <a:ext cx="28066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构建 SketchVoice 方法图工作台，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49655" y="4521518"/>
                <a:ext cx="27346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支持草图、语音、文本到图结构的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49655" y="4826318"/>
                <a:ext cx="14744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连续交互与导出。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467225" y="3295650"/>
              <a:ext cx="3257550" cy="1866900"/>
              <a:chOff x="4467225" y="3295650"/>
              <a:chExt cx="3257550" cy="18669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4467225" y="3295650"/>
                <a:ext cx="3257550" cy="1866900"/>
              </a:xfrm>
              <a:prstGeom prst="roundRect">
                <a:avLst>
                  <a:gd name="adj" fmla="val 408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28575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4813300" y="3625850"/>
                <a:ext cx="238125" cy="254000"/>
                <a:chOff x="4813300" y="3625850"/>
                <a:chExt cx="238125" cy="2540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813300" y="38163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813300" y="36258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972050" y="36258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845050" y="36893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876800" y="3736975"/>
                  <a:ext cx="1270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11125">
                      <a:moveTo>
                        <a:pt x="0" y="111125"/>
                      </a:moveTo>
                      <a:lnTo>
                        <a:pt x="95250" y="111125"/>
                      </a:lnTo>
                      <a:cubicBezTo>
                        <a:pt x="112785" y="111125"/>
                        <a:pt x="127000" y="96910"/>
                        <a:pt x="127000" y="7937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956175" y="3736975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47625" y="0"/>
                      </a:ln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5263515" y="365379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方法层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716780" y="421671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提出语音引导知识草图结构化任务，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716780" y="4521518"/>
                <a:ext cx="282463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 MMSB-Graph 将生成问题转化为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716780" y="4826318"/>
                <a:ext cx="16544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可解释图编辑路径。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34350" y="3295650"/>
              <a:ext cx="3257550" cy="1866900"/>
              <a:chOff x="8134350" y="3295650"/>
              <a:chExt cx="3257550" cy="18669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8134350" y="3295650"/>
                <a:ext cx="3257550" cy="1866900"/>
              </a:xfrm>
              <a:prstGeom prst="roundRect">
                <a:avLst>
                  <a:gd name="adj" fmla="val 408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28575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448675" y="3609975"/>
                <a:ext cx="285750" cy="285750"/>
                <a:chOff x="8448675" y="3609975"/>
                <a:chExt cx="285750" cy="285750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8448675" y="3609975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0" y="0"/>
                      </a:moveTo>
                      <a:lnTo>
                        <a:pt x="0" y="285750"/>
                      </a:lnTo>
                      <a:lnTo>
                        <a:pt x="285750" y="2857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512175" y="36734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670925" y="36417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91550" y="37687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562340" y="3730942"/>
                  <a:ext cx="37148" cy="4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8" h="45720">
                      <a:moveTo>
                        <a:pt x="0" y="0"/>
                      </a:moveTo>
                      <a:lnTo>
                        <a:pt x="37148" y="4572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640572" y="3701129"/>
                  <a:ext cx="45037" cy="72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37" h="72803">
                      <a:moveTo>
                        <a:pt x="0" y="72803"/>
                      </a:moveTo>
                      <a:lnTo>
                        <a:pt x="45037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930640" y="365379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系统层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83905" y="421671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打通输入、生成、展示、导出、评测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83905" y="4521518"/>
                <a:ext cx="25546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闭环，让产品结果可以被复用，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83905" y="4826318"/>
                <a:ext cx="16544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也可以被指标检验。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1619250" y="5600700"/>
            <a:ext cx="8953500" cy="476250"/>
            <a:chOff x="1619250" y="5600700"/>
            <a:chExt cx="8953500" cy="476250"/>
          </a:xfrm>
        </p:grpSpPr>
        <p:sp>
          <p:nvSpPr>
            <p:cNvPr id="76" name="Rectangle 76"/>
            <p:cNvSpPr/>
            <p:nvPr/>
          </p:nvSpPr>
          <p:spPr>
            <a:xfrm>
              <a:off x="1619250" y="5600700"/>
              <a:ext cx="8953500" cy="476250"/>
            </a:xfrm>
            <a:prstGeom prst="roundRect">
              <a:avLst>
                <a:gd name="adj" fmla="val 16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706029" y="5743575"/>
              <a:ext cx="67799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一句话：把“边说边画”变成结构化知识资产，并给出可解释的恢复路径。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379845"/>
              <a:ext cx="15110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路 Conclusion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0"/>
      <p:bldP spid="75" grpId="0"/>
      <p:bldP spid="7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2026-06-14T03:08:41Z</dcterms:created>
  <dcterms:modified xsi:type="dcterms:W3CDTF">2026-06-14T03:08:41Z</dcterms:modified>
  <cp:category/>
  <cp:contentStatus/>
</cp:coreProperties>
</file>