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大家好，这次汇报的题目是语音引导的知识草图结构化与 MMSB-Graph。核心问题是：当用户一边画草图一边口头解释时，系统如何把这种不完整但互补的表达恢复成可编辑的知识图，而不是只生成一张静态图片。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真实科研讨论里，信息通常不是整齐的结构化文本。草图负责表达空间结构，比如模块位置、流程关系和闭环；语音负责表达语义信息，比如节点名称、因果关系和设计意图。单独看任何一种模态都会丢信息，所以我们需要把两者一起建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我们把任务定义为 Speech-Guided Sketch-to-Knowledge-Graph。输入是手绘草图 S 和同步语音 U，输出是结构化知识图 G hat，其中节点包含标签、语义类型、解释和置信度，边包含方向、关系类型、关系标签和置信度。这里的目标是恢复结构，而不是生成一张好看的图。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草图和语音的互补性非常明确。草图擅长表达二维结构和局部拓扑，但节点名称、箭头方向和语义往往不稳定；语音能补全语义和顺序关系，但缺少空间布局。因此我们用语音作为语义锚点，去补全草图中的结构缺失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相关工作可以分成三类。Sketch-to-Diagram 关注视觉草图解析，但较少使用语音；Image-to-Code 强调可编辑输出，但输入通常是静态图；图扩散和薛定谔桥提供了图结构迁移的理论启发，但很少结合真实交互输入。因此本项目的研究空白集中在语音约束、联合建模和用户修改成本三个方面。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MMSB-Graph 的总体思路是不直接一步生成最终图，而是先构造草图图和语音图，再形成融合候选图，最后通过图编辑桥恢复到规范知识图。这样做的好处是每一步都有明确状态，错误来源和修改路径都可以被记录下来。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这里有三种中间图。Gs 来自草图，保留空间结构但语义弱；Gu 来自语音，语义强但没有布局；Gf 是两者的融合候选图，作为图编辑桥的起点。显式拆开这些状态，可以帮助我们判断问题到底来自结构解析，还是来自语义对齐。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图编辑桥把结构恢复看成一串离散编辑操作，包括插入节点、删除多余节点、插入缺失边、删除错误边和修正方向。相比一步生成，这种方式更符合人工修改过程，也能追踪每一步代价，从而支持失败诊断。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单步编辑代价描述一次图状态变化。这个代价包含结构变化、语义距离、方向惩罚、布局保持和语音覆盖奖励。再把整条路径上的代价平方平均，得到路径能量。路径能量越低，说明恢复过程越自然；越高，则说明系统依赖了更多强行修正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为了验证这个任务和评测链路，我们构建了 24 个知识草图样例，覆盖线性流程、分支结构、反馈闭环、模型架构图和实验流程图。评测指标不仅包括 Node F1、Edge F1 和方向准确率，也包括归一化 GED、语音覆盖、布局保持、修改成本和路径能量。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实验对比了五类方法：草图单模态、语音单模态、早期融合、贪心修复和 MMSB-Graph。需要强调的是，当前实验是合成条件图的可控验证，主要用于验证任务定义、评测协议和图编辑过程的可计算性，不等价于大规模真实世界性能。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结果显示，草图单模态的边恢复较弱，边 F1 为 0.387；加入语音后边 F1 提升到 0.564。早期融合提升了节点覆盖，但仍不能完全解决方向错误和缺边问题。MMSB-Graph 在这个可控设定下达到最优结构一致性，并通过路径能量提供最终 F1 之外的过程诊断。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工程系统上，我们实现了从交互输入到结构生成、可编辑输出和自动评测的闭环。前端支持草图、录音和文本补充，后端生成 Mermaid、JSON、SVG、终稿图和讲解视频，评测模块再把预测图和标准图对齐，输出结构化指标。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最后总结一下，本项目的贡献分为三层：任务层提出语音引导的知识草图结构化，方法层提出 MMSB-Graph 图编辑桥，系统层构建从交互输入到可评测输出的完整闭环。一句话概括就是：我们把语音加草图的自然表达过程，转化为多模态知识结构恢复问题，并用图编辑桥实现可解释重建。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25a91e8a88d312c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5300" y="876300"/>
            <a:ext cx="11201400" cy="5114925"/>
            <a:chOff x="495300" y="876300"/>
            <a:chExt cx="11201400" cy="5114925"/>
          </a:xfrm>
        </p:grpSpPr>
        <p:sp>
          <p:nvSpPr>
            <p:cNvPr id="3" name="Line 3"/>
            <p:cNvSpPr/>
            <p:nvPr/>
          </p:nvSpPr>
          <p:spPr>
            <a:xfrm>
              <a:off x="495300" y="8763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495300" y="59817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495300" y="876300"/>
              <a:ext cx="95250" cy="510540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15340" y="1405890"/>
            <a:ext cx="4699540" cy="3251835"/>
            <a:chOff x="815340" y="1405890"/>
            <a:chExt cx="4699540" cy="3251835"/>
          </a:xfrm>
        </p:grpSpPr>
        <p:sp>
          <p:nvSpPr>
            <p:cNvPr id="7" name="TextBox 7"/>
            <p:cNvSpPr txBox="1"/>
            <p:nvPr/>
          </p:nvSpPr>
          <p:spPr>
            <a:xfrm>
              <a:off x="815340" y="1405890"/>
              <a:ext cx="4602480" cy="1756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4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语音引导的</a:t>
              </a:r>
              <a:r>
                <a:rPr lang="zh-CN" sz="4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知识草图结构化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775" y="3414712"/>
              <a:ext cx="390063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MMSB-Graph 图编辑桥方法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4395" y="3917632"/>
              <a:ext cx="46404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Speech-Guided Sketch-to-Knowledge-Graph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6300" y="4352925"/>
              <a:ext cx="46086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语音信息处理课程项目 · SketchVoice · 2026年6月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905750" y="1905000"/>
            <a:ext cx="2895600" cy="3467100"/>
            <a:chOff x="7905750" y="1905000"/>
            <a:chExt cx="2895600" cy="3467100"/>
          </a:xfrm>
        </p:grpSpPr>
        <p:sp>
          <p:nvSpPr>
            <p:cNvPr id="12" name="Ellipse 12"/>
            <p:cNvSpPr/>
            <p:nvPr/>
          </p:nvSpPr>
          <p:spPr>
            <a:xfrm>
              <a:off x="8362950" y="1905000"/>
              <a:ext cx="990600" cy="990600"/>
            </a:xfrm>
            <a:prstGeom prst="ellipse">
              <a:avLst/>
            </a:prstGeom>
            <a:solidFill>
              <a:srgbClr val="E0F2FE"/>
            </a:solidFill>
            <a:ln w="28575">
              <a:solidFill>
                <a:srgbClr val="155E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753600" y="2857500"/>
              <a:ext cx="952500" cy="952500"/>
            </a:xfrm>
            <a:prstGeom prst="ellipse">
              <a:avLst/>
            </a:prstGeom>
            <a:solidFill>
              <a:srgbClr val="CCFBF1"/>
            </a:solidFill>
            <a:ln w="28575">
              <a:solidFill>
                <a:srgbClr val="0F766E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905750" y="4000500"/>
              <a:ext cx="952500" cy="952500"/>
            </a:xfrm>
            <a:prstGeom prst="ellipse">
              <a:avLst/>
            </a:prstGeom>
            <a:solidFill>
              <a:srgbClr val="DCFCE7"/>
            </a:solidFill>
            <a:ln w="28575">
              <a:solidFill>
                <a:srgbClr val="0F766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963150" y="4533900"/>
              <a:ext cx="838200" cy="838200"/>
            </a:xfrm>
            <a:prstGeom prst="ellipse">
              <a:avLst/>
            </a:prstGeom>
            <a:solidFill>
              <a:srgbClr val="FEF3C7"/>
            </a:solidFill>
            <a:ln w="28575">
              <a:solidFill>
                <a:srgbClr val="F59E0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239250" y="2724150"/>
              <a:ext cx="590550" cy="381000"/>
            </a:xfrm>
            <a:custGeom>
              <a:avLst/>
              <a:gdLst/>
              <a:ahLst/>
              <a:cxnLst/>
              <a:rect l="l" t="t" r="r" b="b"/>
              <a:pathLst>
                <a:path w="590550" h="381000">
                  <a:moveTo>
                    <a:pt x="0" y="0"/>
                  </a:moveTo>
                  <a:lnTo>
                    <a:pt x="590550" y="381000"/>
                  </a:lnTo>
                </a:path>
              </a:pathLst>
            </a:custGeom>
            <a:noFill/>
            <a:ln w="28575">
              <a:solidFill>
                <a:srgbClr val="155E75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801100" y="3600450"/>
              <a:ext cx="1009650" cy="628650"/>
            </a:xfrm>
            <a:custGeom>
              <a:avLst/>
              <a:gdLst/>
              <a:ahLst/>
              <a:cxnLst/>
              <a:rect l="l" t="t" r="r" b="b"/>
              <a:pathLst>
                <a:path w="1009650" h="628650">
                  <a:moveTo>
                    <a:pt x="100965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rgbClr val="0F766E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839200" y="4591050"/>
              <a:ext cx="1123950" cy="266700"/>
            </a:xfrm>
            <a:custGeom>
              <a:avLst/>
              <a:gdLst/>
              <a:ahLst/>
              <a:cxnLst/>
              <a:rect l="l" t="t" r="r" b="b"/>
              <a:pathLst>
                <a:path w="1123950" h="266700">
                  <a:moveTo>
                    <a:pt x="0" y="0"/>
                  </a:moveTo>
                  <a:lnTo>
                    <a:pt x="1123950" y="266700"/>
                  </a:lnTo>
                </a:path>
              </a:pathLst>
            </a:custGeom>
            <a:noFill/>
            <a:ln w="28575">
              <a:solidFill>
                <a:srgbClr val="0F766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29174" y="21812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草图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93944" y="24693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00774" y="3114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语音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65544" y="34028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52924" y="42767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17694" y="45648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路径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54414" y="4761071"/>
              <a:ext cx="25567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Ĝ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58889" y="50301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知识图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3870" y="6379845"/>
            <a:ext cx="11224261" cy="182880"/>
            <a:chOff x="483870" y="6379845"/>
            <a:chExt cx="11224261" cy="182880"/>
          </a:xfrm>
        </p:grpSpPr>
        <p:sp>
          <p:nvSpPr>
            <p:cNvPr id="28" name="TextBox 28"/>
            <p:cNvSpPr txBox="1"/>
            <p:nvPr/>
          </p:nvSpPr>
          <p:spPr>
            <a:xfrm>
              <a:off x="483870" y="6379845"/>
              <a:ext cx="15650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SketchVoice / MMSB-Graph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53254" y="63798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69679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真实场景：科研表达通常是“草图 + 语音”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14400" y="1619250"/>
            <a:ext cx="3429000" cy="2857500"/>
            <a:chOff x="914400" y="1619250"/>
            <a:chExt cx="3429000" cy="2857500"/>
          </a:xfrm>
        </p:grpSpPr>
        <p:sp>
          <p:nvSpPr>
            <p:cNvPr id="6" name="Rectangle 6"/>
            <p:cNvSpPr/>
            <p:nvPr/>
          </p:nvSpPr>
          <p:spPr>
            <a:xfrm>
              <a:off x="914400" y="1619250"/>
              <a:ext cx="3429000" cy="2857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365250" y="2115105"/>
              <a:ext cx="272495" cy="272495"/>
              <a:chOff x="1365250" y="2115105"/>
              <a:chExt cx="272495" cy="27249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365250" y="2115105"/>
                <a:ext cx="272495" cy="272495"/>
              </a:xfrm>
              <a:custGeom>
                <a:avLst/>
                <a:gdLst/>
                <a:ahLst/>
                <a:cxnLst/>
                <a:rect l="l" t="t" r="r" b="b"/>
                <a:pathLst>
                  <a:path w="272495" h="272495">
                    <a:moveTo>
                      <a:pt x="0" y="272495"/>
                    </a:moveTo>
                    <a:lnTo>
                      <a:pt x="69850" y="272495"/>
                    </a:lnTo>
                    <a:lnTo>
                      <a:pt x="253206" y="89139"/>
                    </a:lnTo>
                    <a:cubicBezTo>
                      <a:pt x="272495" y="69850"/>
                      <a:pt x="272495" y="38577"/>
                      <a:pt x="253206" y="19289"/>
                    </a:cubicBezTo>
                    <a:cubicBezTo>
                      <a:pt x="233918" y="0"/>
                      <a:pt x="202645" y="0"/>
                      <a:pt x="183356" y="19289"/>
                    </a:cubicBezTo>
                    <a:lnTo>
                      <a:pt x="0" y="202645"/>
                    </a:lnTo>
                    <a:lnTo>
                      <a:pt x="0" y="27249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531144" y="2151856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878330" y="21164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草图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4445" y="2850832"/>
              <a:ext cx="1781175" cy="1135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6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模块位置</a:t>
              </a:r>
              <a:r>
                <a:rPr lang="zh-CN" sz="16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流程关系</a:t>
              </a:r>
              <a:r>
                <a:rPr lang="zh-CN" sz="16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并行 / 串行 / 闭环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714500" y="3333750"/>
              <a:ext cx="1828800" cy="609600"/>
            </a:xfrm>
            <a:custGeom>
              <a:avLst/>
              <a:gdLst/>
              <a:ahLst/>
              <a:cxnLst/>
              <a:rect l="l" t="t" r="r" b="b"/>
              <a:pathLst>
                <a:path w="1828800" h="609600">
                  <a:moveTo>
                    <a:pt x="0" y="571500"/>
                  </a:moveTo>
                  <a:lnTo>
                    <a:pt x="990600" y="0"/>
                  </a:lnTo>
                  <a:lnTo>
                    <a:pt x="1828800" y="609600"/>
                  </a:lnTo>
                </a:path>
              </a:pathLst>
            </a:custGeom>
            <a:noFill/>
            <a:ln w="38100">
              <a:solidFill>
                <a:srgbClr val="0F766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581150" y="3771900"/>
              <a:ext cx="266700" cy="266700"/>
            </a:xfrm>
            <a:prstGeom prst="ellipse">
              <a:avLst/>
            </a:prstGeom>
            <a:solidFill>
              <a:srgbClr val="CCFBF1"/>
            </a:solidFill>
            <a:ln w="28575">
              <a:solidFill>
                <a:srgbClr val="0F766E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571750" y="3200400"/>
              <a:ext cx="266700" cy="266700"/>
            </a:xfrm>
            <a:prstGeom prst="ellipse">
              <a:avLst/>
            </a:prstGeom>
            <a:solidFill>
              <a:srgbClr val="CCFBF1"/>
            </a:solidFill>
            <a:ln w="28575">
              <a:solidFill>
                <a:srgbClr val="0F766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409950" y="3810000"/>
              <a:ext cx="266700" cy="266700"/>
            </a:xfrm>
            <a:prstGeom prst="ellipse">
              <a:avLst/>
            </a:prstGeom>
            <a:solidFill>
              <a:srgbClr val="CCFBF1"/>
            </a:solidFill>
            <a:ln w="28575">
              <a:solidFill>
                <a:srgbClr val="0F766E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848600" y="1619250"/>
            <a:ext cx="3429000" cy="2857500"/>
            <a:chOff x="7848600" y="1619250"/>
            <a:chExt cx="34290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7848600" y="1619250"/>
              <a:ext cx="3429000" cy="2857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316912" y="2073275"/>
              <a:ext cx="244475" cy="341312"/>
              <a:chOff x="8316912" y="2073275"/>
              <a:chExt cx="244475" cy="34131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6762" y="2073275"/>
                <a:ext cx="104775" cy="19208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92088">
                    <a:moveTo>
                      <a:pt x="0" y="52388"/>
                    </a:moveTo>
                    <a:cubicBezTo>
                      <a:pt x="0" y="23455"/>
                      <a:pt x="23455" y="0"/>
                      <a:pt x="52388" y="0"/>
                    </a:cubicBezTo>
                    <a:cubicBezTo>
                      <a:pt x="81320" y="0"/>
                      <a:pt x="104775" y="23455"/>
                      <a:pt x="104775" y="52388"/>
                    </a:cubicBezTo>
                    <a:lnTo>
                      <a:pt x="104775" y="139700"/>
                    </a:lnTo>
                    <a:cubicBezTo>
                      <a:pt x="104775" y="168633"/>
                      <a:pt x="81320" y="192088"/>
                      <a:pt x="52388" y="192088"/>
                    </a:cubicBezTo>
                    <a:cubicBezTo>
                      <a:pt x="23455" y="192088"/>
                      <a:pt x="0" y="168633"/>
                      <a:pt x="0" y="139700"/>
                    </a:cubicBez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16912" y="2212975"/>
                <a:ext cx="244475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122237">
                    <a:moveTo>
                      <a:pt x="0" y="0"/>
                    </a:moveTo>
                    <a:cubicBezTo>
                      <a:pt x="0" y="67510"/>
                      <a:pt x="54728" y="122237"/>
                      <a:pt x="122238" y="122237"/>
                    </a:cubicBezTo>
                    <a:cubicBezTo>
                      <a:pt x="189747" y="122237"/>
                      <a:pt x="244475" y="67510"/>
                      <a:pt x="244475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69300" y="2405062"/>
                <a:ext cx="13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9525">
                    <a:moveTo>
                      <a:pt x="0" y="0"/>
                    </a:move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39150" y="2335212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812530" y="211645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语音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08645" y="2850832"/>
              <a:ext cx="1927860" cy="1135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6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节点名称</a:t>
              </a:r>
              <a:r>
                <a:rPr lang="zh-CN" sz="16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因果关系</a:t>
              </a:r>
              <a:r>
                <a:rPr lang="zh-CN" sz="16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设计意图与补充说明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610600" y="3638550"/>
              <a:ext cx="1409700" cy="400050"/>
            </a:xfrm>
            <a:custGeom>
              <a:avLst/>
              <a:gdLst/>
              <a:ahLst/>
              <a:cxnLst/>
              <a:rect l="l" t="t" r="r" b="b"/>
              <a:pathLst>
                <a:path w="1409700" h="400050">
                  <a:moveTo>
                    <a:pt x="0" y="400050"/>
                  </a:moveTo>
                  <a:cubicBezTo>
                    <a:pt x="381000" y="0"/>
                    <a:pt x="1028700" y="0"/>
                    <a:pt x="1409700" y="400050"/>
                  </a:cubicBezTo>
                </a:path>
              </a:pathLst>
            </a:custGeom>
            <a:noFill/>
            <a:ln w="38100">
              <a:solidFill>
                <a:srgbClr val="155E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591550" y="3257550"/>
              <a:ext cx="1447800" cy="457200"/>
            </a:xfrm>
            <a:custGeom>
              <a:avLst/>
              <a:gdLst/>
              <a:ahLst/>
              <a:cxnLst/>
              <a:rect l="l" t="t" r="r" b="b"/>
              <a:pathLst>
                <a:path w="1447800" h="457200">
                  <a:moveTo>
                    <a:pt x="0" y="457200"/>
                  </a:moveTo>
                  <a:cubicBezTo>
                    <a:pt x="419100" y="0"/>
                    <a:pt x="1028700" y="0"/>
                    <a:pt x="1447800" y="457200"/>
                  </a:cubicBezTo>
                </a:path>
              </a:pathLst>
            </a:custGeom>
            <a:noFill/>
            <a:ln w="19050">
              <a:solidFill>
                <a:srgbClr val="155E75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4343400" y="2400300"/>
            <a:ext cx="3505200" cy="1295400"/>
            <a:chOff x="4343400" y="2400300"/>
            <a:chExt cx="3505200" cy="1295400"/>
          </a:xfrm>
        </p:grpSpPr>
        <p:sp>
          <p:nvSpPr>
            <p:cNvPr id="28" name="Line 28"/>
            <p:cNvSpPr/>
            <p:nvPr/>
          </p:nvSpPr>
          <p:spPr>
            <a:xfrm>
              <a:off x="4343400" y="304800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28575">
              <a:solidFill>
                <a:srgbClr val="155E75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5429250" y="29337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2095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55E75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553200" y="304800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12954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F766E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6553200" y="29337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114300"/>
                  </a:moveTo>
                  <a:lnTo>
                    <a:pt x="209550" y="0"/>
                  </a:lnTo>
                  <a:lnTo>
                    <a:pt x="209550" y="22860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219700" y="2400300"/>
              <a:ext cx="1752600" cy="1295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55E7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69077" y="27203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混合表达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38788" y="31308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不完整但互补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22035" y="5153978"/>
            <a:ext cx="9347930" cy="799147"/>
            <a:chOff x="1422035" y="5153978"/>
            <a:chExt cx="9347930" cy="799147"/>
          </a:xfrm>
        </p:grpSpPr>
        <p:sp>
          <p:nvSpPr>
            <p:cNvPr id="36" name="TextBox 36"/>
            <p:cNvSpPr txBox="1"/>
            <p:nvPr/>
          </p:nvSpPr>
          <p:spPr>
            <a:xfrm>
              <a:off x="1422035" y="5153978"/>
              <a:ext cx="93479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核心问题：如何从多模态不完整表达中恢复结构化知识图？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76650" y="5648325"/>
              <a:ext cx="48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这不是单纯的画图生成，而是结构恢复与图预测问题。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39" name="TextBox 39"/>
            <p:cNvSpPr txBox="1"/>
            <p:nvPr/>
          </p:nvSpPr>
          <p:spPr>
            <a:xfrm>
              <a:off x="483870" y="6398895"/>
              <a:ext cx="12470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Research background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5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986000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任务定义：Speech-Guided Sketch-to-Knowledge-Graph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85800" y="1428750"/>
            <a:ext cx="4953000" cy="4000500"/>
            <a:chOff x="685800" y="1428750"/>
            <a:chExt cx="4953000" cy="4000500"/>
          </a:xfrm>
        </p:grpSpPr>
        <p:sp>
          <p:nvSpPr>
            <p:cNvPr id="6" name="Rectangle 6"/>
            <p:cNvSpPr/>
            <p:nvPr/>
          </p:nvSpPr>
          <p:spPr>
            <a:xfrm>
              <a:off x="685800" y="1428750"/>
              <a:ext cx="4953000" cy="4000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6806" y="1859756"/>
              <a:ext cx="300038" cy="300038"/>
              <a:chOff x="1116806" y="1859756"/>
              <a:chExt cx="300038" cy="30003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50156" y="199310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83481" y="192643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16806" y="185975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611630" y="18878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给定输入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66800" y="2552700"/>
              <a:ext cx="1714500" cy="781050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155E7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42045" y="2663190"/>
              <a:ext cx="7640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草图 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8770" y="29946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空间结构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543300" y="2552700"/>
              <a:ext cx="1714500" cy="781050"/>
            </a:xfrm>
            <a:prstGeom prst="rect">
              <a:avLst/>
            </a:prstGeom>
            <a:solidFill>
              <a:srgbClr val="CCFBF1"/>
            </a:solidFill>
            <a:ln w="19050">
              <a:solidFill>
                <a:srgbClr val="0F766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018545" y="2663190"/>
              <a:ext cx="7640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语音 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65270" y="29946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语义锚点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781300" y="29432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95649" y="273081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+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89185" y="3839528"/>
              <a:ext cx="25462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G_hat = (V, E)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4352925"/>
              <a:ext cx="4038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目标是重建可编辑知识图，而不是只生成图片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10300" y="1428750"/>
            <a:ext cx="5295900" cy="4000500"/>
            <a:chOff x="6210300" y="1428750"/>
            <a:chExt cx="52959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10300" y="1428750"/>
              <a:ext cx="5295900" cy="1809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636544" y="1816894"/>
              <a:ext cx="271463" cy="286543"/>
              <a:chOff x="6636544" y="1816894"/>
              <a:chExt cx="271463" cy="28654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681788" y="1816894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90488"/>
                    </a:moveTo>
                    <a:cubicBezTo>
                      <a:pt x="0" y="140462"/>
                      <a:pt x="40513" y="180975"/>
                      <a:pt x="90488" y="180975"/>
                    </a:cubicBezTo>
                    <a:cubicBezTo>
                      <a:pt x="140462" y="180975"/>
                      <a:pt x="180975" y="140462"/>
                      <a:pt x="180975" y="90488"/>
                    </a:cubicBezTo>
                    <a:cubicBezTo>
                      <a:pt x="180975" y="40513"/>
                      <a:pt x="140462" y="0"/>
                      <a:pt x="90488" y="0"/>
                    </a:cubicBezTo>
                    <a:cubicBezTo>
                      <a:pt x="40513" y="0"/>
                      <a:pt x="0" y="40513"/>
                      <a:pt x="0" y="90488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72275" y="1816894"/>
                <a:ext cx="301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180975">
                    <a:moveTo>
                      <a:pt x="0" y="0"/>
                    </a:moveTo>
                    <a:cubicBezTo>
                      <a:pt x="20103" y="5022"/>
                      <a:pt x="30162" y="35185"/>
                      <a:pt x="30162" y="90488"/>
                    </a:cubicBezTo>
                    <a:cubicBezTo>
                      <a:pt x="30162" y="145790"/>
                      <a:pt x="20103" y="175953"/>
                      <a:pt x="0" y="18097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42112" y="1816894"/>
                <a:ext cx="301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180975">
                    <a:moveTo>
                      <a:pt x="30162" y="0"/>
                    </a:moveTo>
                    <a:cubicBezTo>
                      <a:pt x="10059" y="5022"/>
                      <a:pt x="0" y="35185"/>
                      <a:pt x="0" y="90488"/>
                    </a:cubicBezTo>
                    <a:cubicBezTo>
                      <a:pt x="0" y="145790"/>
                      <a:pt x="10059" y="175953"/>
                      <a:pt x="30162" y="18097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81788" y="1907381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36544" y="2073275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802438" y="2073275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42112" y="204311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72275" y="1997869"/>
                <a:ext cx="9525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244">
                    <a:moveTo>
                      <a:pt x="0" y="0"/>
                    </a:moveTo>
                    <a:lnTo>
                      <a:pt x="0" y="45244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099935" y="1827848"/>
              <a:ext cx="82767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节点 V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71298" y="2344579"/>
              <a:ext cx="307488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标签 · 语义类型 · 解释 · 置信度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76060" y="2766060"/>
              <a:ext cx="30868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回答“图中有哪些概念，它们是什么意思”。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10300" y="3619500"/>
              <a:ext cx="5295900" cy="1809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36544" y="4007644"/>
              <a:ext cx="271462" cy="271462"/>
              <a:chOff x="6636544" y="4007644"/>
              <a:chExt cx="271462" cy="27146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636544" y="421878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47681" y="400764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3" y="60325"/>
                    </a:moveTo>
                    <a:cubicBezTo>
                      <a:pt x="46821" y="60325"/>
                      <a:pt x="60325" y="46821"/>
                      <a:pt x="60325" y="30163"/>
                    </a:cubicBezTo>
                    <a:cubicBezTo>
                      <a:pt x="60325" y="13504"/>
                      <a:pt x="46821" y="0"/>
                      <a:pt x="30163" y="0"/>
                    </a:cubicBezTo>
                    <a:cubicBezTo>
                      <a:pt x="13504" y="0"/>
                      <a:pt x="0" y="13504"/>
                      <a:pt x="0" y="30163"/>
                    </a:cubicBezTo>
                    <a:cubicBezTo>
                      <a:pt x="0" y="46821"/>
                      <a:pt x="13504" y="60325"/>
                      <a:pt x="30163" y="60325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66706" y="4037806"/>
                <a:ext cx="226219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226219" h="211137">
                    <a:moveTo>
                      <a:pt x="90488" y="211137"/>
                    </a:moveTo>
                    <a:lnTo>
                      <a:pt x="173434" y="211137"/>
                    </a:lnTo>
                    <a:cubicBezTo>
                      <a:pt x="202586" y="211137"/>
                      <a:pt x="226219" y="187505"/>
                      <a:pt x="226219" y="158353"/>
                    </a:cubicBezTo>
                    <a:cubicBezTo>
                      <a:pt x="226219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099935" y="4018598"/>
              <a:ext cx="5546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边 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71298" y="4535329"/>
              <a:ext cx="349493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方向 · 关系类型 · 关系标签 · 置信度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76060" y="4956810"/>
              <a:ext cx="30868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回答“概念之间如何连接、方向是否正确”。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5800" y="5791200"/>
            <a:ext cx="10820400" cy="514350"/>
            <a:chOff x="685800" y="5791200"/>
            <a:chExt cx="10820400" cy="514350"/>
          </a:xfrm>
        </p:grpSpPr>
        <p:sp>
          <p:nvSpPr>
            <p:cNvPr id="45" name="Rectangle 45"/>
            <p:cNvSpPr/>
            <p:nvPr/>
          </p:nvSpPr>
          <p:spPr>
            <a:xfrm>
              <a:off x="685800" y="5791200"/>
              <a:ext cx="10820400" cy="5143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49242" y="5946458"/>
              <a:ext cx="48935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本质：从多模态不完整表达中恢复结构化图表示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83870" y="6475095"/>
            <a:ext cx="11224261" cy="182880"/>
            <a:chOff x="483870" y="6475095"/>
            <a:chExt cx="11224261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483870" y="6475095"/>
              <a:ext cx="8929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Task definition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53254" y="64750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4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64953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模态互补性：草图给结构，语音给语义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62000" y="1524000"/>
            <a:ext cx="4381500" cy="3333750"/>
            <a:chOff x="762000" y="1524000"/>
            <a:chExt cx="4381500" cy="333375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4381500" cy="3333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524000"/>
              <a:ext cx="4381500" cy="628650"/>
            </a:xfrm>
            <a:prstGeom prst="rect">
              <a:avLst/>
            </a:prstGeom>
            <a:solidFill>
              <a:srgbClr val="E0F2FE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01725" y="1754761"/>
              <a:ext cx="210564" cy="210564"/>
              <a:chOff x="1101725" y="1754761"/>
              <a:chExt cx="210564" cy="21056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01725" y="1754761"/>
                <a:ext cx="210564" cy="210564"/>
              </a:xfrm>
              <a:custGeom>
                <a:avLst/>
                <a:gdLst/>
                <a:ahLst/>
                <a:cxnLst/>
                <a:rect l="l" t="t" r="r" b="b"/>
                <a:pathLst>
                  <a:path w="210564" h="210564">
                    <a:moveTo>
                      <a:pt x="0" y="210564"/>
                    </a:moveTo>
                    <a:lnTo>
                      <a:pt x="53975" y="210564"/>
                    </a:lnTo>
                    <a:lnTo>
                      <a:pt x="195659" y="68880"/>
                    </a:lnTo>
                    <a:cubicBezTo>
                      <a:pt x="210564" y="53975"/>
                      <a:pt x="210564" y="29810"/>
                      <a:pt x="195659" y="14905"/>
                    </a:cubicBezTo>
                    <a:cubicBezTo>
                      <a:pt x="180755" y="0"/>
                      <a:pt x="156589" y="0"/>
                      <a:pt x="141684" y="14905"/>
                    </a:cubicBezTo>
                    <a:lnTo>
                      <a:pt x="0" y="156589"/>
                    </a:lnTo>
                    <a:lnTo>
                      <a:pt x="0" y="21056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9916" y="178315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99235" y="1732598"/>
              <a:ext cx="5955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草图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2045" y="24126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优势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3950" y="2838450"/>
              <a:ext cx="23241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能表达二维结构</a:t>
              </a: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能表达上下游、分支和闭环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143000" y="35433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22045" y="38033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缺陷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3950" y="4219575"/>
              <a:ext cx="23241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节点名称可能不规范或缺失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箭头方向可能断裂或错误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048500" y="1524000"/>
            <a:ext cx="4381500" cy="3333750"/>
            <a:chOff x="7048500" y="1524000"/>
            <a:chExt cx="4381500" cy="3333750"/>
          </a:xfrm>
        </p:grpSpPr>
        <p:sp>
          <p:nvSpPr>
            <p:cNvPr id="18" name="Rectangle 18"/>
            <p:cNvSpPr/>
            <p:nvPr/>
          </p:nvSpPr>
          <p:spPr>
            <a:xfrm>
              <a:off x="7048500" y="1524000"/>
              <a:ext cx="4381500" cy="3333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48500" y="1524000"/>
              <a:ext cx="4381500" cy="628650"/>
            </a:xfrm>
            <a:prstGeom prst="rect">
              <a:avLst/>
            </a:prstGeom>
            <a:solidFill>
              <a:srgbClr val="CCFBF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401719" y="1722438"/>
              <a:ext cx="188912" cy="265906"/>
              <a:chOff x="7401719" y="1722438"/>
              <a:chExt cx="188912" cy="26590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455694" y="1722438"/>
                <a:ext cx="80962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48431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8" y="0"/>
                      <a:pt x="80962" y="18124"/>
                      <a:pt x="80962" y="40481"/>
                    </a:cubicBezTo>
                    <a:lnTo>
                      <a:pt x="80962" y="107950"/>
                    </a:lnTo>
                    <a:cubicBezTo>
                      <a:pt x="80962" y="130307"/>
                      <a:pt x="62838" y="148431"/>
                      <a:pt x="40481" y="148431"/>
                    </a:cubicBezTo>
                    <a:cubicBezTo>
                      <a:pt x="18124" y="148431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01719" y="1830388"/>
                <a:ext cx="188912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2" y="52167"/>
                      <a:pt x="188912" y="0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442200" y="197881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496175" y="192484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785735" y="1732598"/>
              <a:ext cx="5955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语音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08545" y="24126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优势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10450" y="2838450"/>
              <a:ext cx="25146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可表达完整语义和顺序关系</a:t>
              </a: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可补充因果、约束和设计意图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429500" y="35433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08545" y="380333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缺陷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10450" y="4219575"/>
              <a:ext cx="21336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没有二维布局信息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无法直接表达结构图形状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537079" y="2905125"/>
            <a:ext cx="7117842" cy="2943225"/>
            <a:chOff x="2537079" y="2905125"/>
            <a:chExt cx="7117842" cy="2943225"/>
          </a:xfrm>
        </p:grpSpPr>
        <p:sp>
          <p:nvSpPr>
            <p:cNvPr id="32" name="Line 32"/>
            <p:cNvSpPr/>
            <p:nvPr/>
          </p:nvSpPr>
          <p:spPr>
            <a:xfrm>
              <a:off x="5143500" y="31908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rgbClr val="155E75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5753100" y="2905125"/>
              <a:ext cx="685800" cy="571500"/>
            </a:xfrm>
            <a:custGeom>
              <a:avLst/>
              <a:gdLst/>
              <a:ahLst/>
              <a:cxnLst/>
              <a:rect l="l" t="t" r="r" b="b"/>
              <a:pathLst>
                <a:path w="685800" h="571500">
                  <a:moveTo>
                    <a:pt x="342900" y="0"/>
                  </a:moveTo>
                  <a:lnTo>
                    <a:pt x="685800" y="285750"/>
                  </a:lnTo>
                  <a:lnTo>
                    <a:pt x="342900" y="57150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55E7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89831" y="29689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互补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42648" y="3229928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融合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37079" y="5360670"/>
              <a:ext cx="71178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利用语音作为语义锚点，补全草图中的结构缺失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483870" y="6398895"/>
              <a:ext cx="15290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Modality complementarity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1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相关工作与研究空白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66750" y="1428750"/>
            <a:ext cx="3429000" cy="2857500"/>
            <a:chOff x="666750" y="1428750"/>
            <a:chExt cx="3429000" cy="285750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3429000" cy="2857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428750"/>
              <a:ext cx="3429000" cy="952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8688" y="1759744"/>
              <a:ext cx="248918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Sketch-to-Diagram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402" y="2246471"/>
              <a:ext cx="1330166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手绘草图解析为</a:t>
              </a:r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流程图 / 结构图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3048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3450" y="32861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5355" y="36261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缺少语音语义辅助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428750"/>
            <a:ext cx="3429000" cy="2857500"/>
            <a:chOff x="4381500" y="1428750"/>
            <a:chExt cx="34290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428750"/>
              <a:ext cx="3429000" cy="2857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428750"/>
              <a:ext cx="3429000" cy="9525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3438" y="1759744"/>
              <a:ext cx="191160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Image-to-Code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9152" y="2246471"/>
              <a:ext cx="1664970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流程图转 Mermaid</a:t>
              </a:r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或 JSON 可编辑表示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667250" y="3048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48200" y="32861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0105" y="36261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输入静态，不符合边说边画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96250" y="1428750"/>
            <a:ext cx="3429000" cy="2857500"/>
            <a:chOff x="8096250" y="1428750"/>
            <a:chExt cx="3429000" cy="2857500"/>
          </a:xfrm>
        </p:grpSpPr>
        <p:sp>
          <p:nvSpPr>
            <p:cNvPr id="22" name="Rectangle 22"/>
            <p:cNvSpPr/>
            <p:nvPr/>
          </p:nvSpPr>
          <p:spPr>
            <a:xfrm>
              <a:off x="8096250" y="1428750"/>
              <a:ext cx="3429000" cy="2857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96250" y="1428750"/>
              <a:ext cx="3429000" cy="9525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58188" y="1759744"/>
              <a:ext cx="26073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Graph Diffusion / SB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63902" y="2246471"/>
              <a:ext cx="1122045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图结构生成与</a:t>
              </a:r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离散状态迁移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382000" y="3048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62950" y="32861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64855" y="36261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很少结合真实交互输入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" y="4810125"/>
            <a:ext cx="10858500" cy="990600"/>
            <a:chOff x="666750" y="4810125"/>
            <a:chExt cx="10858500" cy="990600"/>
          </a:xfrm>
        </p:grpSpPr>
        <p:sp>
          <p:nvSpPr>
            <p:cNvPr id="30" name="Rectangle 30"/>
            <p:cNvSpPr/>
            <p:nvPr/>
          </p:nvSpPr>
          <p:spPr>
            <a:xfrm>
              <a:off x="666750" y="4810125"/>
              <a:ext cx="10858500" cy="990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9640" y="50063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研究空白总结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3450" y="5419725"/>
              <a:ext cx="23183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1. 语音作为结构约束信号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67200" y="5419725"/>
              <a:ext cx="21483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2. 草图 + 语音联合建模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0950" y="5419725"/>
              <a:ext cx="27184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3. 面向用户修改成本的图编辑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36" name="TextBox 36"/>
            <p:cNvSpPr txBox="1"/>
            <p:nvPr/>
          </p:nvSpPr>
          <p:spPr>
            <a:xfrm>
              <a:off x="483870" y="6398895"/>
              <a:ext cx="778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Related work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9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65709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方法总览：MMSB-Graph 图编辑桥框架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52450" y="1524000"/>
            <a:ext cx="11087100" cy="3143250"/>
            <a:chOff x="552450" y="1524000"/>
            <a:chExt cx="11087100" cy="3143250"/>
          </a:xfrm>
        </p:grpSpPr>
        <p:sp>
          <p:nvSpPr>
            <p:cNvPr id="6" name="Rectangle 6"/>
            <p:cNvSpPr/>
            <p:nvPr/>
          </p:nvSpPr>
          <p:spPr>
            <a:xfrm>
              <a:off x="552450" y="1524000"/>
              <a:ext cx="11087100" cy="31432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lgDash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38200" y="1924050"/>
              <a:ext cx="1809750" cy="2190750"/>
              <a:chOff x="838200" y="1924050"/>
              <a:chExt cx="1809750" cy="2190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38200" y="1924050"/>
                <a:ext cx="1809750" cy="2190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55E75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38200" y="1924050"/>
                <a:ext cx="1809750" cy="495300"/>
              </a:xfrm>
              <a:prstGeom prst="rect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61875" y="2069782"/>
                <a:ext cx="11624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55E75"/>
                    </a:solidFill>
                    <a:latin typeface="Arial"/>
                    <a:ea typeface="Microsoft YaHei"/>
                    <a:cs typeface="Arial"/>
                  </a:rPr>
                  <a:t>草图观测 S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68705" y="2711768"/>
                <a:ext cx="720090" cy="883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400"/>
                  </a:lnSpc>
                </a:pP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框图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箭头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空间布局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50753" y="3686175"/>
                <a:ext cx="38464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G_s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028950" y="1924050"/>
              <a:ext cx="1809750" cy="2190750"/>
              <a:chOff x="3028950" y="1924050"/>
              <a:chExt cx="1809750" cy="2190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028950" y="1924050"/>
                <a:ext cx="1809750" cy="2190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F766E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028950" y="1924050"/>
                <a:ext cx="1809750" cy="495300"/>
              </a:xfrm>
              <a:prstGeom prst="rect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352625" y="2069782"/>
                <a:ext cx="11624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语音讲述 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259455" y="2711768"/>
                <a:ext cx="720090" cy="883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400"/>
                  </a:lnSpc>
                </a:pP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转写文本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节点短语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关系顺序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41503" y="3686175"/>
                <a:ext cx="38464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G_u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219700" y="1924050"/>
              <a:ext cx="1809750" cy="2190750"/>
              <a:chOff x="5219700" y="1924050"/>
              <a:chExt cx="1809750" cy="2190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219700" y="1924050"/>
                <a:ext cx="1809750" cy="2190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5219700" y="1924050"/>
                <a:ext cx="1809750" cy="495300"/>
              </a:xfrm>
              <a:prstGeom prst="rect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526048" y="20697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563EB"/>
                    </a:solidFill>
                    <a:latin typeface="Arial"/>
                    <a:ea typeface="Microsoft YaHei"/>
                    <a:cs typeface="Arial"/>
                  </a:rPr>
                  <a:t>融合候选图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450205" y="2711768"/>
                <a:ext cx="720090" cy="883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400"/>
                  </a:lnSpc>
                </a:pP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合并节点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对齐边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保留布局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932253" y="3686175"/>
                <a:ext cx="38464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G_f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410450" y="1924050"/>
              <a:ext cx="1809750" cy="2190750"/>
              <a:chOff x="7410450" y="1924050"/>
              <a:chExt cx="1809750" cy="21907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410450" y="1924050"/>
                <a:ext cx="1809750" cy="2190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59E0B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7410450" y="1924050"/>
                <a:ext cx="1809750" cy="495300"/>
              </a:xfrm>
              <a:prstGeom prst="rect">
                <a:avLst/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832312" y="206978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图编辑桥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40955" y="2711768"/>
                <a:ext cx="917257" cy="883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400"/>
                  </a:lnSpc>
                </a:pP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插入 / 删除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方向修正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代价最小化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07489" y="3686175"/>
                <a:ext cx="6156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G_0:T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01200" y="1924050"/>
              <a:ext cx="1809750" cy="2190750"/>
              <a:chOff x="9601200" y="1924050"/>
              <a:chExt cx="1809750" cy="21907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601200" y="1924050"/>
                <a:ext cx="1809750" cy="2190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F766E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9601200" y="1924050"/>
                <a:ext cx="1809750" cy="495300"/>
              </a:xfrm>
              <a:prstGeom prst="rect">
                <a:avLst/>
              </a:prstGeom>
              <a:solidFill>
                <a:srgbClr val="DCFCE7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907548" y="20697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规范知识图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831705" y="2711768"/>
                <a:ext cx="891540" cy="883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400"/>
                  </a:lnSpc>
                </a:pP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 xml:space="preserve">Mermaid 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JSON</a:t>
                </a:r>
                <a:r>
                  <a:rPr lang="zh-CN" sz="135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可编辑渲染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198239" y="3686175"/>
                <a:ext cx="6156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F766E"/>
                    </a:solidFill>
                    <a:latin typeface="Consolas"/>
                    <a:ea typeface="Microsoft YaHei"/>
                    <a:cs typeface="Consolas"/>
                  </a:rPr>
                  <a:t>G_hat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2724150" y="2886075"/>
              <a:ext cx="6800850" cy="266700"/>
              <a:chOff x="2724150" y="2886075"/>
              <a:chExt cx="6800850" cy="266700"/>
            </a:xfrm>
          </p:grpSpPr>
          <p:sp>
            <p:nvSpPr>
              <p:cNvPr id="37" name="Polygon 37"/>
              <p:cNvSpPr/>
              <p:nvPr/>
            </p:nvSpPr>
            <p:spPr>
              <a:xfrm>
                <a:off x="2724150" y="2886075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0" y="133350"/>
                    </a:moveTo>
                    <a:lnTo>
                      <a:pt x="228600" y="0"/>
                    </a:lnTo>
                    <a:lnTo>
                      <a:pt x="228600" y="266700"/>
                    </a:lnTo>
                    <a:close/>
                  </a:path>
                </a:pathLst>
              </a:custGeom>
              <a:solidFill>
                <a:srgbClr val="155E75"/>
              </a:solidFill>
              <a:ln>
                <a:noFill/>
              </a:ln>
            </p:spPr>
          </p:sp>
          <p:sp>
            <p:nvSpPr>
              <p:cNvPr id="38" name="Polygon 38"/>
              <p:cNvSpPr/>
              <p:nvPr/>
            </p:nvSpPr>
            <p:spPr>
              <a:xfrm>
                <a:off x="4914900" y="2886075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0" y="133350"/>
                    </a:moveTo>
                    <a:lnTo>
                      <a:pt x="228600" y="0"/>
                    </a:lnTo>
                    <a:lnTo>
                      <a:pt x="228600" y="266700"/>
                    </a:lnTo>
                    <a:close/>
                  </a:path>
                </a:pathLst>
              </a:custGeom>
              <a:solidFill>
                <a:srgbClr val="155E75"/>
              </a:solidFill>
              <a:ln>
                <a:noFill/>
              </a:ln>
            </p:spPr>
          </p:sp>
          <p:sp>
            <p:nvSpPr>
              <p:cNvPr id="39" name="Polygon 39"/>
              <p:cNvSpPr/>
              <p:nvPr/>
            </p:nvSpPr>
            <p:spPr>
              <a:xfrm>
                <a:off x="7105650" y="2886075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0" y="133350"/>
                    </a:moveTo>
                    <a:lnTo>
                      <a:pt x="228600" y="0"/>
                    </a:lnTo>
                    <a:lnTo>
                      <a:pt x="228600" y="266700"/>
                    </a:lnTo>
                    <a:close/>
                  </a:path>
                </a:pathLst>
              </a:custGeom>
              <a:solidFill>
                <a:srgbClr val="155E75"/>
              </a:solidFill>
              <a:ln>
                <a:noFill/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9296400" y="2886075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0" y="133350"/>
                    </a:moveTo>
                    <a:lnTo>
                      <a:pt x="228600" y="0"/>
                    </a:lnTo>
                    <a:lnTo>
                      <a:pt x="228600" y="266700"/>
                    </a:lnTo>
                    <a:close/>
                  </a:path>
                </a:pathLst>
              </a:custGeom>
              <a:solidFill>
                <a:srgbClr val="155E75"/>
              </a:solidFill>
              <a:ln>
                <a:noFill/>
              </a:ln>
            </p:spPr>
          </p:sp>
        </p:grpSp>
      </p:grpSp>
      <p:grpSp>
        <p:nvGrpSpPr>
          <p:cNvPr id="46" name="Group 46"/>
          <p:cNvGrpSpPr/>
          <p:nvPr/>
        </p:nvGrpSpPr>
        <p:grpSpPr>
          <a:xfrm>
            <a:off x="1066800" y="5219700"/>
            <a:ext cx="10058400" cy="742950"/>
            <a:chOff x="1066800" y="5219700"/>
            <a:chExt cx="10058400" cy="742950"/>
          </a:xfrm>
        </p:grpSpPr>
        <p:sp>
          <p:nvSpPr>
            <p:cNvPr id="43" name="Rectangle 43"/>
            <p:cNvSpPr/>
            <p:nvPr/>
          </p:nvSpPr>
          <p:spPr>
            <a:xfrm>
              <a:off x="1066800" y="5219700"/>
              <a:ext cx="10058400" cy="7429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914620" y="5330190"/>
              <a:ext cx="83627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核心思想：不直接一步生成最终图，而是通过可解释编辑路径逐步恢复结构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91897" y="5691664"/>
              <a:ext cx="26082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E0F2FE"/>
                  </a:solidFill>
                  <a:latin typeface="Arial"/>
                  <a:ea typeface="Microsoft YaHei"/>
                  <a:cs typeface="Arial"/>
                </a:rPr>
                <a:t>多模态约束 + 离散图编辑路径优化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47" name="TextBox 47"/>
            <p:cNvSpPr txBox="1"/>
            <p:nvPr/>
          </p:nvSpPr>
          <p:spPr>
            <a:xfrm>
              <a:off x="483870" y="6398895"/>
              <a:ext cx="1289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MMSB-Graph overview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50966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三种中间图表示：Gs、Gu、Gf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66750" y="1504950"/>
            <a:ext cx="3371850" cy="3752850"/>
            <a:chOff x="666750" y="1504950"/>
            <a:chExt cx="3371850" cy="3752850"/>
          </a:xfrm>
        </p:grpSpPr>
        <p:sp>
          <p:nvSpPr>
            <p:cNvPr id="6" name="Rectangle 6"/>
            <p:cNvSpPr/>
            <p:nvPr/>
          </p:nvSpPr>
          <p:spPr>
            <a:xfrm>
              <a:off x="666750" y="1504950"/>
              <a:ext cx="3371850" cy="3752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504950"/>
              <a:ext cx="3371850" cy="11430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7265" y="1820228"/>
              <a:ext cx="6538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55E75"/>
                  </a:solidFill>
                  <a:latin typeface="Consolas"/>
                  <a:ea typeface="Microsoft YaHei"/>
                  <a:cs typeface="Consolas"/>
                </a:rPr>
                <a:t>G_s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1635" y="18659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草图图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9648" y="2516029"/>
              <a:ext cx="2440305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来源：视觉草图解析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保留：空间结构、框、箭头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不足：标签不完整、语义弱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009650" y="4286250"/>
              <a:ext cx="2686050" cy="9525"/>
            </a:xfrm>
            <a:custGeom>
              <a:avLst/>
              <a:gdLst/>
              <a:ahLst/>
              <a:cxnLst/>
              <a:rect l="l" t="t" r="r" b="b"/>
              <a:pathLst>
                <a:path w="2686050" h="9525">
                  <a:moveTo>
                    <a:pt x="0" y="0"/>
                  </a:moveTo>
                  <a:lnTo>
                    <a:pt x="2686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92505" y="45596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4005" y="45596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约束布局和局部拓扑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10075" y="1504950"/>
            <a:ext cx="3371850" cy="3752850"/>
            <a:chOff x="4410075" y="1504950"/>
            <a:chExt cx="3371850" cy="3752850"/>
          </a:xfrm>
        </p:grpSpPr>
        <p:sp>
          <p:nvSpPr>
            <p:cNvPr id="15" name="Rectangle 15"/>
            <p:cNvSpPr/>
            <p:nvPr/>
          </p:nvSpPr>
          <p:spPr>
            <a:xfrm>
              <a:off x="4410075" y="1504950"/>
              <a:ext cx="3371850" cy="3752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10075" y="1504950"/>
              <a:ext cx="3371850" cy="1143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20590" y="1820228"/>
              <a:ext cx="6538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F766E"/>
                  </a:solidFill>
                  <a:latin typeface="Consolas"/>
                  <a:ea typeface="Microsoft YaHei"/>
                  <a:cs typeface="Consolas"/>
                </a:rPr>
                <a:t>G_u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94960" y="18659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语音图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2972" y="2516029"/>
              <a:ext cx="224028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来源：语音转写与解析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保留：节点短语、顺序词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不足：无可靠二维布局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752975" y="4286250"/>
              <a:ext cx="2686050" cy="9525"/>
            </a:xfrm>
            <a:custGeom>
              <a:avLst/>
              <a:gdLst/>
              <a:ahLst/>
              <a:cxnLst/>
              <a:rect l="l" t="t" r="r" b="b"/>
              <a:pathLst>
                <a:path w="2686050" h="9525">
                  <a:moveTo>
                    <a:pt x="0" y="0"/>
                  </a:moveTo>
                  <a:lnTo>
                    <a:pt x="2686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5830" y="45596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07330" y="45596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提供语义锚点与方向提示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53400" y="1504950"/>
            <a:ext cx="3371850" cy="3752850"/>
            <a:chOff x="8153400" y="1504950"/>
            <a:chExt cx="3371850" cy="3752850"/>
          </a:xfrm>
        </p:grpSpPr>
        <p:sp>
          <p:nvSpPr>
            <p:cNvPr id="24" name="Rectangle 24"/>
            <p:cNvSpPr/>
            <p:nvPr/>
          </p:nvSpPr>
          <p:spPr>
            <a:xfrm>
              <a:off x="8153400" y="1504950"/>
              <a:ext cx="3371850" cy="3752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53400" y="1504950"/>
              <a:ext cx="337185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63915" y="1820228"/>
              <a:ext cx="6538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G_f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38285" y="18659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融合图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76298" y="2516029"/>
              <a:ext cx="2470309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来源：草图 + 语音联合构建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保留：候选节点与候选边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不足：仍有缺边和错向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496300" y="4286250"/>
              <a:ext cx="2686050" cy="9525"/>
            </a:xfrm>
            <a:custGeom>
              <a:avLst/>
              <a:gdLst/>
              <a:ahLst/>
              <a:cxnLst/>
              <a:rect l="l" t="t" r="r" b="b"/>
              <a:pathLst>
                <a:path w="2686050" h="9525">
                  <a:moveTo>
                    <a:pt x="0" y="0"/>
                  </a:moveTo>
                  <a:lnTo>
                    <a:pt x="2686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79155" y="45596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50655" y="45596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作为图编辑桥初始状态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063866" y="5796915"/>
            <a:ext cx="6601456" cy="365760"/>
            <a:chOff x="3063866" y="5796915"/>
            <a:chExt cx="6601456" cy="365760"/>
          </a:xfrm>
        </p:grpSpPr>
        <p:grpSp>
          <p:nvGrpSpPr>
            <p:cNvPr id="35" name="Group 35"/>
            <p:cNvGrpSpPr/>
            <p:nvPr/>
          </p:nvGrpSpPr>
          <p:grpSpPr>
            <a:xfrm>
              <a:off x="3063866" y="5807075"/>
              <a:ext cx="215909" cy="215900"/>
              <a:chOff x="3063866" y="5807075"/>
              <a:chExt cx="215909" cy="2159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117850" y="586105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148431" y="3616"/>
                    </a:moveTo>
                    <a:cubicBezTo>
                      <a:pt x="156781" y="8437"/>
                      <a:pt x="161925" y="17346"/>
                      <a:pt x="161925" y="26987"/>
                    </a:cubicBezTo>
                    <a:lnTo>
                      <a:pt x="161925" y="134937"/>
                    </a:lnTo>
                    <a:cubicBezTo>
                      <a:pt x="161925" y="149842"/>
                      <a:pt x="149842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2"/>
                      <a:pt x="0" y="134937"/>
                    </a:cubicBezTo>
                    <a:lnTo>
                      <a:pt x="0" y="26987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67469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063866" y="5807075"/>
                <a:ext cx="161934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34" h="161925">
                    <a:moveTo>
                      <a:pt x="13503" y="158336"/>
                    </a:moveTo>
                    <a:cubicBezTo>
                      <a:pt x="5145" y="153510"/>
                      <a:pt x="0" y="144589"/>
                      <a:pt x="9" y="134938"/>
                    </a:cubicBezTo>
                    <a:lnTo>
                      <a:pt x="9" y="26988"/>
                    </a:lnTo>
                    <a:cubicBezTo>
                      <a:pt x="9" y="12083"/>
                      <a:pt x="12092" y="0"/>
                      <a:pt x="26997" y="0"/>
                    </a:cubicBezTo>
                    <a:lnTo>
                      <a:pt x="134947" y="0"/>
                    </a:lnTo>
                    <a:cubicBezTo>
                      <a:pt x="149852" y="0"/>
                      <a:pt x="161934" y="12083"/>
                      <a:pt x="161934" y="26988"/>
                    </a:cubicBezTo>
                    <a:lnTo>
                      <a:pt x="161934" y="134938"/>
                    </a:lnTo>
                    <a:cubicBezTo>
                      <a:pt x="161934" y="149842"/>
                      <a:pt x="149852" y="161925"/>
                      <a:pt x="134947" y="161925"/>
                    </a:cubicBezTo>
                    <a:lnTo>
                      <a:pt x="94466" y="16192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520440" y="5796915"/>
              <a:ext cx="614488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显式拆分中间图，才能诊断“结构错了”还是“语义错了”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483870" y="6398895"/>
              <a:ext cx="15770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Intermediate graph states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2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57392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图编辑桥：逐步恢复而非一步生成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123950" y="2838450"/>
            <a:ext cx="9925050" cy="800100"/>
            <a:chOff x="1123950" y="2838450"/>
            <a:chExt cx="9925050" cy="800100"/>
          </a:xfrm>
        </p:grpSpPr>
        <p:sp>
          <p:nvSpPr>
            <p:cNvPr id="6" name="Line 6"/>
            <p:cNvSpPr/>
            <p:nvPr/>
          </p:nvSpPr>
          <p:spPr>
            <a:xfrm>
              <a:off x="1143000" y="3238500"/>
              <a:ext cx="9906000" cy="1"/>
            </a:xfrm>
            <a:prstGeom prst="line">
              <a:avLst/>
            </a:prstGeom>
            <a:noFill/>
            <a:ln w="38100">
              <a:solidFill>
                <a:srgbClr val="155E75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23950" y="2838450"/>
              <a:ext cx="800100" cy="800100"/>
              <a:chOff x="1123950" y="2838450"/>
              <a:chExt cx="800100" cy="8001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23950" y="2838450"/>
                <a:ext cx="800100" cy="800100"/>
              </a:xfrm>
              <a:prstGeom prst="ellipse">
                <a:avLst/>
              </a:prstGeom>
              <a:solidFill>
                <a:srgbClr val="E0F2FE"/>
              </a:solidFill>
              <a:ln w="28575">
                <a:solidFill>
                  <a:srgbClr val="155E75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17831" y="30260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插入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59694" y="3288506"/>
                <a:ext cx="3286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节点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314700" y="2838450"/>
              <a:ext cx="800100" cy="800100"/>
              <a:chOff x="3314700" y="2838450"/>
              <a:chExt cx="800100" cy="8001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3314700" y="283845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155E75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508581" y="30260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删除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75434" y="3288506"/>
                <a:ext cx="4786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多余点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505450" y="2838450"/>
              <a:ext cx="800100" cy="800100"/>
              <a:chOff x="5505450" y="2838450"/>
              <a:chExt cx="800100" cy="80010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5505450" y="2838450"/>
                <a:ext cx="800100" cy="800100"/>
              </a:xfrm>
              <a:prstGeom prst="ellipse">
                <a:avLst/>
              </a:prstGeom>
              <a:solidFill>
                <a:srgbClr val="CCFBF1"/>
              </a:solidFill>
              <a:ln w="28575">
                <a:solidFill>
                  <a:srgbClr val="0F766E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699331" y="30260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插入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666184" y="3288506"/>
                <a:ext cx="4786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缺失边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96200" y="2838450"/>
              <a:ext cx="800100" cy="800100"/>
              <a:chOff x="7696200" y="2838450"/>
              <a:chExt cx="800100" cy="8001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696200" y="283845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F766E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90081" y="30260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删除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56934" y="3288506"/>
                <a:ext cx="4786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错误边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886950" y="2838450"/>
              <a:ext cx="800100" cy="800100"/>
              <a:chOff x="9886950" y="2838450"/>
              <a:chExt cx="800100" cy="80010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9886950" y="2838450"/>
                <a:ext cx="800100" cy="800100"/>
              </a:xfrm>
              <a:prstGeom prst="ellipse">
                <a:avLst/>
              </a:prstGeom>
              <a:solidFill>
                <a:srgbClr val="FEF3C7"/>
              </a:solidFill>
              <a:ln w="28575">
                <a:solidFill>
                  <a:srgbClr val="F59E0B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080831" y="3026092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修正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22694" y="3288506"/>
                <a:ext cx="3286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方向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762000" y="1543050"/>
            <a:ext cx="10668000" cy="876300"/>
            <a:chOff x="762000" y="1543050"/>
            <a:chExt cx="10668000" cy="876300"/>
          </a:xfrm>
        </p:grpSpPr>
        <p:sp>
          <p:nvSpPr>
            <p:cNvPr id="28" name="Rectangle 28"/>
            <p:cNvSpPr/>
            <p:nvPr/>
          </p:nvSpPr>
          <p:spPr>
            <a:xfrm>
              <a:off x="762000" y="1543050"/>
              <a:ext cx="259080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58873" y="16887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初始候选图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73329" y="1990725"/>
              <a:ext cx="3681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G_f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839200" y="1543050"/>
              <a:ext cx="259080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36073" y="16887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规范知识图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40516" y="1990725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G_hat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76300" y="4762500"/>
            <a:ext cx="10439400" cy="838200"/>
            <a:chOff x="876300" y="4762500"/>
            <a:chExt cx="10439400" cy="838200"/>
          </a:xfrm>
        </p:grpSpPr>
        <p:sp>
          <p:nvSpPr>
            <p:cNvPr id="35" name="Rectangle 35"/>
            <p:cNvSpPr/>
            <p:nvPr/>
          </p:nvSpPr>
          <p:spPr>
            <a:xfrm>
              <a:off x="876300" y="4762500"/>
              <a:ext cx="4762500" cy="838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41095" y="49082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一步生成的问题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4905" y="5245418"/>
              <a:ext cx="27886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不可解释 · 不可诊断 · 错误难定位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53200" y="4762500"/>
              <a:ext cx="4762500" cy="838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55E7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17995" y="490823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图编辑方式的优势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1805" y="5245418"/>
              <a:ext cx="4048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追踪错误来源 · 分析每步代价 · 符合人工修改过程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42" name="TextBox 42"/>
            <p:cNvSpPr txBox="1"/>
            <p:nvPr/>
          </p:nvSpPr>
          <p:spPr>
            <a:xfrm>
              <a:off x="483870" y="6398895"/>
              <a:ext cx="11930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Graph editing bridge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代价函数与路径能量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57250" y="1485900"/>
            <a:ext cx="10477500" cy="2000250"/>
            <a:chOff x="857250" y="1485900"/>
            <a:chExt cx="10477500" cy="2000250"/>
          </a:xfrm>
        </p:grpSpPr>
        <p:sp>
          <p:nvSpPr>
            <p:cNvPr id="6" name="Rectangle 6"/>
            <p:cNvSpPr/>
            <p:nvPr/>
          </p:nvSpPr>
          <p:spPr>
            <a:xfrm>
              <a:off x="857250" y="1485900"/>
              <a:ext cx="10477500" cy="20002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1580" y="1773555"/>
              <a:ext cx="80952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c(G_t, G_t+1) = GED + label + direction + layout - speech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238250" y="23241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1580" y="2573655"/>
              <a:ext cx="599288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033"/>
                  </a:solidFill>
                  <a:latin typeface="Consolas"/>
                  <a:ea typeface="Microsoft YaHei"/>
                  <a:cs typeface="Consolas"/>
                </a:rPr>
                <a:t>E(G_0:T) = (1 / T) · sum c(G_t, G_t+1)^2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2058" y="3043714"/>
              <a:ext cx="39428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保留关键结构，避免在答辩页中过度展开数学细节。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57250" y="4000500"/>
            <a:ext cx="10248900" cy="819150"/>
            <a:chOff x="857250" y="4000500"/>
            <a:chExt cx="10248900" cy="819150"/>
          </a:xfrm>
        </p:grpSpPr>
        <p:sp>
          <p:nvSpPr>
            <p:cNvPr id="12" name="Rectangle 12"/>
            <p:cNvSpPr/>
            <p:nvPr/>
          </p:nvSpPr>
          <p:spPr>
            <a:xfrm>
              <a:off x="857250" y="4000500"/>
              <a:ext cx="1866900" cy="819150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155E7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46584" y="41814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结构变化量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5410" y="44805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图编辑距离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952750" y="4000500"/>
              <a:ext cx="1866900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47098" y="4181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语义距离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90900" y="44805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节点名称差异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4000500"/>
              <a:ext cx="1866900" cy="819150"/>
            </a:xfrm>
            <a:prstGeom prst="rect">
              <a:avLst/>
            </a:prstGeom>
            <a:solidFill>
              <a:srgbClr val="FEF3C7"/>
            </a:solidFill>
            <a:ln w="19050">
              <a:solidFill>
                <a:srgbClr val="F59E0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42598" y="4181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方向代价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46420" y="44805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错向惩罚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0" y="4000500"/>
              <a:ext cx="1866900" cy="819150"/>
            </a:xfrm>
            <a:prstGeom prst="rect">
              <a:avLst/>
            </a:prstGeom>
            <a:solidFill>
              <a:srgbClr val="CCFBF1"/>
            </a:solidFill>
            <a:ln w="19050">
              <a:solidFill>
                <a:srgbClr val="0F766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38098" y="4181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草图保持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61910" y="44805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空间一致性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239250" y="4000500"/>
              <a:ext cx="1866900" cy="819150"/>
            </a:xfrm>
            <a:prstGeom prst="rect">
              <a:avLst/>
            </a:prstGeom>
            <a:solidFill>
              <a:srgbClr val="DCFCE7"/>
            </a:solidFill>
            <a:ln w="19050">
              <a:solidFill>
                <a:srgbClr val="0F766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33598" y="4181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语音覆盖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37420" y="44805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语义奖励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99354" y="5395912"/>
            <a:ext cx="9193292" cy="759619"/>
            <a:chOff x="1499354" y="5395912"/>
            <a:chExt cx="9193292" cy="759619"/>
          </a:xfrm>
        </p:grpSpPr>
        <p:sp>
          <p:nvSpPr>
            <p:cNvPr id="28" name="TextBox 28"/>
            <p:cNvSpPr txBox="1"/>
            <p:nvPr/>
          </p:nvSpPr>
          <p:spPr>
            <a:xfrm>
              <a:off x="1499354" y="5395912"/>
              <a:ext cx="91932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能量越低，说明编辑过程越自然；能量越高，说明强行修正越多。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07594" y="5865971"/>
              <a:ext cx="497681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它不仅评价最终图是否正确，也评价恢复过程是否可解释。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31" name="TextBox 31"/>
            <p:cNvSpPr txBox="1"/>
            <p:nvPr/>
          </p:nvSpPr>
          <p:spPr>
            <a:xfrm>
              <a:off x="483870" y="6398895"/>
              <a:ext cx="1253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Cost and path energy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30929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数据集与评测协议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66750" y="1428750"/>
            <a:ext cx="4095750" cy="4095750"/>
            <a:chOff x="666750" y="1428750"/>
            <a:chExt cx="4095750" cy="409575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409575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4425" y="1878806"/>
              <a:ext cx="266700" cy="300038"/>
              <a:chOff x="1114425" y="1878806"/>
              <a:chExt cx="266700" cy="30003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14425" y="1878806"/>
                <a:ext cx="2667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14425" y="1928812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14425" y="2028825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611630" y="1906905"/>
              <a:ext cx="25232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24 个知识草图样例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8700" y="2619375"/>
              <a:ext cx="2324100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覆盖：线性流程、分支结构</a:t>
              </a: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反馈闭环、模型架构图</a:t>
              </a: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实验流程图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47750" y="38100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8700" y="40671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每个样例包含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0605" y="4426268"/>
              <a:ext cx="2434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草图、语音、转写、标准节点边</a:t>
              </a: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语音锚点、区域坐标、难度标签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38750" y="1428750"/>
            <a:ext cx="6286500" cy="4095750"/>
            <a:chOff x="5238750" y="1428750"/>
            <a:chExt cx="6286500" cy="4095750"/>
          </a:xfrm>
        </p:grpSpPr>
        <p:sp>
          <p:nvSpPr>
            <p:cNvPr id="17" name="Rectangle 17"/>
            <p:cNvSpPr/>
            <p:nvPr/>
          </p:nvSpPr>
          <p:spPr>
            <a:xfrm>
              <a:off x="5238750" y="1428750"/>
              <a:ext cx="628650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93080" y="17164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评测指标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619750" y="2324100"/>
              <a:ext cx="5524500" cy="723900"/>
              <a:chOff x="5619750" y="2324100"/>
              <a:chExt cx="5524500" cy="7239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619750" y="2324100"/>
                <a:ext cx="1714500" cy="723900"/>
              </a:xfrm>
              <a:prstGeom prst="rect">
                <a:avLst/>
              </a:prstGeom>
              <a:solidFill>
                <a:srgbClr val="E0F2FE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060048" y="2592229"/>
                <a:ext cx="83390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Node F1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524750" y="2324100"/>
                <a:ext cx="1714500" cy="723900"/>
              </a:xfrm>
              <a:prstGeom prst="rect">
                <a:avLst/>
              </a:prstGeom>
              <a:solidFill>
                <a:srgbClr val="E0F2FE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965048" y="2592229"/>
                <a:ext cx="83390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55E75"/>
                    </a:solidFill>
                    <a:latin typeface="Consolas"/>
                    <a:ea typeface="Microsoft YaHei"/>
                    <a:cs typeface="Consolas"/>
                  </a:rPr>
                  <a:t>Edge F1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9429750" y="2324100"/>
                <a:ext cx="1714500" cy="723900"/>
              </a:xfrm>
              <a:prstGeom prst="rect">
                <a:avLst/>
              </a:prstGeom>
              <a:solidFill>
                <a:srgbClr val="CCFBF1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797296" y="25403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方向准确率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619750" y="3238500"/>
              <a:ext cx="5524500" cy="723900"/>
              <a:chOff x="5619750" y="3238500"/>
              <a:chExt cx="5524500" cy="723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619750" y="3238500"/>
                <a:ext cx="1714500" cy="7239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275062" y="3506629"/>
                <a:ext cx="40387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75" b="1" dirty="0">
                    <a:solidFill>
                      <a:srgbClr val="172033"/>
                    </a:solidFill>
                    <a:latin typeface="Consolas"/>
                    <a:ea typeface="Microsoft YaHei"/>
                    <a:cs typeface="Consolas"/>
                  </a:rPr>
                  <a:t>GED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7524750" y="3238500"/>
                <a:ext cx="1714500" cy="7239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986808" y="34547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语音覆盖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9429750" y="3238500"/>
                <a:ext cx="1714500" cy="7239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891808" y="34547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布局保持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72250" y="4152900"/>
              <a:ext cx="3714750" cy="723900"/>
              <a:chOff x="6572250" y="4152900"/>
              <a:chExt cx="3714750" cy="7239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572250" y="4152900"/>
                <a:ext cx="1714500" cy="723900"/>
              </a:xfrm>
              <a:prstGeom prst="rect">
                <a:avLst/>
              </a:prstGeom>
              <a:solidFill>
                <a:srgbClr val="FEF3C7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034308" y="44453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修改成本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8572500" y="4152900"/>
                <a:ext cx="1714500" cy="723900"/>
              </a:xfrm>
              <a:prstGeom prst="rect">
                <a:avLst/>
              </a:prstGeom>
              <a:solidFill>
                <a:srgbClr val="DCFCE7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034558" y="44453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路径能量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3417260" y="5833586"/>
            <a:ext cx="5357479" cy="350520"/>
            <a:chOff x="3417260" y="5833586"/>
            <a:chExt cx="5357479" cy="350520"/>
          </a:xfrm>
        </p:grpSpPr>
        <p:sp>
          <p:nvSpPr>
            <p:cNvPr id="39" name="TextBox 39"/>
            <p:cNvSpPr txBox="1"/>
            <p:nvPr/>
          </p:nvSpPr>
          <p:spPr>
            <a:xfrm>
              <a:off x="3417260" y="5833586"/>
              <a:ext cx="535747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评测不只看最终图，也看恢复过程和用户修改负担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483870" y="6398895"/>
              <a:ext cx="1889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Dataset and evaluation protocol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8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实验设置：五类对比方法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23950" y="1482090"/>
            <a:ext cx="5023485" cy="4056698"/>
            <a:chOff x="1123950" y="1482090"/>
            <a:chExt cx="5023485" cy="4056698"/>
          </a:xfrm>
        </p:grpSpPr>
        <p:sp>
          <p:nvSpPr>
            <p:cNvPr id="6" name="Line 6"/>
            <p:cNvSpPr/>
            <p:nvPr/>
          </p:nvSpPr>
          <p:spPr>
            <a:xfrm>
              <a:off x="1333500" y="152400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38100">
              <a:solidFill>
                <a:srgbClr val="155E75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123950" y="1482090"/>
              <a:ext cx="4303395" cy="627698"/>
              <a:chOff x="1123950" y="1482090"/>
              <a:chExt cx="4303395" cy="627698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23950" y="1543050"/>
                <a:ext cx="419100" cy="419100"/>
              </a:xfrm>
              <a:prstGeom prst="ellipse">
                <a:avLst/>
              </a:prstGeom>
              <a:solidFill>
                <a:srgbClr val="155E75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68214" y="1681639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86890" y="14820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草图单模态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792605" y="1835468"/>
                <a:ext cx="36347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只使用空间结构，检验视觉信息的基础能力。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123950" y="2339340"/>
              <a:ext cx="5023485" cy="627698"/>
              <a:chOff x="1123950" y="2339340"/>
              <a:chExt cx="5023485" cy="627698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123950" y="2400300"/>
                <a:ext cx="419100" cy="419100"/>
              </a:xfrm>
              <a:prstGeom prst="ellipse">
                <a:avLst/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68214" y="2538889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86890" y="233934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语音单模态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92605" y="2692718"/>
                <a:ext cx="435483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只使用语义顺序，检验语音对节点和方向的补全能力。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123950" y="3196590"/>
              <a:ext cx="4483418" cy="627698"/>
              <a:chOff x="1123950" y="3196590"/>
              <a:chExt cx="4483418" cy="627698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123950" y="3257550"/>
                <a:ext cx="419100" cy="419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68214" y="3396139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86890" y="319659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早期融合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92605" y="3549968"/>
                <a:ext cx="381476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合并草图和语音候选图，检验简单融合的上限。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123950" y="4053840"/>
              <a:ext cx="4483418" cy="627698"/>
              <a:chOff x="1123950" y="4053840"/>
              <a:chExt cx="4483418" cy="627698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123950" y="4114800"/>
                <a:ext cx="419100" cy="4191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68214" y="4253389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786890" y="40538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贪心修复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92605" y="4407218"/>
                <a:ext cx="381476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局部补边和纠错，检验非全局路径优化的效果。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123950" y="4911090"/>
              <a:ext cx="4843463" cy="627698"/>
              <a:chOff x="1123950" y="4911090"/>
              <a:chExt cx="4843463" cy="627698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123950" y="4972050"/>
                <a:ext cx="419100" cy="419100"/>
              </a:xfrm>
              <a:prstGeom prst="ellipse">
                <a:avLst/>
              </a:prstGeom>
              <a:solidFill>
                <a:srgbClr val="17203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68214" y="5110639"/>
                <a:ext cx="130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786890" y="4911090"/>
                <a:ext cx="153270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MMSB-Graph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792605" y="5264468"/>
                <a:ext cx="41748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通过图编辑桥恢复全局一致结构，并记录路径能量。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7905750" y="1790700"/>
            <a:ext cx="3143250" cy="2724150"/>
            <a:chOff x="7905750" y="1790700"/>
            <a:chExt cx="3143250" cy="2724150"/>
          </a:xfrm>
        </p:grpSpPr>
        <p:sp>
          <p:nvSpPr>
            <p:cNvPr id="33" name="Rectangle 33"/>
            <p:cNvSpPr/>
            <p:nvPr/>
          </p:nvSpPr>
          <p:spPr>
            <a:xfrm>
              <a:off x="7905750" y="1790700"/>
              <a:ext cx="3143250" cy="2724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59E0B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327792" y="2235994"/>
              <a:ext cx="278818" cy="275687"/>
              <a:chOff x="8327792" y="2235994"/>
              <a:chExt cx="278818" cy="2756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27792" y="2251075"/>
                <a:ext cx="260583" cy="260606"/>
              </a:xfrm>
              <a:custGeom>
                <a:avLst/>
                <a:gdLst/>
                <a:ahLst/>
                <a:cxnLst/>
                <a:rect l="l" t="t" r="r" b="b"/>
                <a:pathLst>
                  <a:path w="260583" h="260606">
                    <a:moveTo>
                      <a:pt x="260583" y="60928"/>
                    </a:moveTo>
                    <a:lnTo>
                      <a:pt x="77768" y="243773"/>
                    </a:lnTo>
                    <a:cubicBezTo>
                      <a:pt x="60943" y="260602"/>
                      <a:pt x="33661" y="260606"/>
                      <a:pt x="16832" y="243781"/>
                    </a:cubicBezTo>
                    <a:cubicBezTo>
                      <a:pt x="3" y="226956"/>
                      <a:pt x="0" y="199674"/>
                      <a:pt x="16825" y="182845"/>
                    </a:cubicBezTo>
                    <a:lnTo>
                      <a:pt x="19964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92319" y="2386806"/>
                <a:ext cx="120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525">
                    <a:moveTo>
                      <a:pt x="0" y="0"/>
                    </a:move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539978" y="2416969"/>
                <a:ext cx="66632" cy="77041"/>
              </a:xfrm>
              <a:custGeom>
                <a:avLst/>
                <a:gdLst/>
                <a:ahLst/>
                <a:cxnLst/>
                <a:rect l="l" t="t" r="r" b="b"/>
                <a:pathLst>
                  <a:path w="66632" h="77041">
                    <a:moveTo>
                      <a:pt x="33316" y="0"/>
                    </a:moveTo>
                    <a:lnTo>
                      <a:pt x="55938" y="24130"/>
                    </a:lnTo>
                    <a:cubicBezTo>
                      <a:pt x="66632" y="36256"/>
                      <a:pt x="65863" y="54658"/>
                      <a:pt x="54194" y="65850"/>
                    </a:cubicBezTo>
                    <a:cubicBezTo>
                      <a:pt x="42525" y="77041"/>
                      <a:pt x="24107" y="77041"/>
                      <a:pt x="12438" y="65850"/>
                    </a:cubicBezTo>
                    <a:cubicBezTo>
                      <a:pt x="769" y="54658"/>
                      <a:pt x="0" y="36256"/>
                      <a:pt x="10694" y="24130"/>
                    </a:cubicBezTo>
                    <a:lnTo>
                      <a:pt x="33316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12969" y="2235994"/>
                <a:ext cx="90488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0488">
                    <a:moveTo>
                      <a:pt x="0" y="0"/>
                    </a:moveTo>
                    <a:lnTo>
                      <a:pt x="90488" y="9048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816340" y="22821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真实性边界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67700" y="2905125"/>
              <a:ext cx="21336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当前实验属于</a:t>
              </a:r>
            </a:p>
            <a:p>
              <a:pPr algn="l">
                <a:lnSpc>
                  <a:spcPts val="2550"/>
                </a:lnSpc>
                <a:spcBef>
                  <a:spcPts val="300"/>
                </a:spcBef>
              </a:pPr>
              <a:r>
                <a:rPr lang="zh-CN" sz="15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合成条件图的可控验证</a:t>
              </a:r>
            </a:p>
            <a:p>
              <a:pPr algn="l">
                <a:lnSpc>
                  <a:spcPts val="2550"/>
                </a:lnSpc>
                <a:spcBef>
                  <a:spcPts val="1050"/>
                </a:spcBef>
              </a:pP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用于验证任务定义、</a:t>
              </a:r>
              <a:r>
                <a:rPr lang="zh-CN" sz="150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评测链路和图编辑过程。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42" name="TextBox 42"/>
            <p:cNvSpPr txBox="1"/>
            <p:nvPr/>
          </p:nvSpPr>
          <p:spPr>
            <a:xfrm>
              <a:off x="483870" y="6398895"/>
              <a:ext cx="1042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Experiment setup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2915" y="391478"/>
            <a:ext cx="11233785" cy="551497"/>
            <a:chOff x="462915" y="391478"/>
            <a:chExt cx="11233785" cy="551497"/>
          </a:xfrm>
        </p:grpSpPr>
        <p:sp>
          <p:nvSpPr>
            <p:cNvPr id="3" name="TextBox 3"/>
            <p:cNvSpPr txBox="1"/>
            <p:nvPr/>
          </p:nvSpPr>
          <p:spPr>
            <a:xfrm>
              <a:off x="462915" y="3914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实验结果与解释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334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90550" y="1219200"/>
            <a:ext cx="7620000" cy="3105150"/>
            <a:chOff x="590550" y="1219200"/>
            <a:chExt cx="7620000" cy="3105150"/>
          </a:xfrm>
        </p:grpSpPr>
        <p:sp>
          <p:nvSpPr>
            <p:cNvPr id="6" name="Rectangle 6"/>
            <p:cNvSpPr/>
            <p:nvPr/>
          </p:nvSpPr>
          <p:spPr>
            <a:xfrm>
              <a:off x="590550" y="1219200"/>
              <a:ext cx="7620000" cy="3105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90550" y="1219200"/>
              <a:ext cx="7620000" cy="438150"/>
            </a:xfrm>
            <a:prstGeom prst="rect">
              <a:avLst/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2008" y="13673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21723" y="1367314"/>
              <a:ext cx="585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节点F1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53984" y="1367314"/>
              <a:ext cx="4072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边F1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37152" y="1367314"/>
              <a:ext cx="3269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GED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535" y="13673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方向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4785" y="13673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成本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381250" y="12192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238500" y="12192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476750" y="12192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572125" y="12192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858000" y="12192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90550" y="1851660"/>
              <a:ext cx="7620000" cy="2472690"/>
              <a:chOff x="590550" y="1851660"/>
              <a:chExt cx="7620000" cy="2472690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590550" y="21907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590550" y="27241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590550" y="32575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590550" y="3790950"/>
                <a:ext cx="762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525">
                    <a:moveTo>
                      <a:pt x="0" y="0"/>
                    </a:moveTo>
                    <a:lnTo>
                      <a:pt x="762000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22960" y="18516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草图单模态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79357" y="18516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0.803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622357" y="18516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0.387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765358" y="18516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0.587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955982" y="18516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0.281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238238" y="1851660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9.29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2960" y="23850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语音单模态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479357" y="23850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0.890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22357" y="23850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0.564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765358" y="23850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0.391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55982" y="23850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0.394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238238" y="2385060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6.19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22960" y="291846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早期融合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479357" y="29184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0.929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622357" y="29184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0.577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765358" y="29184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0.391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955982" y="29184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0.466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238238" y="2918460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5.94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22960" y="345186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贪心修复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479357" y="3451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622357" y="3451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0.842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765358" y="3451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0.129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955982" y="3451860"/>
                <a:ext cx="4705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0.729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238238" y="3451860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72033"/>
                    </a:solidFill>
                    <a:latin typeface="Arial"/>
                    <a:ea typeface="Microsoft YaHei"/>
                    <a:cs typeface="Arial"/>
                  </a:rPr>
                  <a:t>1.79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590550" y="3790950"/>
                <a:ext cx="7620000" cy="533400"/>
              </a:xfrm>
              <a:prstGeom prst="rect">
                <a:avLst/>
              </a:prstGeom>
              <a:solidFill>
                <a:srgbClr val="CCFBF1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22960" y="3985260"/>
                <a:ext cx="10218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MMSB-Graph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468356" y="3985260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1356" y="3985260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754356" y="3985260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0.000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944981" y="3985260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1.000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229437" y="3985260"/>
                <a:ext cx="4001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766E"/>
                    </a:solidFill>
                    <a:latin typeface="Arial"/>
                    <a:ea typeface="Microsoft YaHei"/>
                    <a:cs typeface="Arial"/>
                  </a:rPr>
                  <a:t>0.00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8572500" y="1219200"/>
            <a:ext cx="3028950" cy="3105150"/>
            <a:chOff x="8572500" y="1219200"/>
            <a:chExt cx="3028950" cy="3105150"/>
          </a:xfrm>
        </p:grpSpPr>
        <p:sp>
          <p:nvSpPr>
            <p:cNvPr id="56" name="Rectangle 56"/>
            <p:cNvSpPr/>
            <p:nvPr/>
          </p:nvSpPr>
          <p:spPr>
            <a:xfrm>
              <a:off x="8572500" y="1219200"/>
              <a:ext cx="3028950" cy="3105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922544" y="1626394"/>
              <a:ext cx="271462" cy="271462"/>
              <a:chOff x="8922544" y="1626394"/>
              <a:chExt cx="271462" cy="271462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922544" y="16263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0"/>
                    </a:moveTo>
                    <a:lnTo>
                      <a:pt x="0" y="271462"/>
                    </a:lnTo>
                    <a:lnTo>
                      <a:pt x="271462" y="271462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982869" y="1686719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133681" y="1656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3"/>
                    </a:moveTo>
                    <a:cubicBezTo>
                      <a:pt x="0" y="46821"/>
                      <a:pt x="13504" y="60325"/>
                      <a:pt x="30163" y="60325"/>
                    </a:cubicBezTo>
                    <a:cubicBezTo>
                      <a:pt x="46821" y="60325"/>
                      <a:pt x="60325" y="46821"/>
                      <a:pt x="60325" y="30163"/>
                    </a:cubicBezTo>
                    <a:cubicBezTo>
                      <a:pt x="60325" y="13504"/>
                      <a:pt x="46821" y="0"/>
                      <a:pt x="30163" y="0"/>
                    </a:cubicBezTo>
                    <a:cubicBezTo>
                      <a:pt x="13504" y="0"/>
                      <a:pt x="0" y="13504"/>
                      <a:pt x="0" y="30163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58275" y="17772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030526" y="1741313"/>
                <a:ext cx="35290" cy="43434"/>
              </a:xfrm>
              <a:custGeom>
                <a:avLst/>
                <a:gdLst/>
                <a:ahLst/>
                <a:cxnLst/>
                <a:rect l="l" t="t" r="r" b="b"/>
                <a:pathLst>
                  <a:path w="35290" h="43434">
                    <a:moveTo>
                      <a:pt x="0" y="0"/>
                    </a:moveTo>
                    <a:lnTo>
                      <a:pt x="35290" y="4343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104846" y="1712990"/>
                <a:ext cx="42786" cy="69163"/>
              </a:xfrm>
              <a:custGeom>
                <a:avLst/>
                <a:gdLst/>
                <a:ahLst/>
                <a:cxnLst/>
                <a:rect l="l" t="t" r="r" b="b"/>
                <a:pathLst>
                  <a:path w="42786" h="69163">
                    <a:moveTo>
                      <a:pt x="0" y="69163"/>
                    </a:moveTo>
                    <a:lnTo>
                      <a:pt x="42786" y="0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405938" y="16644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关键现象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60155" y="2311718"/>
              <a:ext cx="2108835" cy="2007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语音显著补全语义，</a:t>
              </a:r>
              <a:r>
                <a:rPr lang="zh-CN" sz="13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边 F1 从 0.387 到 0.564。</a:t>
              </a:r>
            </a:p>
            <a:p>
              <a:pPr algn="l">
                <a:lnSpc>
                  <a:spcPts val="2250"/>
                </a:lnSpc>
                <a:spcBef>
                  <a:spcPts val="1200"/>
                </a:spcBef>
              </a:pPr>
              <a:r>
                <a:rPr lang="zh-CN" sz="13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早期融合提升节点覆盖，</a:t>
              </a:r>
              <a:r>
                <a:rPr lang="zh-CN" sz="13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但边方向错误仍保留。</a:t>
              </a:r>
            </a:p>
            <a:p>
              <a:pPr algn="l">
                <a:lnSpc>
                  <a:spcPts val="2250"/>
                </a:lnSpc>
                <a:spcBef>
                  <a:spcPts val="1200"/>
                </a:spcBef>
              </a:pPr>
              <a:r>
                <a:rPr lang="zh-CN" sz="13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图编辑桥把残余误差</a:t>
              </a:r>
              <a:r>
                <a:rPr lang="zh-CN" sz="1350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转化为可诊断路径。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0550" y="4686300"/>
            <a:ext cx="14207514" cy="1238250"/>
            <a:chOff x="590550" y="4686300"/>
            <a:chExt cx="14207514" cy="1238250"/>
          </a:xfrm>
        </p:grpSpPr>
        <p:sp>
          <p:nvSpPr>
            <p:cNvPr id="67" name="Rectangle 67"/>
            <p:cNvSpPr/>
            <p:nvPr/>
          </p:nvSpPr>
          <p:spPr>
            <a:xfrm>
              <a:off x="590550" y="4686300"/>
              <a:ext cx="11010900" cy="12382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68" name="Image 6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5485" y="4838700"/>
              <a:ext cx="2429130" cy="904875"/>
            </a:xfrm>
            <a:prstGeom prst="rect">
              <a:avLst/>
            </a:prstGeom>
          </p:spPr>
        </p:pic>
        <p:sp>
          <p:nvSpPr>
            <p:cNvPr id="69" name="Line 69"/>
            <p:cNvSpPr/>
            <p:nvPr/>
          </p:nvSpPr>
          <p:spPr>
            <a:xfrm>
              <a:off x="7905750" y="468630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191500" y="49339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诊断图说明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94358" y="5291614"/>
              <a:ext cx="66037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结构恢复相图、GED 分布与桥负载共同说明：路径能量是最终 F1 之外的过程质量指标。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73" name="TextBox 73"/>
            <p:cNvSpPr txBox="1"/>
            <p:nvPr/>
          </p:nvSpPr>
          <p:spPr>
            <a:xfrm>
              <a:off x="483870" y="6398895"/>
              <a:ext cx="4549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Results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66" grpId="0"/>
      <p:bldP spid="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工程系统与科研闭环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914400" y="1524000"/>
            <a:ext cx="10382250" cy="3848100"/>
            <a:chOff x="914400" y="1524000"/>
            <a:chExt cx="10382250" cy="3848100"/>
          </a:xfrm>
        </p:grpSpPr>
        <p:sp>
          <p:nvSpPr>
            <p:cNvPr id="6" name="Rectangle 6"/>
            <p:cNvSpPr/>
            <p:nvPr/>
          </p:nvSpPr>
          <p:spPr>
            <a:xfrm>
              <a:off x="914400" y="1524000"/>
              <a:ext cx="2381250" cy="1200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55E75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254125" y="1945261"/>
              <a:ext cx="210564" cy="210564"/>
              <a:chOff x="1254125" y="1945261"/>
              <a:chExt cx="210564" cy="21056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54125" y="1945261"/>
                <a:ext cx="210564" cy="210564"/>
              </a:xfrm>
              <a:custGeom>
                <a:avLst/>
                <a:gdLst/>
                <a:ahLst/>
                <a:cxnLst/>
                <a:rect l="l" t="t" r="r" b="b"/>
                <a:pathLst>
                  <a:path w="210564" h="210564">
                    <a:moveTo>
                      <a:pt x="0" y="210564"/>
                    </a:moveTo>
                    <a:lnTo>
                      <a:pt x="53975" y="210564"/>
                    </a:lnTo>
                    <a:lnTo>
                      <a:pt x="195659" y="68880"/>
                    </a:lnTo>
                    <a:cubicBezTo>
                      <a:pt x="210564" y="53975"/>
                      <a:pt x="210564" y="29810"/>
                      <a:pt x="195659" y="14905"/>
                    </a:cubicBezTo>
                    <a:cubicBezTo>
                      <a:pt x="180755" y="0"/>
                      <a:pt x="156589" y="0"/>
                      <a:pt x="141684" y="14905"/>
                    </a:cubicBezTo>
                    <a:lnTo>
                      <a:pt x="0" y="156589"/>
                    </a:lnTo>
                    <a:lnTo>
                      <a:pt x="0" y="210564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382316" y="197365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672590" y="19202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交互输入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4910" y="2327910"/>
              <a:ext cx="16786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草图 · 录音 · 文本补充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914900" y="1524000"/>
              <a:ext cx="2381250" cy="1200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241131" y="1926431"/>
              <a:ext cx="242887" cy="256382"/>
              <a:chOff x="5241131" y="1926431"/>
              <a:chExt cx="242887" cy="25638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281612" y="192643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2"/>
                    </a:moveTo>
                    <a:cubicBezTo>
                      <a:pt x="0" y="125677"/>
                      <a:pt x="36248" y="161925"/>
                      <a:pt x="80962" y="161925"/>
                    </a:cubicBezTo>
                    <a:cubicBezTo>
                      <a:pt x="125677" y="161925"/>
                      <a:pt x="161925" y="125677"/>
                      <a:pt x="161925" y="80962"/>
                    </a:cubicBezTo>
                    <a:cubicBezTo>
                      <a:pt x="161925" y="36248"/>
                      <a:pt x="125677" y="0"/>
                      <a:pt x="80962" y="0"/>
                    </a:cubicBezTo>
                    <a:cubicBezTo>
                      <a:pt x="36248" y="0"/>
                      <a:pt x="0" y="36248"/>
                      <a:pt x="0" y="8096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362575" y="19264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0" y="0"/>
                    </a:moveTo>
                    <a:cubicBezTo>
                      <a:pt x="17987" y="4493"/>
                      <a:pt x="26988" y="31481"/>
                      <a:pt x="26988" y="80962"/>
                    </a:cubicBezTo>
                    <a:cubicBezTo>
                      <a:pt x="26988" y="130444"/>
                      <a:pt x="17987" y="157432"/>
                      <a:pt x="0" y="16192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335588" y="1926431"/>
                <a:ext cx="2698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61925">
                    <a:moveTo>
                      <a:pt x="26988" y="0"/>
                    </a:moveTo>
                    <a:cubicBezTo>
                      <a:pt x="9000" y="4493"/>
                      <a:pt x="0" y="31481"/>
                      <a:pt x="0" y="80962"/>
                    </a:cubicBezTo>
                    <a:cubicBezTo>
                      <a:pt x="0" y="130444"/>
                      <a:pt x="9000" y="157432"/>
                      <a:pt x="26988" y="16192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281612" y="200739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241131" y="21558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389562" y="2155825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335588" y="2128838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362575" y="2088356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673090" y="19202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图结构生成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85410" y="2327910"/>
              <a:ext cx="17426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转写 · Mermaid · JSON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915400" y="1524000"/>
              <a:ext cx="2381250" cy="1200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563EB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9241631" y="1926431"/>
              <a:ext cx="242888" cy="242888"/>
              <a:chOff x="9241631" y="19264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241631" y="19264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42888" y="242888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295606" y="19804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430544" y="19534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363075" y="206136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338246" y="2029254"/>
                <a:ext cx="31575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31575" h="38862">
                    <a:moveTo>
                      <a:pt x="0" y="0"/>
                    </a:moveTo>
                    <a:lnTo>
                      <a:pt x="31575" y="3886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404744" y="2003912"/>
                <a:ext cx="38282" cy="61882"/>
              </a:xfrm>
              <a:custGeom>
                <a:avLst/>
                <a:gdLst/>
                <a:ahLst/>
                <a:cxnLst/>
                <a:rect l="l" t="t" r="r" b="b"/>
                <a:pathLst>
                  <a:path w="38282" h="61882">
                    <a:moveTo>
                      <a:pt x="0" y="61882"/>
                    </a:moveTo>
                    <a:lnTo>
                      <a:pt x="38282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673590" y="19202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可编辑输出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85910" y="2327910"/>
              <a:ext cx="15586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SVG · 终稿图 · WebM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14900" y="4171950"/>
              <a:ext cx="2381250" cy="1200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59E0B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237372" y="4574381"/>
              <a:ext cx="249468" cy="246668"/>
              <a:chOff x="5237372" y="4574381"/>
              <a:chExt cx="249468" cy="24666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237372" y="4587875"/>
                <a:ext cx="233153" cy="233174"/>
              </a:xfrm>
              <a:custGeom>
                <a:avLst/>
                <a:gdLst/>
                <a:ahLst/>
                <a:cxnLst/>
                <a:rect l="l" t="t" r="r" b="b"/>
                <a:pathLst>
                  <a:path w="233153" h="233174">
                    <a:moveTo>
                      <a:pt x="233153" y="54515"/>
                    </a:moveTo>
                    <a:lnTo>
                      <a:pt x="69582" y="218113"/>
                    </a:lnTo>
                    <a:cubicBezTo>
                      <a:pt x="54528" y="233171"/>
                      <a:pt x="30118" y="233174"/>
                      <a:pt x="15061" y="218120"/>
                    </a:cubicBezTo>
                    <a:cubicBezTo>
                      <a:pt x="3" y="203066"/>
                      <a:pt x="0" y="178656"/>
                      <a:pt x="15054" y="163598"/>
                    </a:cubicBezTo>
                    <a:lnTo>
                      <a:pt x="17862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295106" y="470931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427222" y="4736306"/>
                <a:ext cx="59618" cy="68931"/>
              </a:xfrm>
              <a:custGeom>
                <a:avLst/>
                <a:gdLst/>
                <a:ahLst/>
                <a:cxnLst/>
                <a:rect l="l" t="t" r="r" b="b"/>
                <a:pathLst>
                  <a:path w="59618" h="68931">
                    <a:moveTo>
                      <a:pt x="29809" y="0"/>
                    </a:moveTo>
                    <a:lnTo>
                      <a:pt x="50050" y="21590"/>
                    </a:lnTo>
                    <a:cubicBezTo>
                      <a:pt x="59618" y="32440"/>
                      <a:pt x="58930" y="48905"/>
                      <a:pt x="48490" y="58918"/>
                    </a:cubicBezTo>
                    <a:cubicBezTo>
                      <a:pt x="38049" y="68931"/>
                      <a:pt x="21570" y="68931"/>
                      <a:pt x="11129" y="58918"/>
                    </a:cubicBezTo>
                    <a:cubicBezTo>
                      <a:pt x="688" y="48905"/>
                      <a:pt x="0" y="32440"/>
                      <a:pt x="9569" y="21590"/>
                    </a:cubicBezTo>
                    <a:lnTo>
                      <a:pt x="29809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403056" y="45743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0"/>
                    </a:moveTo>
                    <a:lnTo>
                      <a:pt x="80962" y="8096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673090" y="45681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自动评测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85410" y="4975860"/>
              <a:ext cx="16546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对齐标准图 · 输出指标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3295650" y="2124075"/>
              <a:ext cx="161925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sp>
          <p:nvSpPr>
            <p:cNvPr id="43" name="Line 43"/>
            <p:cNvSpPr/>
            <p:nvPr/>
          </p:nvSpPr>
          <p:spPr>
            <a:xfrm>
              <a:off x="7296150" y="2124075"/>
              <a:ext cx="1619250" cy="1"/>
            </a:xfrm>
            <a:prstGeom prst="line">
              <a:avLst/>
            </a:pr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sp>
          <p:nvSpPr>
            <p:cNvPr id="44" name="Freeform 44"/>
            <p:cNvSpPr/>
            <p:nvPr/>
          </p:nvSpPr>
          <p:spPr>
            <a:xfrm>
              <a:off x="7296150" y="2724150"/>
              <a:ext cx="2809875" cy="2047875"/>
            </a:xfrm>
            <a:custGeom>
              <a:avLst/>
              <a:gdLst/>
              <a:ahLst/>
              <a:cxnLst/>
              <a:rect l="l" t="t" r="r" b="b"/>
              <a:pathLst>
                <a:path w="2809875" h="2047875">
                  <a:moveTo>
                    <a:pt x="2809875" y="0"/>
                  </a:moveTo>
                  <a:cubicBezTo>
                    <a:pt x="2809875" y="990600"/>
                    <a:pt x="1181100" y="2047875"/>
                    <a:pt x="0" y="2047875"/>
                  </a:cubicBezTo>
                </a:path>
              </a:pathLst>
            </a:cu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  <p:sp>
          <p:nvSpPr>
            <p:cNvPr id="45" name="Freeform 45"/>
            <p:cNvSpPr/>
            <p:nvPr/>
          </p:nvSpPr>
          <p:spPr>
            <a:xfrm>
              <a:off x="2114550" y="2724150"/>
              <a:ext cx="2800350" cy="2047875"/>
            </a:xfrm>
            <a:custGeom>
              <a:avLst/>
              <a:gdLst/>
              <a:ahLst/>
              <a:cxnLst/>
              <a:rect l="l" t="t" r="r" b="b"/>
              <a:pathLst>
                <a:path w="2800350" h="2047875">
                  <a:moveTo>
                    <a:pt x="2800350" y="2047875"/>
                  </a:moveTo>
                  <a:cubicBezTo>
                    <a:pt x="1314450" y="2038350"/>
                    <a:pt x="0" y="1085850"/>
                    <a:pt x="0" y="0"/>
                  </a:cubicBezTo>
                </a:path>
              </a:pathLst>
            </a:custGeom>
            <a:noFill/>
            <a:ln w="28575">
              <a:solidFill>
                <a:srgbClr val="155E75"/>
              </a:solidFill>
              <a:tailEnd type="triangle" w="lg" len="lg"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371600" y="5829300"/>
            <a:ext cx="9448800" cy="409575"/>
            <a:chOff x="1371600" y="5829300"/>
            <a:chExt cx="9448800" cy="409575"/>
          </a:xfrm>
        </p:grpSpPr>
        <p:sp>
          <p:nvSpPr>
            <p:cNvPr id="47" name="Rectangle 47"/>
            <p:cNvSpPr/>
            <p:nvPr/>
          </p:nvSpPr>
          <p:spPr>
            <a:xfrm>
              <a:off x="1371600" y="5829300"/>
              <a:ext cx="9448800" cy="40005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354235" y="5934075"/>
              <a:ext cx="7483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FastAPI 后端托管静态前端，形成“输入 - 生成 - 输出 - 评测”的端到端演示系统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483870" y="63988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System loop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61010" y="413385"/>
            <a:ext cx="11235690" cy="586740"/>
            <a:chOff x="461010" y="413385"/>
            <a:chExt cx="11235690" cy="586740"/>
          </a:xfrm>
        </p:grpSpPr>
        <p:sp>
          <p:nvSpPr>
            <p:cNvPr id="3" name="TextBox 3"/>
            <p:cNvSpPr txBox="1"/>
            <p:nvPr/>
          </p:nvSpPr>
          <p:spPr>
            <a:xfrm>
              <a:off x="461010" y="41338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贡献总结与一句话结论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" y="990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62000" y="1524000"/>
            <a:ext cx="3333750" cy="2190750"/>
            <a:chOff x="762000" y="1524000"/>
            <a:chExt cx="3333750" cy="219075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3333750" cy="2190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69194" y="1931194"/>
              <a:ext cx="271462" cy="271462"/>
              <a:chOff x="1169194" y="1931194"/>
              <a:chExt cx="271462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89844" y="2051844"/>
                <a:ext cx="30163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30163" h="30163">
                    <a:moveTo>
                      <a:pt x="0" y="15081"/>
                    </a:moveTo>
                    <a:cubicBezTo>
                      <a:pt x="0" y="23410"/>
                      <a:pt x="6752" y="30163"/>
                      <a:pt x="15081" y="30163"/>
                    </a:cubicBezTo>
                    <a:cubicBezTo>
                      <a:pt x="23410" y="30163"/>
                      <a:pt x="30163" y="23410"/>
                      <a:pt x="30163" y="15081"/>
                    </a:cubicBezTo>
                    <a:cubicBezTo>
                      <a:pt x="30163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229519" y="1991519"/>
                <a:ext cx="150812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150812" h="150812">
                    <a:moveTo>
                      <a:pt x="0" y="75406"/>
                    </a:moveTo>
                    <a:cubicBezTo>
                      <a:pt x="0" y="117052"/>
                      <a:pt x="33761" y="150812"/>
                      <a:pt x="75406" y="150812"/>
                    </a:cubicBezTo>
                    <a:cubicBezTo>
                      <a:pt x="117052" y="150812"/>
                      <a:pt x="150812" y="117052"/>
                      <a:pt x="150812" y="75406"/>
                    </a:cubicBezTo>
                    <a:cubicBezTo>
                      <a:pt x="150812" y="33761"/>
                      <a:pt x="117052" y="0"/>
                      <a:pt x="75406" y="0"/>
                    </a:cubicBezTo>
                    <a:cubicBezTo>
                      <a:pt x="33761" y="0"/>
                      <a:pt x="0" y="33761"/>
                      <a:pt x="0" y="75406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9194" y="19311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155E7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651635" y="19421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5E75"/>
                  </a:solidFill>
                  <a:latin typeface="Arial"/>
                  <a:ea typeface="Microsoft YaHei"/>
                  <a:cs typeface="Arial"/>
                </a:rPr>
                <a:t>任务层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03948" y="2611279"/>
              <a:ext cx="1840230" cy="6819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提出语音引导的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知识草图结构化任务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8710" y="3280410"/>
              <a:ext cx="26068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把“边说边画”形式化为可研究问题。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29125" y="1524000"/>
            <a:ext cx="3333750" cy="2190750"/>
            <a:chOff x="4429125" y="1524000"/>
            <a:chExt cx="3333750" cy="2190750"/>
          </a:xfrm>
        </p:grpSpPr>
        <p:sp>
          <p:nvSpPr>
            <p:cNvPr id="15" name="Rectangle 15"/>
            <p:cNvSpPr/>
            <p:nvPr/>
          </p:nvSpPr>
          <p:spPr>
            <a:xfrm>
              <a:off x="4429125" y="1524000"/>
              <a:ext cx="3333750" cy="2190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836319" y="1931194"/>
              <a:ext cx="271462" cy="271462"/>
              <a:chOff x="4836319" y="1931194"/>
              <a:chExt cx="271462" cy="2714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836319" y="2142331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3"/>
                    </a:moveTo>
                    <a:cubicBezTo>
                      <a:pt x="0" y="46821"/>
                      <a:pt x="13504" y="60325"/>
                      <a:pt x="30163" y="60325"/>
                    </a:cubicBezTo>
                    <a:cubicBezTo>
                      <a:pt x="46821" y="60325"/>
                      <a:pt x="60325" y="46821"/>
                      <a:pt x="60325" y="30163"/>
                    </a:cubicBezTo>
                    <a:cubicBezTo>
                      <a:pt x="60325" y="13504"/>
                      <a:pt x="46821" y="0"/>
                      <a:pt x="30163" y="0"/>
                    </a:cubicBezTo>
                    <a:cubicBezTo>
                      <a:pt x="13504" y="0"/>
                      <a:pt x="0" y="13504"/>
                      <a:pt x="0" y="30163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047456" y="1931194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30163" y="60325"/>
                    </a:move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3" y="0"/>
                    </a:cubicBezTo>
                    <a:cubicBezTo>
                      <a:pt x="13504" y="0"/>
                      <a:pt x="0" y="13504"/>
                      <a:pt x="0" y="30162"/>
                    </a:cubicBezTo>
                    <a:cubicBezTo>
                      <a:pt x="0" y="46821"/>
                      <a:pt x="13504" y="60325"/>
                      <a:pt x="30163" y="60325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866481" y="1961356"/>
                <a:ext cx="226219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226219" h="211138">
                    <a:moveTo>
                      <a:pt x="90487" y="211138"/>
                    </a:moveTo>
                    <a:lnTo>
                      <a:pt x="173434" y="211138"/>
                    </a:lnTo>
                    <a:cubicBezTo>
                      <a:pt x="202586" y="211138"/>
                      <a:pt x="226219" y="187505"/>
                      <a:pt x="226219" y="158353"/>
                    </a:cubicBezTo>
                    <a:cubicBezTo>
                      <a:pt x="226219" y="129201"/>
                      <a:pt x="202586" y="105569"/>
                      <a:pt x="173434" y="105569"/>
                    </a:cubicBezTo>
                    <a:lnTo>
                      <a:pt x="52784" y="105569"/>
                    </a:lnTo>
                    <a:cubicBezTo>
                      <a:pt x="23632" y="105569"/>
                      <a:pt x="0" y="81936"/>
                      <a:pt x="0" y="52784"/>
                    </a:cubicBezTo>
                    <a:cubicBezTo>
                      <a:pt x="0" y="23632"/>
                      <a:pt x="23632" y="0"/>
                      <a:pt x="52784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318760" y="19421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方法层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71072" y="2611279"/>
              <a:ext cx="1680210" cy="6819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提出 MMSB-Graph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图编辑桥框架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75835" y="32804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将图生成转化为路径优化问题。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96250" y="1524000"/>
            <a:ext cx="3333750" cy="2190750"/>
            <a:chOff x="8096250" y="1524000"/>
            <a:chExt cx="3333750" cy="2190750"/>
          </a:xfrm>
        </p:grpSpPr>
        <p:sp>
          <p:nvSpPr>
            <p:cNvPr id="24" name="Rectangle 24"/>
            <p:cNvSpPr/>
            <p:nvPr/>
          </p:nvSpPr>
          <p:spPr>
            <a:xfrm>
              <a:off x="8096250" y="1524000"/>
              <a:ext cx="3333750" cy="2190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503444" y="1931194"/>
              <a:ext cx="271462" cy="271462"/>
              <a:chOff x="8503444" y="1931194"/>
              <a:chExt cx="271462" cy="27146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503444" y="1931194"/>
                <a:ext cx="271462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35731">
                    <a:moveTo>
                      <a:pt x="0" y="135731"/>
                    </a:moveTo>
                    <a:lnTo>
                      <a:pt x="15081" y="135731"/>
                    </a:lnTo>
                    <a:moveTo>
                      <a:pt x="135731" y="0"/>
                    </a:moveTo>
                    <a:lnTo>
                      <a:pt x="135731" y="15081"/>
                    </a:lnTo>
                    <a:moveTo>
                      <a:pt x="256381" y="135731"/>
                    </a:moveTo>
                    <a:lnTo>
                      <a:pt x="271462" y="135731"/>
                    </a:lnTo>
                    <a:moveTo>
                      <a:pt x="39211" y="39211"/>
                    </a:moveTo>
                    <a:lnTo>
                      <a:pt x="49768" y="49768"/>
                    </a:lnTo>
                    <a:moveTo>
                      <a:pt x="232251" y="39211"/>
                    </a:moveTo>
                    <a:lnTo>
                      <a:pt x="221694" y="4976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557375" y="1991519"/>
                <a:ext cx="163601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163601" h="211137">
                    <a:moveTo>
                      <a:pt x="36557" y="135731"/>
                    </a:moveTo>
                    <a:cubicBezTo>
                      <a:pt x="10591" y="116257"/>
                      <a:pt x="0" y="82352"/>
                      <a:pt x="10264" y="51561"/>
                    </a:cubicBezTo>
                    <a:cubicBezTo>
                      <a:pt x="20528" y="20769"/>
                      <a:pt x="49343" y="0"/>
                      <a:pt x="81800" y="0"/>
                    </a:cubicBezTo>
                    <a:cubicBezTo>
                      <a:pt x="114258" y="0"/>
                      <a:pt x="143073" y="20769"/>
                      <a:pt x="153337" y="51561"/>
                    </a:cubicBezTo>
                    <a:cubicBezTo>
                      <a:pt x="163601" y="82352"/>
                      <a:pt x="153010" y="116257"/>
                      <a:pt x="127044" y="135731"/>
                    </a:cubicBezTo>
                    <a:cubicBezTo>
                      <a:pt x="115102" y="147552"/>
                      <a:pt x="109502" y="164353"/>
                      <a:pt x="111963" y="180975"/>
                    </a:cubicBezTo>
                    <a:cubicBezTo>
                      <a:pt x="111963" y="197633"/>
                      <a:pt x="98459" y="211137"/>
                      <a:pt x="81800" y="211137"/>
                    </a:cubicBezTo>
                    <a:cubicBezTo>
                      <a:pt x="65142" y="211137"/>
                      <a:pt x="51638" y="197633"/>
                      <a:pt x="51638" y="180975"/>
                    </a:cubicBezTo>
                    <a:cubicBezTo>
                      <a:pt x="54099" y="164353"/>
                      <a:pt x="48499" y="147552"/>
                      <a:pt x="36557" y="135731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604488" y="2142331"/>
                <a:ext cx="6937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374" h="9525">
                    <a:moveTo>
                      <a:pt x="0" y="0"/>
                    </a:moveTo>
                    <a:lnTo>
                      <a:pt x="69374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985885" y="19421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系统层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8198" y="2611279"/>
              <a:ext cx="1640205" cy="6819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构建交互输入到</a:t>
              </a:r>
              <a:r>
                <a:rPr lang="zh-CN" sz="1575" dirty="0">
                  <a:solidFill>
                    <a:srgbClr val="172033"/>
                  </a:solidFill>
                  <a:latin typeface="Arial"/>
                  <a:ea typeface="Microsoft YaHei"/>
                  <a:cs typeface="Arial"/>
                </a:rPr>
                <a:t>可评测输出的闭环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42960" y="32804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支持方法图生成、编辑与指标报告。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4400" y="4495800"/>
            <a:ext cx="10363200" cy="1281112"/>
            <a:chOff x="914400" y="4495800"/>
            <a:chExt cx="10363200" cy="1281112"/>
          </a:xfrm>
        </p:grpSpPr>
        <p:sp>
          <p:nvSpPr>
            <p:cNvPr id="33" name="Rectangle 33"/>
            <p:cNvSpPr/>
            <p:nvPr/>
          </p:nvSpPr>
          <p:spPr>
            <a:xfrm>
              <a:off x="914400" y="4495800"/>
              <a:ext cx="10363200" cy="1143000"/>
            </a:xfrm>
            <a:prstGeom prst="rect">
              <a:avLst/>
            </a:prstGeom>
            <a:solidFill>
              <a:srgbClr val="155E7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88650" y="468534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一句话总结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96051" y="5117782"/>
              <a:ext cx="6799898" cy="6591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55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本项目将“语音 + 草图”的自然表达过程抽象为多模态知识结构恢复问题，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并用图编辑桥实现从不完整表达到可编辑知识图的可解释重建。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83870" y="6398895"/>
            <a:ext cx="11224261" cy="182880"/>
            <a:chOff x="483870" y="6398895"/>
            <a:chExt cx="11224261" cy="182880"/>
          </a:xfrm>
        </p:grpSpPr>
        <p:sp>
          <p:nvSpPr>
            <p:cNvPr id="37" name="TextBox 37"/>
            <p:cNvSpPr txBox="1"/>
            <p:nvPr/>
          </p:nvSpPr>
          <p:spPr>
            <a:xfrm>
              <a:off x="483870" y="639889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Conclusion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53254" y="63988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2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2026-06-13T16:25:32Z</dcterms:created>
  <dcterms:modified xsi:type="dcterms:W3CDTF">2026-06-13T16:25:32Z</dcterms:modified>
  <cp:category/>
  <cp:contentStatus/>
</cp:coreProperties>
</file>